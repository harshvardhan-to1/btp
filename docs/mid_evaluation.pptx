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project is about the fronthaul link in a 5G centralised or Open RAN: the link between the radio unit and the unit that does the baseband processing.</a:t>
            </a:r>
          </a:p>
          <a:p>
            <a:r>
              <a:t>In one sentence: the radio unit produces far more data than the link can carry. I study three things. First, how to compress that data using matrix decompositions.</a:t>
            </a:r>
          </a:p>
          <a:p>
            <a:r>
              <a:t>Second, how expensive the matrix inversions are that the receiver needs, because that decides where the processing can live. Third, how several radio units can share one link.</a:t>
            </a:r>
          </a:p>
          <a:p>
            <a:r>
              <a:t>Everything I show is simulation in Python. I will say clearly what was already there, what I built now, and what is still early. The colour tags on each slide mark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numbers first. With 64 antennas and 1200 subcarriers at 16-bit samples, one radio unit produces about 2.5 megabit per OFDM symbol, which is 34 gigabit per second.</a:t>
            </a:r>
          </a:p>
          <a:p>
            <a:r>
              <a:t>Eight radio units on one link would need 275 gigabit per second. That is the load we have to manage.</a:t>
            </a:r>
          </a:p>
          <a:p>
            <a:r>
              <a:t>There are three ways to reduce it: compress the matrix, send fewer streams, and share the link cleverly. My project touches all three.</a:t>
            </a:r>
          </a:p>
          <a:p>
            <a:r>
              <a:t>Scope: this is a physical-layer model of one OFDM symbol at a time. There is no scheduler, no latency model and no hardware.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has three parts and two of them are linear algebra.</a:t>
            </a:r>
          </a:p>
          <a:p>
            <a:r>
              <a:t>Part A is compression. The received matrix has structure — only about 23 propagation paths, so it is low rank, and it is sparse in the delay domain. Every encoder is a matrix decomposition that keeps the important part: SVD keeps the largest singular values, RAS-BFP does the same with a randomised sketch so it is faster, CSEE keeps the strongest delay taps. Block floating point is the standard quantiser used everywhere.</a:t>
            </a:r>
          </a:p>
          <a:p>
            <a:r>
              <a:t>Part B is the cost of matrix inversion. The receiver inverts a matrix per resource-block group every slot. The benchmark compares classical methods with neural networks that try to learn the inverse.</a:t>
            </a:r>
          </a:p>
          <a:p>
            <a:r>
              <a:t>Part C, which I added in this iteration, ties compression to the shared link: each radio unit has a menu of settings and an allocator picks one per unit so the total fits.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adding anything I checked what was there. The biggest finding: the fronthaul experiments import a package called src that was never committed, so none of the compression results could be reproduced. I rebuilt it and wrote tests.</a:t>
            </a:r>
          </a:p>
          <a:p>
            <a:r>
              <a:t>I also found four modelling problems in the earlier figures. The SVD baseline was timed with the full square SVD, which made it look a hundred times slower than the thin SVD that is actually needed. The split model had the cost ordering upside down. The fast rank estimate was fake. And the error metric was misread.</a:t>
            </a:r>
          </a:p>
          <a:p>
            <a:r>
              <a:t>The matrix-inversion benchmark was complete, but its NumPy engine used a different activation than the trained model. I fixed that and re-ran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context, verified against primary sources with a cutoff of 17 September 2026; the full table with access levels is in docs/research_review.md.</a:t>
            </a:r>
          </a:p>
          <a:p>
            <a:r>
              <a:t>Row one: the O-RAN specification and Silva et al. define the block floating point baseline I implement — twelve-RE blocks, a four-bit shared exponent. Silva et al. select the compression method per PRB; I select an operating point per RU under a shared budget.</a:t>
            </a:r>
          </a:p>
          <a:p>
            <a:r>
              <a:t>Row two: the surveys and 3GPP TR 38.801 give the bit-rate ordering of the splits; this is the source of the correction to the ACAFS model.</a:t>
            </a:r>
          </a:p>
          <a:p>
            <a:r>
              <a:t>Row three is the closest work: Lagén and co-authors control compression for several cells sharing one fronthaul link, but for downlink modulation compression with a full ns-3 simulator. My Exp5 is the uplink I/Q analogue with an analytical predictor instead of a system-level simulator.</a:t>
            </a:r>
          </a:p>
          <a:p>
            <a:r>
              <a:t>Row four: CsiNet shows that channel matrices are sparse in the delay domain — that is why CSEE works on reference symbols and, as I will show, not on data symbols. Qiao, Jiang and Yu learn dimension-reduction matrices for cell-free uplink; RAS-BFP does the same reduction with a randomised sketch and no training.</a:t>
            </a:r>
          </a:p>
          <a:p>
            <a:r>
              <a:t>Row five: Murti et al. use deep RL for split orchestration because their cost model is only measurable, not closed-form. Mine is closed-form per symbol, so a rule on the estimated rank is the right tool for now.</a:t>
            </a:r>
          </a:p>
          <a:p>
            <a:r>
              <a:t>Row six is the closest prior art, found in a second search pass: Aswathylakshmi and Ganti compress a 64-antenna TDL-A uplink through the same delay-domain low rank as CSEE, but they first separate the data symbols by blind deconvolution — which is precisely why my CSEE without that step needs reference symbols. Li et al. adapt the bit-width to load and SINR on a single eCPRI link; Kanno et al. allocate bits per SVD stream at one access point. My allocator generalises that to several RUs sharing one link with heterogeneous operating points.</a:t>
            </a:r>
          </a:p>
          <a:p>
            <a:r>
              <a:t>Row seven: the numerical foundations — HMT for the randomised range finder and its bound, Shoham–Gersho for the allocation algorithm. I claim no novelty in these algorithms.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K radio units, each with a 64-by-1200 received matrix per OFDM symbol, and one shared link to the DU.</a:t>
            </a:r>
          </a:p>
          <a:p>
            <a:r>
              <a:t>The channel is the 3GPP TDL-A model with 23 paths. That gives the two structures we exploit: the matrix has rank at most 23, and after an IFFT over the subcarriers only a few delay taps carry energy.</a:t>
            </a:r>
          </a:p>
          <a:p>
            <a:r>
              <a:t>The transmitted symbols matter. On a data symbol every subcarrier carries a random QPSK value. On a reference symbol the radio unit knows the sequence and can remove it. I will show that this decides which compression works.</a:t>
            </a:r>
          </a:p>
          <a:p>
            <a:r>
              <a:t>The error metric is NMSE. I report it against the noisy matrix that is actually transported, and against the clean channel, which tells you how much signal was really lost.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encoders follow the same recipe: decompose the matrix, keep the important part, quantise it with block floating point.</a:t>
            </a:r>
          </a:p>
          <a:p>
            <a:r>
              <a:t>BFP alone is the O-RAN baseline: no decomposition, just a shared exponent per 12 samples and b-bit mantissas.</a:t>
            </a:r>
          </a:p>
          <a:p>
            <a:r>
              <a:t>Truncated SVD is the best possible rank-r approximation, so it is the reference for any low-rank method. It now uses the thin SVD.</a:t>
            </a:r>
          </a:p>
          <a:p>
            <a:r>
              <a:t>RAS-BFP replaces the SVD by a randomised version: multiply the antenna dimension by a random sketch, QR, project, then a tiny SVD. Same payload as the SVD, about five times faster.</a:t>
            </a:r>
          </a:p>
          <a:p>
            <a:r>
              <a:t>CSEE takes an IFFT over the subcarriers and keeps the strongest delay taps, one set of taps shared by all antennas.</a:t>
            </a:r>
          </a:p>
          <a:p>
            <a:r>
              <a:t>The key point is at the bottom: multiplying by the transmitted symbols does not change the rank, but it does destroy the delay sparsity. That decides where each encoder can be used.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allocation is a multiple-choice knapsack: each radio unit picks one setting from a menu, each setting has an exact rate and an error, and the sum of rates must fit the link.</a:t>
            </a:r>
          </a:p>
          <a:p>
            <a:r>
              <a:t>I solve it with the classic greedy rule: give the next bits to whoever reduces error most per bit. On the convex hull of each menu this is the Lagrangian solution up to one fractional step. It is the Shoham–Gersho bit-allocation algorithm; I do not claim it as new.</a:t>
            </a:r>
          </a:p>
          <a:p>
            <a:r>
              <a:t>What makes it cheap is Proposition 1: for CSEE the error can be predicted from the decomposition itself. The energy of the dropped taps is exact by Parseval; only the quantisation part is a model. One IFFT gives the whole menu.</a:t>
            </a:r>
          </a:p>
          <a:p>
            <a:r>
              <a:t>For RAS-BFP I use the Halko–Martinsson–Tropp bound as a reference. It is proven for Gaussian sketches; I use the faster Hadamard sketch and check the bound empirically.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panel: data symbols. Right panel: reference symbols. Same channels, same encoders.</a:t>
            </a:r>
          </a:p>
          <a:p>
            <a:r>
              <a:t>BFP, grey, gives 2x compression at 8 bits with minus 46 dB error — very accurate, very little compression.</a:t>
            </a:r>
          </a:p>
          <a:p>
            <a:r>
              <a:t>SVD and RAS-BFP look the same in both panels, because the rank does not depend on the symbols. RAS-BFP pays one to four dB for being faster.</a:t>
            </a:r>
          </a:p>
          <a:p>
            <a:r>
              <a:t>CSEE, red, is the story: on reference symbols it reaches minus 20 dB at 16x; on data symbols it gives essentially zero dB. It only works when the delay domain is sparse.</a:t>
            </a:r>
          </a:p>
          <a:p>
            <a:r>
              <a:t>Everything flattens at minus 20 dB. That is the noise floor of this metric at 20 dB SNR: the encoders throw away noise and the metric counts that as error. The next slide deals with that.</a:t>
            </a:r>
          </a:p>
          <a:p>
            <a:r>
              <a:t>Dashed lines are the analytical predictions: Proposition 1 lies on the CSEE curve; the HMT bound for RAS-BFP is 6 to 10 dB above the curve — valid but loose.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encoding time against the number of antennas. With the thin SVD the baseline takes 13 ms at 64 antennas; the randomised version takes 2.6 ms; CSEE and BFP are under a millisecond.</a:t>
            </a:r>
          </a:p>
          <a:p>
            <a:r>
              <a:t>So the honest speed-up of the randomised SVD is about five times, not a hundred. These are Python numbers; I only trust the ordering.</a:t>
            </a:r>
          </a:p>
          <a:p>
            <a:r>
              <a:t>Right: error against SNR at fixed settings. Panel (a) is measured against the noisy matrix: the curves follow the minus-SNR line because the removed noise is counted as error.</a:t>
            </a:r>
          </a:p>
          <a:p>
            <a:r>
              <a:t>Panel (b) is measured against the clean channel: at 0 dB SNR the raw matrix has 0 dB error, but CSEE is at minus 9 dB — keeping only the strong taps removes noise.</a:t>
            </a:r>
          </a:p>
          <a:p>
            <a:r>
              <a:t>The dashed CSEE-on-data curve stays at minus one dB everywhere, which confirms the limit.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ACAFS decides how many spatial streams to send, based on the estimated rank of the received matrix.</a:t>
            </a:r>
          </a:p>
          <a:p>
            <a:r>
              <a:t>First the correction: in 3GPP terms split 6 carries decoded bits and is the cheapest option on the link; the I/Q splits are the expensive ones. The old figure had this upside down. I now report savings against sending all antennas.</a:t>
            </a:r>
          </a:p>
          <a:p>
            <a:r>
              <a:t>The result: with streams only, there is no saving below 15 dB SNR, because noise fills all 64 dimensions. The saving rises to about 83 percent at 20 dB, where the rank collapses to about 11.</a:t>
            </a:r>
          </a:p>
          <a:p>
            <a:r>
              <a:t>Allowing split 6 saves a lot at any SNR in this model — but that option costs compute in the radio unit, which is exactly what the matrix-inversion benchmark measures.</a:t>
            </a:r>
          </a:p>
          <a:p>
            <a:r>
              <a:t>The orange curve is a real fast estimator now, using an eighth of the subcarriers; it is biased low in the transition region, and the stream floor protects against that.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load-management experiment. Eight radio units with SNRs from 0 to 30 dB share one link; the capacity is swept from 0.5 to 50 percent of the raw load.</a:t>
            </a:r>
          </a:p>
          <a:p>
            <a:r>
              <a:t>Each radio unit gets one CSEE setting. The controller only uses the Proposition-1 predictions; afterwards every unit is actually encoded and the true error measured.</a:t>
            </a:r>
          </a:p>
          <a:p>
            <a:r>
              <a:t>Panel (a): the greedy allocator, red, sits on top of the oracle, green, which encodes every option. It beats the uniform setting by up to eleven dB, and uniform BFP does not even fit until 55 gigabit.</a:t>
            </a:r>
          </a:p>
          <a:p>
            <a:r>
              <a:t>Panel (b) is the honest part. Against the clean channel, minimising the error to the noisy matrix spends bits reproducing noise in the 0 and 5 dB cells — at 14 and 27 gigabit it is worse than uniform.</a:t>
            </a:r>
          </a:p>
          <a:p>
            <a:r>
              <a:t>That negative result led to the noise-aware objective, orange: it puts the noise estimate into Proposition 1, gains four to eight dB on the signal, and at high capacity it stops using the link once more bits do not help — panel (d).</a:t>
            </a:r>
          </a:p>
          <a:p>
            <a:r>
              <a:t>Error bars are one standard deviation over five seeds.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existed before and I kept it because it answers a question the split decision raises. If the radio unit has to run the uplink receiver for split 6, what does the matrix inversion in the equaliser cost?</a:t>
            </a:r>
          </a:p>
          <a:p>
            <a:r>
              <a:t>The plot shows time per inverse against matrix size on a log scale, for the classical methods and the learned ones.</a:t>
            </a:r>
          </a:p>
          <a:p>
            <a:r>
              <a:t>LAPACK LU, purple, is the reference: 0.14 milliseconds for a 100-by-100 inverse, which fits a slot; 6 milliseconds for 500-by-500, which does not.</a:t>
            </a:r>
          </a:p>
          <a:p>
            <a:r>
              <a:t>Newton–Schulz is slower but uses only matrix multiplications, which is why it is interesting for learned and hardware versions.</a:t>
            </a:r>
          </a:p>
          <a:p>
            <a:r>
              <a:t>The benchmark runs on held-out matrices that the neural models never saw during training.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machine-learning part of the project asks whether a network can learn to invert matrices faster than LAPACK.</a:t>
            </a:r>
          </a:p>
          <a:p>
            <a:r>
              <a:t>Three models. The MLP regresses the inverse directly; it fails and cannot scale. The learned Newton–Schulz unrolls the classical iteration and learns 17 scalars, so it works at any size; it reaches 4e-4 error at n equals 100 but is slower than LU. Ultra adds a small network for the starting guess; it reaches one-in-a-million error at 100 and 500 but is no faster than the classical iteration.</a:t>
            </a:r>
          </a:p>
          <a:p>
            <a:r>
              <a:t>I found and fixed a bug here: the NumPy inference engine used ReLU while the trained model uses GELU. I also corrected a docstring that overstated the results.</a:t>
            </a:r>
          </a:p>
          <a:p>
            <a:r>
              <a:t>The conclusion is negative and I think that is fine to say: on a CPU and for well-conditioned matrices, LAPACK wins. The learned iteration is interesting for fixed-latency hardware, not as a replacement.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Done: a simulator that runs and is tested; fair baselines; an error predictor accurate enough to make decisions; an allocator with proper baselines and ablations; one clear finding about which matrix structure survives modulation; and an honest conclusion from the inversion benchmark.</a:t>
            </a:r>
          </a:p>
          <a:p>
            <a:r>
              <a:t>Limits I want to state myself: one symbol at a time, CSEE on reference symbols only, Python timings, the inversion benchmark uses random matrices rather than channel matrices.</a:t>
            </a:r>
          </a:p>
          <a:p>
            <a:r>
              <a:t>I am not claiming novelty for any single algorithm. The encoders and the allocator adapt known linear algebra; the contribution is the validated system and the findings that came out of making it correct.</a:t>
            </a:r>
          </a:p>
          <a:p>
            <a:r>
              <a:t>Next: slot-level simulation with mixed symbol types, joining the split decision with the allocator under one capacity, and running the inversion benchmark on real channel matrices.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list. Every entry was checked against a primary page (publisher, arXiv record, or standards body) on 17 Sep 2026. Entries marked '(abstract)' were not read in full and are cited only for what their abstracts state.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list. Every entry was checked against a primary page (publisher, arXiv record, or standards body) on 17 Sep 2026. Entries marked '(abstract)' were not read in full and are cited only for what their abstracts state.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with the full list of problems found, in case the committee asks what exactly was wrong with the earlier figures.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Derivation of Proposition 1 for a technical question. The key point: the dropped-tap term is an identity; only the quantisation term is a model.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randomised encoder. If asked why not just the SVD: cost. If asked whether the bound is tight: no, and it is stated for Gaussian sketches; the plot shows the slack.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behind the split model and pseudo-code of the allocator, for questions on either.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live demo fails, these are the saved outputs and how they were produced.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10698480" cy="1828800"/>
          </a:xfrm>
          <a:prstGeom prst="rect">
            <a:avLst/>
          </a:prstGeom>
          <a:noFill/>
        </p:spPr>
        <p:txBody>
          <a:bodyPr wrap="square" anchor="t" lIns="73152" rIns="73152" tIns="36576" bIns="36576">
            <a:spAutoFit/>
          </a:bodyPr>
          <a:lstStyle/>
          <a:p>
            <a:pPr algn="l">
              <a:lnSpc>
                <a:spcPct val="105000"/>
              </a:lnSpc>
              <a:spcAft>
                <a:spcPts val="400"/>
              </a:spcAft>
            </a:pPr>
            <a:r>
              <a:rPr sz="3800" b="1">
                <a:solidFill>
                  <a:srgbClr val="FFFFFF"/>
                </a:solidFill>
                <a:latin typeface="Calibri"/>
              </a:rPr>
              <a:t>Fronthaul Load Management in 5G C-RAN / O-RAN</a:t>
            </a:r>
          </a:p>
          <a:p>
            <a:pPr algn="l">
              <a:lnSpc>
                <a:spcPct val="105000"/>
              </a:lnSpc>
              <a:spcAft>
                <a:spcPts val="400"/>
              </a:spcAft>
            </a:pPr>
            <a:r>
              <a:rPr sz="2100" b="0">
                <a:solidFill>
                  <a:srgbClr val="BFD7EA"/>
                </a:solidFill>
                <a:latin typeface="Calibri"/>
              </a:rPr>
              <a:t>Matrix decomposition to compress the data, the cost of matrix inversion, and sharing one link between radio units</a:t>
            </a:r>
          </a:p>
        </p:txBody>
      </p:sp>
      <p:sp>
        <p:nvSpPr>
          <p:cNvPr id="4" name="TextBox 3"/>
          <p:cNvSpPr txBox="1"/>
          <p:nvPr/>
        </p:nvSpPr>
        <p:spPr>
          <a:xfrm>
            <a:off x="731520" y="3566160"/>
            <a:ext cx="10698480" cy="1463040"/>
          </a:xfrm>
          <a:prstGeom prst="rect">
            <a:avLst/>
          </a:prstGeom>
          <a:noFill/>
        </p:spPr>
        <p:txBody>
          <a:bodyPr wrap="square" anchor="t" lIns="73152" rIns="73152" tIns="36576" bIns="36576">
            <a:spAutoFit/>
          </a:bodyPr>
          <a:lstStyle/>
          <a:p>
            <a:pPr algn="l">
              <a:lnSpc>
                <a:spcPct val="105000"/>
              </a:lnSpc>
              <a:spcAft>
                <a:spcPts val="400"/>
              </a:spcAft>
            </a:pPr>
            <a:r>
              <a:rPr sz="2000" b="0">
                <a:solidFill>
                  <a:srgbClr val="FFFFFF"/>
                </a:solidFill>
                <a:latin typeface="Calibri"/>
              </a:rPr>
              <a:t>B.Tech. Project — mid-term evaluation</a:t>
            </a:r>
          </a:p>
          <a:p>
            <a:pPr algn="l">
              <a:lnSpc>
                <a:spcPct val="105000"/>
              </a:lnSpc>
              <a:spcAft>
                <a:spcPts val="400"/>
              </a:spcAft>
            </a:pPr>
            <a:r>
              <a:rPr sz="1600" b="0">
                <a:solidFill>
                  <a:srgbClr val="BFD7EA"/>
                </a:solidFill>
                <a:latin typeface="Calibri"/>
              </a:rPr>
              <a:t>September 2026</a:t>
            </a:r>
          </a:p>
          <a:p>
            <a:pPr algn="l">
              <a:lnSpc>
                <a:spcPct val="105000"/>
              </a:lnSpc>
              <a:spcAft>
                <a:spcPts val="400"/>
              </a:spcAft>
            </a:pPr>
            <a:r>
              <a:rPr sz="1400" b="0" i="1">
                <a:solidFill>
                  <a:srgbClr val="BFD7EA"/>
                </a:solidFill>
                <a:latin typeface="Calibri"/>
              </a:rPr>
              <a:t>All results are Python simulations on the 3GPP TDL-A channel model (no hardware, no measured traffic)</a:t>
            </a:r>
          </a:p>
        </p:txBody>
      </p:sp>
      <p:sp>
        <p:nvSpPr>
          <p:cNvPr id="5" name="TextBox 4"/>
          <p:cNvSpPr txBox="1"/>
          <p:nvPr/>
        </p:nvSpPr>
        <p:spPr>
          <a:xfrm>
            <a:off x="731520" y="5760720"/>
            <a:ext cx="10698480" cy="731520"/>
          </a:xfrm>
          <a:prstGeom prst="rect">
            <a:avLst/>
          </a:prstGeom>
          <a:noFill/>
        </p:spPr>
        <p:txBody>
          <a:bodyPr wrap="square" anchor="t" lIns="73152" rIns="73152" tIns="36576" bIns="36576">
            <a:spAutoFit/>
          </a:bodyPr>
          <a:lstStyle/>
          <a:p>
            <a:pPr algn="l">
              <a:lnSpc>
                <a:spcPct val="105000"/>
              </a:lnSpc>
              <a:spcAft>
                <a:spcPts val="400"/>
              </a:spcAft>
            </a:pPr>
            <a:r>
              <a:rPr sz="1200" b="0">
                <a:solidFill>
                  <a:srgbClr val="BFD7EA"/>
                </a:solidFill>
                <a:latin typeface="Calibri"/>
              </a:rPr>
              <a:t>Tags on every slide:   [repo] was already in the repository   [new] built and checked in this iteration   [fix] corrected   [prelim] early result   [future] planned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Why the fronthaul link is the bottleneck</a:t>
            </a:r>
          </a:p>
        </p:txBody>
      </p:sp>
      <p:sp>
        <p:nvSpPr>
          <p:cNvPr id="4" name="TextBox 3"/>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In the O-RAN 7.2x split the radio unit sends one complex number per antenna, per subcarrier, per OFDM symbol</a:t>
            </a:r>
          </a:p>
        </p:txBody>
      </p:sp>
      <p:sp>
        <p:nvSpPr>
          <p:cNvPr id="5" name="Rectangle 4"/>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Motivation</a:t>
            </a:r>
          </a:p>
        </p:txBody>
      </p:sp>
      <p:sp>
        <p:nvSpPr>
          <p:cNvPr id="7" name="TextBox 6"/>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2</a:t>
            </a:r>
          </a:p>
        </p:txBody>
      </p:sp>
      <p:sp>
        <p:nvSpPr>
          <p:cNvPr id="8" name="TextBox 7"/>
          <p:cNvSpPr txBox="1"/>
          <p:nvPr/>
        </p:nvSpPr>
        <p:spPr>
          <a:xfrm>
            <a:off x="457200" y="1371600"/>
            <a:ext cx="5852160" cy="4297680"/>
          </a:xfrm>
          <a:prstGeom prst="rect">
            <a:avLst/>
          </a:prstGeom>
          <a:noFill/>
        </p:spPr>
        <p:txBody>
          <a:bodyPr wrap="square" anchor="t" lIns="73152" rIns="73152" tIns="36576" bIns="36576">
            <a:spAutoFit/>
          </a:bodyPr>
          <a:lstStyle/>
          <a:p>
            <a:pPr algn="l">
              <a:lnSpc>
                <a:spcPct val="105000"/>
              </a:lnSpc>
              <a:spcAft>
                <a:spcPts val="400"/>
              </a:spcAft>
            </a:pPr>
            <a:r>
              <a:rPr sz="1800" b="1">
                <a:solidFill>
                  <a:srgbClr val="142B45"/>
                </a:solidFill>
                <a:latin typeface="Calibri"/>
              </a:rPr>
              <a:t>How much data one radio unit (RU) produces</a:t>
            </a:r>
          </a:p>
          <a:p>
            <a:pPr algn="l">
              <a:lnSpc>
                <a:spcPct val="105000"/>
              </a:lnSpc>
              <a:spcAft>
                <a:spcPts val="400"/>
              </a:spcAft>
            </a:pPr>
            <a:r>
              <a:rPr sz="1600" b="0">
                <a:solidFill>
                  <a:srgbClr val="1B1B1B"/>
                </a:solidFill>
                <a:latin typeface="Calibri"/>
              </a:rPr>
              <a:t>bits per symbol = 2 × M antennas × N subcarriers × b bits</a:t>
            </a:r>
          </a:p>
          <a:p>
            <a:pPr algn="l">
              <a:lnSpc>
                <a:spcPct val="105000"/>
              </a:lnSpc>
              <a:spcAft>
                <a:spcPts val="400"/>
              </a:spcAft>
            </a:pPr>
            <a:r>
              <a:rPr sz="1400" b="0">
                <a:solidFill>
                  <a:srgbClr val="5D6D7E"/>
                </a:solidFill>
                <a:latin typeface="Calibri"/>
              </a:rPr>
              <a:t>M = 64, N = 1200 (15 kHz spacing, 18 MHz), b = 16 bit</a:t>
            </a:r>
          </a:p>
          <a:p>
            <a:pPr algn="l">
              <a:lnSpc>
                <a:spcPct val="105000"/>
              </a:lnSpc>
              <a:spcAft>
                <a:spcPts val="400"/>
              </a:spcAft>
            </a:pPr>
            <a:r>
              <a:rPr sz="1700" b="1">
                <a:solidFill>
                  <a:srgbClr val="C0392B"/>
                </a:solidFill>
                <a:latin typeface="Calibri"/>
              </a:rPr>
              <a:t>→ 2.46 Mbit per symbol,  14 symbols per ms  →  34.4 Gbit/s per RU</a:t>
            </a:r>
          </a:p>
          <a:p>
            <a:pPr algn="l">
              <a:lnSpc>
                <a:spcPct val="105000"/>
              </a:lnSpc>
              <a:spcAft>
                <a:spcPts val="400"/>
              </a:spcAft>
            </a:pPr>
            <a:r>
              <a:rPr sz="1700" b="1">
                <a:solidFill>
                  <a:srgbClr val="C0392B"/>
                </a:solidFill>
                <a:latin typeface="Calibri"/>
              </a:rPr>
              <a:t>→ 8 RUs on one link: 275 Gbit/s</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800" b="1">
                <a:solidFill>
                  <a:srgbClr val="142B45"/>
                </a:solidFill>
                <a:latin typeface="Calibri"/>
              </a:rPr>
              <a:t>Three ways to reduce the load</a:t>
            </a:r>
          </a:p>
          <a:p>
            <a:pPr algn="l">
              <a:lnSpc>
                <a:spcPct val="105000"/>
              </a:lnSpc>
              <a:spcAft>
                <a:spcPts val="400"/>
              </a:spcAft>
            </a:pPr>
            <a:r>
              <a:rPr sz="1500" b="0">
                <a:solidFill>
                  <a:srgbClr val="1B1B1B"/>
                </a:solidFill>
                <a:latin typeface="Calibri"/>
              </a:rPr>
              <a:t>Compress the 64 × 1200 matrix (fewer bits, or send only its important part)</a:t>
            </a:r>
          </a:p>
          <a:p>
            <a:pPr algn="l">
              <a:lnSpc>
                <a:spcPct val="105000"/>
              </a:lnSpc>
              <a:spcAft>
                <a:spcPts val="400"/>
              </a:spcAft>
            </a:pPr>
            <a:r>
              <a:rPr sz="1500" b="0">
                <a:solidFill>
                  <a:srgbClr val="1B1B1B"/>
                </a:solidFill>
                <a:latin typeface="Calibri"/>
              </a:rPr>
              <a:t>Send fewer spatial streams than antennas, or move processing into the RU (functional split)</a:t>
            </a:r>
          </a:p>
          <a:p>
            <a:pPr algn="l">
              <a:lnSpc>
                <a:spcPct val="105000"/>
              </a:lnSpc>
              <a:spcAft>
                <a:spcPts val="400"/>
              </a:spcAft>
            </a:pPr>
            <a:r>
              <a:rPr sz="1500" b="0">
                <a:solidFill>
                  <a:srgbClr val="1B1B1B"/>
                </a:solidFill>
                <a:latin typeface="Calibri"/>
              </a:rPr>
              <a:t>Share the link: give each RU a share so the total fits</a:t>
            </a:r>
          </a:p>
        </p:txBody>
      </p:sp>
      <p:sp>
        <p:nvSpPr>
          <p:cNvPr id="9" name="TextBox 8"/>
          <p:cNvSpPr txBox="1"/>
          <p:nvPr/>
        </p:nvSpPr>
        <p:spPr>
          <a:xfrm>
            <a:off x="6492240" y="1371600"/>
            <a:ext cx="5303520" cy="4297680"/>
          </a:xfrm>
          <a:prstGeom prst="rect">
            <a:avLst/>
          </a:prstGeom>
          <a:noFill/>
        </p:spPr>
        <p:txBody>
          <a:bodyPr wrap="square" anchor="t" lIns="73152" rIns="73152" tIns="36576" bIns="36576">
            <a:spAutoFit/>
          </a:bodyPr>
          <a:lstStyle/>
          <a:p>
            <a:pPr algn="l">
              <a:lnSpc>
                <a:spcPct val="105000"/>
              </a:lnSpc>
              <a:spcAft>
                <a:spcPts val="400"/>
              </a:spcAft>
            </a:pPr>
            <a:r>
              <a:rPr sz="1800" b="1">
                <a:solidFill>
                  <a:srgbClr val="142B45"/>
                </a:solidFill>
                <a:latin typeface="Calibri"/>
              </a:rPr>
              <a:t>What 'load management' means here</a:t>
            </a:r>
          </a:p>
          <a:p>
            <a:pPr algn="l">
              <a:lnSpc>
                <a:spcPct val="105000"/>
              </a:lnSpc>
              <a:spcAft>
                <a:spcPts val="400"/>
              </a:spcAft>
            </a:pPr>
            <a:r>
              <a:rPr sz="1500" b="0">
                <a:solidFill>
                  <a:srgbClr val="1B1B1B"/>
                </a:solidFill>
                <a:latin typeface="Calibri"/>
              </a:rPr>
              <a:t>For every OFDM symbol and every RU, pick a compression setting (and stream count) so that</a:t>
            </a:r>
          </a:p>
          <a:p>
            <a:pPr algn="l">
              <a:lnSpc>
                <a:spcPct val="105000"/>
              </a:lnSpc>
              <a:spcAft>
                <a:spcPts val="400"/>
              </a:spcAft>
            </a:pPr>
            <a:r>
              <a:rPr sz="1700" b="1">
                <a:solidFill>
                  <a:srgbClr val="1B1B1B"/>
                </a:solidFill>
                <a:latin typeface="Calibri"/>
              </a:rPr>
              <a:t>total rate of all RUs ≤ link capacity</a:t>
            </a:r>
          </a:p>
          <a:p>
            <a:pPr algn="l">
              <a:lnSpc>
                <a:spcPct val="105000"/>
              </a:lnSpc>
              <a:spcAft>
                <a:spcPts val="400"/>
              </a:spcAft>
            </a:pPr>
            <a:r>
              <a:rPr sz="1500" b="0">
                <a:solidFill>
                  <a:srgbClr val="1B1B1B"/>
                </a:solidFill>
                <a:latin typeface="Calibri"/>
              </a:rPr>
              <a:t>and the reconstructed matrices are as accurate as possible.</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500" b="1">
                <a:solidFill>
                  <a:srgbClr val="5D6D7E"/>
                </a:solidFill>
                <a:latin typeface="Calibri"/>
              </a:rPr>
              <a:t>Not modelled (so not claimed):</a:t>
            </a:r>
          </a:p>
          <a:p>
            <a:pPr algn="l">
              <a:lnSpc>
                <a:spcPct val="105000"/>
              </a:lnSpc>
              <a:spcAft>
                <a:spcPts val="400"/>
              </a:spcAft>
            </a:pPr>
            <a:r>
              <a:rPr sz="1400" b="0">
                <a:solidFill>
                  <a:srgbClr val="5D6D7E"/>
                </a:solidFill>
                <a:latin typeface="Calibri"/>
              </a:rPr>
              <a:t>MAC scheduling, retransmissions, latency, real hardware timing, measured traffic</a:t>
            </a:r>
          </a:p>
        </p:txBody>
      </p:sp>
      <p:sp>
        <p:nvSpPr>
          <p:cNvPr id="10" name="Rectangle 9"/>
          <p:cNvSpPr/>
          <p:nvPr/>
        </p:nvSpPr>
        <p:spPr>
          <a:xfrm>
            <a:off x="365760" y="5897880"/>
            <a:ext cx="11460175" cy="54864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142B45"/>
                </a:solidFill>
                <a:latin typeface="Calibri"/>
              </a:rPr>
              <a:t>The problem: several RUs, one link, a fixed number of bits per symbol — decide how many bits, which structure to keep, and how many streams for each RU.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What the project is built from</a:t>
            </a:r>
          </a:p>
        </p:txBody>
      </p:sp>
      <p:sp>
        <p:nvSpPr>
          <p:cNvPr id="4" name="TextBox 3"/>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Three parts; matrix decomposition and matrix inversion are the common tools</a:t>
            </a:r>
          </a:p>
        </p:txBody>
      </p:sp>
      <p:sp>
        <p:nvSpPr>
          <p:cNvPr id="5" name="Rectangle 4"/>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Overview</a:t>
            </a:r>
          </a:p>
        </p:txBody>
      </p:sp>
      <p:sp>
        <p:nvSpPr>
          <p:cNvPr id="7" name="TextBox 6"/>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3</a:t>
            </a:r>
          </a:p>
        </p:txBody>
      </p:sp>
      <p:sp>
        <p:nvSpPr>
          <p:cNvPr id="8" name="Rectangle 7"/>
          <p:cNvSpPr/>
          <p:nvPr/>
        </p:nvSpPr>
        <p:spPr>
          <a:xfrm>
            <a:off x="365760" y="1371600"/>
            <a:ext cx="3657600" cy="457200"/>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371600"/>
            <a:ext cx="3657600" cy="457200"/>
          </a:xfrm>
          <a:prstGeom prst="rect">
            <a:avLst/>
          </a:prstGeom>
          <a:noFill/>
        </p:spPr>
        <p:txBody>
          <a:bodyPr wrap="square" anchor="ctr" lIns="73152" rIns="73152" tIns="36576" bIns="36576">
            <a:spAutoFit/>
          </a:bodyPr>
          <a:lstStyle/>
          <a:p>
            <a:pPr algn="ctr">
              <a:lnSpc>
                <a:spcPct val="105000"/>
              </a:lnSpc>
              <a:spcAft>
                <a:spcPts val="400"/>
              </a:spcAft>
            </a:pPr>
            <a:r>
              <a:rPr sz="1400" b="1">
                <a:solidFill>
                  <a:srgbClr val="FFFFFF"/>
                </a:solidFill>
                <a:latin typeface="Calibri"/>
              </a:rPr>
              <a:t>A. Compress with matrix decomposition</a:t>
            </a:r>
          </a:p>
        </p:txBody>
      </p:sp>
      <p:sp>
        <p:nvSpPr>
          <p:cNvPr id="10" name="Rectangle 9"/>
          <p:cNvSpPr/>
          <p:nvPr/>
        </p:nvSpPr>
        <p:spPr>
          <a:xfrm>
            <a:off x="365760" y="1828800"/>
            <a:ext cx="3657600" cy="3931920"/>
          </a:xfrm>
          <a:prstGeom prst="rect">
            <a:avLst/>
          </a:prstGeom>
          <a:solidFill>
            <a:srgbClr val="F4F6F8"/>
          </a:solidFill>
          <a:ln w="12700">
            <a:solidFill>
              <a:srgbClr val="1E84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874519"/>
            <a:ext cx="3566160" cy="3840480"/>
          </a:xfrm>
          <a:prstGeom prst="rect">
            <a:avLst/>
          </a:prstGeom>
          <a:noFill/>
        </p:spPr>
        <p:txBody>
          <a:bodyPr wrap="square" anchor="t" lIns="73152" rIns="73152" tIns="36576" bIns="36576">
            <a:spAutoFit/>
          </a:bodyPr>
          <a:lstStyle/>
          <a:p>
            <a:pPr algn="l">
              <a:lnSpc>
                <a:spcPct val="105000"/>
              </a:lnSpc>
              <a:spcAft>
                <a:spcPts val="400"/>
              </a:spcAft>
            </a:pPr>
            <a:r>
              <a:rPr sz="1200" b="0">
                <a:solidFill>
                  <a:srgbClr val="1B1B1B"/>
                </a:solidFill>
                <a:latin typeface="Calibri"/>
              </a:rPr>
              <a:t>• The received 64 × 1200 matrix has structure: only ~23 propagation paths → low rank; sparse in the delay domain.</a:t>
            </a:r>
          </a:p>
          <a:p>
            <a:pPr algn="l">
              <a:lnSpc>
                <a:spcPct val="105000"/>
              </a:lnSpc>
              <a:spcAft>
                <a:spcPts val="400"/>
              </a:spcAft>
            </a:pPr>
            <a:r>
              <a:rPr sz="1200" b="0">
                <a:solidFill>
                  <a:srgbClr val="1B1B1B"/>
                </a:solidFill>
                <a:latin typeface="Calibri"/>
              </a:rPr>
              <a:t>• Truncated SVD [repo → fix]: keep the r largest singular values (best possible rank-r approximation).</a:t>
            </a:r>
          </a:p>
          <a:p>
            <a:pPr algn="l">
              <a:lnSpc>
                <a:spcPct val="105000"/>
              </a:lnSpc>
              <a:spcAft>
                <a:spcPts val="400"/>
              </a:spcAft>
            </a:pPr>
            <a:r>
              <a:rPr sz="1200" b="0">
                <a:solidFill>
                  <a:srgbClr val="1B1B1B"/>
                </a:solidFill>
                <a:latin typeface="Calibri"/>
              </a:rPr>
              <a:t>• RAS-BFP [new]: randomised SVD — sketch, QR, small SVD — ≈5x faster than the thin SVD.</a:t>
            </a:r>
          </a:p>
          <a:p>
            <a:pPr algn="l">
              <a:lnSpc>
                <a:spcPct val="105000"/>
              </a:lnSpc>
              <a:spcAft>
                <a:spcPts val="400"/>
              </a:spcAft>
            </a:pPr>
            <a:r>
              <a:rPr sz="1200" b="0">
                <a:solidFill>
                  <a:srgbClr val="1B1B1B"/>
                </a:solidFill>
                <a:latin typeface="Calibri"/>
              </a:rPr>
              <a:t>• CSEE [new]: IFFT along subcarriers, keep the K strongest delay taps.</a:t>
            </a:r>
          </a:p>
          <a:p>
            <a:pPr algn="l">
              <a:lnSpc>
                <a:spcPct val="105000"/>
              </a:lnSpc>
              <a:spcAft>
                <a:spcPts val="400"/>
              </a:spcAft>
            </a:pPr>
            <a:r>
              <a:rPr sz="1200" b="0">
                <a:solidFill>
                  <a:srgbClr val="1B1B1B"/>
                </a:solidFill>
                <a:latin typeface="Calibri"/>
              </a:rPr>
              <a:t>• BFP [repo]: the O-RAN standard quantiser, used as the baseline and inside every encoder.</a:t>
            </a:r>
          </a:p>
          <a:p>
            <a:pPr algn="l">
              <a:lnSpc>
                <a:spcPct val="105000"/>
              </a:lnSpc>
              <a:spcAft>
                <a:spcPts val="400"/>
              </a:spcAft>
            </a:pPr>
            <a:r>
              <a:rPr sz="1200" b="0">
                <a:solidFill>
                  <a:srgbClr val="1B1B1B"/>
                </a:solidFill>
                <a:latin typeface="Calibri"/>
              </a:rPr>
              <a:t>• ACAFS [fix]: estimate the rank and send only that many streams.</a:t>
            </a:r>
          </a:p>
        </p:txBody>
      </p:sp>
      <p:sp>
        <p:nvSpPr>
          <p:cNvPr id="12" name="Rectangle 11"/>
          <p:cNvSpPr/>
          <p:nvPr/>
        </p:nvSpPr>
        <p:spPr>
          <a:xfrm>
            <a:off x="4206240" y="1371600"/>
            <a:ext cx="3657600" cy="457200"/>
          </a:xfrm>
          <a:prstGeom prst="rect">
            <a:avLst/>
          </a:prstGeom>
          <a:solidFill>
            <a:srgbClr val="D36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0" y="1371600"/>
            <a:ext cx="3657600" cy="457200"/>
          </a:xfrm>
          <a:prstGeom prst="rect">
            <a:avLst/>
          </a:prstGeom>
          <a:noFill/>
        </p:spPr>
        <p:txBody>
          <a:bodyPr wrap="square" anchor="ctr" lIns="73152" rIns="73152" tIns="36576" bIns="36576">
            <a:spAutoFit/>
          </a:bodyPr>
          <a:lstStyle/>
          <a:p>
            <a:pPr algn="ctr">
              <a:lnSpc>
                <a:spcPct val="105000"/>
              </a:lnSpc>
              <a:spcAft>
                <a:spcPts val="400"/>
              </a:spcAft>
            </a:pPr>
            <a:r>
              <a:rPr sz="1400" b="1">
                <a:solidFill>
                  <a:srgbClr val="FFFFFF"/>
                </a:solidFill>
                <a:latin typeface="Calibri"/>
              </a:rPr>
              <a:t>B. Cost of matrix inversion</a:t>
            </a:r>
          </a:p>
        </p:txBody>
      </p:sp>
      <p:sp>
        <p:nvSpPr>
          <p:cNvPr id="14" name="Rectangle 13"/>
          <p:cNvSpPr/>
          <p:nvPr/>
        </p:nvSpPr>
        <p:spPr>
          <a:xfrm>
            <a:off x="4206240" y="1828800"/>
            <a:ext cx="3657600" cy="3931920"/>
          </a:xfrm>
          <a:prstGeom prst="rect">
            <a:avLst/>
          </a:prstGeom>
          <a:solidFill>
            <a:srgbClr val="F4F6F8"/>
          </a:solidFill>
          <a:ln w="12700">
            <a:solidFill>
              <a:srgbClr val="D36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51960" y="1874519"/>
            <a:ext cx="3566160" cy="3840480"/>
          </a:xfrm>
          <a:prstGeom prst="rect">
            <a:avLst/>
          </a:prstGeom>
          <a:noFill/>
        </p:spPr>
        <p:txBody>
          <a:bodyPr wrap="square" anchor="t" lIns="73152" rIns="73152" tIns="36576" bIns="36576">
            <a:spAutoFit/>
          </a:bodyPr>
          <a:lstStyle/>
          <a:p>
            <a:pPr algn="l">
              <a:lnSpc>
                <a:spcPct val="105000"/>
              </a:lnSpc>
              <a:spcAft>
                <a:spcPts val="400"/>
              </a:spcAft>
            </a:pPr>
            <a:r>
              <a:rPr sz="1200" b="0">
                <a:solidFill>
                  <a:srgbClr val="1B1B1B"/>
                </a:solidFill>
                <a:latin typeface="Calibri"/>
              </a:rPr>
              <a:t>• The receiver needs A⁻¹ (MMSE equaliser, channel estimation) every slot. Where can it run — RU or DU?</a:t>
            </a:r>
          </a:p>
          <a:p>
            <a:pPr algn="l">
              <a:lnSpc>
                <a:spcPct val="105000"/>
              </a:lnSpc>
              <a:spcAft>
                <a:spcPts val="400"/>
              </a:spcAft>
            </a:pPr>
            <a:r>
              <a:rPr sz="1200" b="0">
                <a:solidFill>
                  <a:srgbClr val="1B1B1B"/>
                </a:solidFill>
                <a:latin typeface="Calibri"/>
              </a:rPr>
              <a:t>• Benchmark [repo, re-run]: LU, QR, SVD, Gauss–Jordan, Newton–Schulz vs three neural 'InverseNet' models.</a:t>
            </a:r>
          </a:p>
          <a:p>
            <a:pPr algn="l">
              <a:lnSpc>
                <a:spcPct val="105000"/>
              </a:lnSpc>
              <a:spcAft>
                <a:spcPts val="400"/>
              </a:spcAft>
            </a:pPr>
            <a:r>
              <a:rPr sz="1200" b="0">
                <a:solidFill>
                  <a:srgbClr val="1B1B1B"/>
                </a:solidFill>
                <a:latin typeface="Calibri"/>
              </a:rPr>
              <a:t>• Dataset: random well-conditioned matrices, n = 10 / 100 / 500, float32; 80 % train / 20 % held out.</a:t>
            </a:r>
          </a:p>
          <a:p>
            <a:pPr algn="l">
              <a:lnSpc>
                <a:spcPct val="105000"/>
              </a:lnSpc>
              <a:spcAft>
                <a:spcPts val="400"/>
              </a:spcAft>
            </a:pPr>
            <a:r>
              <a:rPr sz="1200" b="0">
                <a:solidFill>
                  <a:srgbClr val="1B1B1B"/>
                </a:solidFill>
                <a:latin typeface="Calibri"/>
              </a:rPr>
              <a:t>• Learned models: direct MLP, learned Newton–Schulz (17 parameters), InverseNet-Ultra.</a:t>
            </a:r>
          </a:p>
          <a:p>
            <a:pPr algn="l">
              <a:lnSpc>
                <a:spcPct val="105000"/>
              </a:lnSpc>
              <a:spcAft>
                <a:spcPts val="400"/>
              </a:spcAft>
            </a:pPr>
            <a:r>
              <a:rPr sz="1200" b="0">
                <a:solidFill>
                  <a:srgbClr val="1B1B1B"/>
                </a:solidFill>
                <a:latin typeface="Calibri"/>
              </a:rPr>
              <a:t>• Fixed [fix]: NumPy inference engine used the wrong activation; overstated docstring.</a:t>
            </a:r>
          </a:p>
        </p:txBody>
      </p:sp>
      <p:sp>
        <p:nvSpPr>
          <p:cNvPr id="16" name="Rectangle 15"/>
          <p:cNvSpPr/>
          <p:nvPr/>
        </p:nvSpPr>
        <p:spPr>
          <a:xfrm>
            <a:off x="8046720" y="1371600"/>
            <a:ext cx="3657600" cy="4572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1371600"/>
            <a:ext cx="3657600" cy="457200"/>
          </a:xfrm>
          <a:prstGeom prst="rect">
            <a:avLst/>
          </a:prstGeom>
          <a:noFill/>
        </p:spPr>
        <p:txBody>
          <a:bodyPr wrap="square" anchor="ctr" lIns="73152" rIns="73152" tIns="36576" bIns="36576">
            <a:spAutoFit/>
          </a:bodyPr>
          <a:lstStyle/>
          <a:p>
            <a:pPr algn="ctr">
              <a:lnSpc>
                <a:spcPct val="105000"/>
              </a:lnSpc>
              <a:spcAft>
                <a:spcPts val="400"/>
              </a:spcAft>
            </a:pPr>
            <a:r>
              <a:rPr sz="1400" b="1">
                <a:solidFill>
                  <a:srgbClr val="FFFFFF"/>
                </a:solidFill>
                <a:latin typeface="Calibri"/>
              </a:rPr>
              <a:t>C. Share one link</a:t>
            </a:r>
          </a:p>
        </p:txBody>
      </p:sp>
      <p:sp>
        <p:nvSpPr>
          <p:cNvPr id="18" name="Rectangle 17"/>
          <p:cNvSpPr/>
          <p:nvPr/>
        </p:nvSpPr>
        <p:spPr>
          <a:xfrm>
            <a:off x="8046720" y="1828800"/>
            <a:ext cx="3657600" cy="3931920"/>
          </a:xfrm>
          <a:prstGeom prst="rect">
            <a:avLst/>
          </a:prstGeom>
          <a:solidFill>
            <a:srgbClr val="F4F6F8"/>
          </a:solidFill>
          <a:ln w="12700">
            <a:solidFill>
              <a:srgbClr val="1F7A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92440" y="1874519"/>
            <a:ext cx="3566160" cy="3840480"/>
          </a:xfrm>
          <a:prstGeom prst="rect">
            <a:avLst/>
          </a:prstGeom>
          <a:noFill/>
        </p:spPr>
        <p:txBody>
          <a:bodyPr wrap="square" anchor="t" lIns="73152" rIns="73152" tIns="36576" bIns="36576">
            <a:spAutoFit/>
          </a:bodyPr>
          <a:lstStyle/>
          <a:p>
            <a:pPr algn="l">
              <a:lnSpc>
                <a:spcPct val="105000"/>
              </a:lnSpc>
              <a:spcAft>
                <a:spcPts val="400"/>
              </a:spcAft>
            </a:pPr>
            <a:r>
              <a:rPr sz="1200" b="0">
                <a:solidFill>
                  <a:srgbClr val="1B1B1B"/>
                </a:solidFill>
                <a:latin typeface="Calibri"/>
              </a:rPr>
              <a:t>• Each RU offers a menu of settings (bits, taps, rank), each with a known rate and a predicted error.</a:t>
            </a:r>
          </a:p>
          <a:p>
            <a:pPr algn="l">
              <a:lnSpc>
                <a:spcPct val="105000"/>
              </a:lnSpc>
              <a:spcAft>
                <a:spcPts val="400"/>
              </a:spcAft>
            </a:pPr>
            <a:r>
              <a:rPr sz="1200" b="0">
                <a:solidFill>
                  <a:srgbClr val="1B1B1B"/>
                </a:solidFill>
                <a:latin typeface="Calibri"/>
              </a:rPr>
              <a:t>• Allocator [new]: pick one setting per RU so the total rate fits the link and the total error is smallest.</a:t>
            </a:r>
          </a:p>
          <a:p>
            <a:pPr algn="l">
              <a:lnSpc>
                <a:spcPct val="105000"/>
              </a:lnSpc>
              <a:spcAft>
                <a:spcPts val="400"/>
              </a:spcAft>
            </a:pPr>
            <a:r>
              <a:rPr sz="1200" b="0">
                <a:solidFill>
                  <a:srgbClr val="1B1B1B"/>
                </a:solidFill>
                <a:latin typeface="Calibri"/>
              </a:rPr>
              <a:t>• Prediction comes from the decomposition itself (energy of discarded taps / singular values) — no trial encoding.</a:t>
            </a:r>
          </a:p>
          <a:p>
            <a:pPr algn="l">
              <a:lnSpc>
                <a:spcPct val="105000"/>
              </a:lnSpc>
              <a:spcAft>
                <a:spcPts val="400"/>
              </a:spcAft>
            </a:pPr>
            <a:r>
              <a:rPr sz="1200" b="0">
                <a:solidFill>
                  <a:srgbClr val="1B1B1B"/>
                </a:solidFill>
                <a:latin typeface="Calibri"/>
              </a:rPr>
              <a:t>• Compared with static settings and with an oracle that encodes every option.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Starting point: what the repository contained and what I fixed</a:t>
            </a:r>
          </a:p>
        </p:txBody>
      </p:sp>
      <p:sp>
        <p:nvSpPr>
          <p:cNvPr id="4" name="TextBox 3"/>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Audit done on 17 Sep 2026 (details in docs/audit.md)</a:t>
            </a:r>
          </a:p>
        </p:txBody>
      </p:sp>
      <p:sp>
        <p:nvSpPr>
          <p:cNvPr id="5" name="Rectangle 4"/>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Scope</a:t>
            </a:r>
          </a:p>
        </p:txBody>
      </p:sp>
      <p:sp>
        <p:nvSpPr>
          <p:cNvPr id="7" name="TextBox 6"/>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4</a:t>
            </a:r>
          </a:p>
        </p:txBody>
      </p:sp>
      <p:graphicFrame>
        <p:nvGraphicFramePr>
          <p:cNvPr id="8" name="Table 7"/>
          <p:cNvGraphicFramePr>
            <a:graphicFrameLocks noGrp="1"/>
          </p:cNvGraphicFramePr>
          <p:nvPr/>
        </p:nvGraphicFramePr>
        <p:xfrm>
          <a:off x="365760" y="1371600"/>
          <a:ext cx="11429998" cy="3931920"/>
        </p:xfrm>
        <a:graphic>
          <a:graphicData uri="http://schemas.openxmlformats.org/drawingml/2006/table">
            <a:tbl>
              <a:tblPr firstRow="1" bandRow="1">
                <a:tableStyleId>{5C22544A-7EE6-4342-B048-85BDC9FD1C3A}</a:tableStyleId>
              </a:tblPr>
              <a:tblGrid>
                <a:gridCol w="2364827"/>
                <a:gridCol w="1576551"/>
                <a:gridCol w="5320862"/>
                <a:gridCol w="2167758"/>
              </a:tblGrid>
              <a:tr h="491490">
                <a:tc>
                  <a:txBody>
                    <a:bodyPr wrap="square"/>
                    <a:lstStyle/>
                    <a:p>
                      <a:pPr algn="l"/>
                      <a:r>
                        <a:rPr sz="1100" b="1">
                          <a:solidFill>
                            <a:srgbClr val="FFFFFF"/>
                          </a:solidFill>
                          <a:latin typeface="Calibri"/>
                        </a:rPr>
                        <a:t>Part</a:t>
                      </a:r>
                    </a:p>
                  </a:txBody>
                  <a:tcPr marL="45720" marR="45720" marT="18288" marB="18288">
                    <a:solidFill>
                      <a:srgbClr val="142B45"/>
                    </a:solidFill>
                  </a:tcPr>
                </a:tc>
                <a:tc>
                  <a:txBody>
                    <a:bodyPr wrap="square"/>
                    <a:lstStyle/>
                    <a:p>
                      <a:pPr algn="ctr"/>
                      <a:r>
                        <a:rPr sz="1100" b="1">
                          <a:solidFill>
                            <a:srgbClr val="FFFFFF"/>
                          </a:solidFill>
                          <a:latin typeface="Calibri"/>
                        </a:rPr>
                        <a:t>Found</a:t>
                      </a:r>
                    </a:p>
                  </a:txBody>
                  <a:tcPr marL="45720" marR="45720" marT="18288" marB="18288">
                    <a:solidFill>
                      <a:srgbClr val="142B45"/>
                    </a:solidFill>
                  </a:tcPr>
                </a:tc>
                <a:tc>
                  <a:txBody>
                    <a:bodyPr wrap="square"/>
                    <a:lstStyle/>
                    <a:p>
                      <a:pPr algn="ctr"/>
                      <a:r>
                        <a:rPr sz="1100" b="1">
                          <a:solidFill>
                            <a:srgbClr val="FFFFFF"/>
                          </a:solidFill>
                          <a:latin typeface="Calibri"/>
                        </a:rPr>
                        <a:t>Problem found</a:t>
                      </a:r>
                    </a:p>
                  </a:txBody>
                  <a:tcPr marL="45720" marR="45720" marT="18288" marB="18288">
                    <a:solidFill>
                      <a:srgbClr val="142B45"/>
                    </a:solidFill>
                  </a:tcPr>
                </a:tc>
                <a:tc>
                  <a:txBody>
                    <a:bodyPr wrap="square"/>
                    <a:lstStyle/>
                    <a:p>
                      <a:pPr algn="ctr"/>
                      <a:r>
                        <a:rPr sz="1100" b="1">
                          <a:solidFill>
                            <a:srgbClr val="FFFFFF"/>
                          </a:solidFill>
                          <a:latin typeface="Calibri"/>
                        </a:rPr>
                        <a:t>Now</a:t>
                      </a:r>
                    </a:p>
                  </a:txBody>
                  <a:tcPr marL="45720" marR="45720" marT="18288" marB="18288">
                    <a:solidFill>
                      <a:srgbClr val="142B45"/>
                    </a:solidFill>
                  </a:tcPr>
                </a:tc>
              </a:tr>
              <a:tr h="491490">
                <a:tc>
                  <a:txBody>
                    <a:bodyPr wrap="square"/>
                    <a:lstStyle/>
                    <a:p>
                      <a:pPr algn="l"/>
                      <a:r>
                        <a:rPr sz="1100">
                          <a:solidFill>
                            <a:srgbClr val="1B1B1B"/>
                          </a:solidFill>
                          <a:latin typeface="Calibri"/>
                        </a:rPr>
                        <a:t>Fronthaul experiments 1-4, notebook, figures</a:t>
                      </a:r>
                    </a:p>
                  </a:txBody>
                  <a:tcPr marL="45720" marR="45720" marT="18288" marB="18288">
                    <a:solidFill>
                      <a:srgbClr val="FFFFFF"/>
                    </a:solidFill>
                  </a:tcPr>
                </a:tc>
                <a:tc>
                  <a:txBody>
                    <a:bodyPr wrap="square"/>
                    <a:lstStyle/>
                    <a:p>
                      <a:pPr algn="ctr"/>
                      <a:r>
                        <a:rPr sz="1100">
                          <a:solidFill>
                            <a:srgbClr val="1B1B1B"/>
                          </a:solidFill>
                          <a:latin typeface="Calibri"/>
                        </a:rPr>
                        <a:t>[repo] present</a:t>
                      </a:r>
                    </a:p>
                  </a:txBody>
                  <a:tcPr marL="45720" marR="45720" marT="18288" marB="18288">
                    <a:solidFill>
                      <a:srgbClr val="FFFFFF"/>
                    </a:solidFill>
                  </a:tcPr>
                </a:tc>
                <a:tc>
                  <a:txBody>
                    <a:bodyPr wrap="square"/>
                    <a:lstStyle/>
                    <a:p>
                      <a:pPr algn="ctr"/>
                      <a:r>
                        <a:rPr sz="1100">
                          <a:solidFill>
                            <a:srgbClr val="1B1B1B"/>
                          </a:solidFill>
                          <a:latin typeface="Calibri"/>
                        </a:rPr>
                        <a:t>they import a package `src/` that was never committed → nothing could run; figures not reproducible</a:t>
                      </a:r>
                    </a:p>
                  </a:txBody>
                  <a:tcPr marL="45720" marR="45720" marT="18288" marB="18288">
                    <a:solidFill>
                      <a:srgbClr val="FFFFFF"/>
                    </a:solidFill>
                  </a:tcPr>
                </a:tc>
                <a:tc>
                  <a:txBody>
                    <a:bodyPr wrap="square"/>
                    <a:lstStyle/>
                    <a:p>
                      <a:pPr algn="ctr"/>
                      <a:r>
                        <a:rPr sz="1100">
                          <a:solidFill>
                            <a:srgbClr val="1B1B1B"/>
                          </a:solidFill>
                          <a:latin typeface="Calibri"/>
                        </a:rPr>
                        <a:t>[new] `src/` rebuilt, 42 tests</a:t>
                      </a:r>
                    </a:p>
                  </a:txBody>
                  <a:tcPr marL="45720" marR="45720" marT="18288" marB="18288">
                    <a:solidFill>
                      <a:srgbClr val="FFFFFF"/>
                    </a:solidFill>
                  </a:tcPr>
                </a:tc>
              </a:tr>
              <a:tr h="491490">
                <a:tc>
                  <a:txBody>
                    <a:bodyPr wrap="square"/>
                    <a:lstStyle/>
                    <a:p>
                      <a:pPr algn="l"/>
                      <a:r>
                        <a:rPr sz="1100">
                          <a:solidFill>
                            <a:srgbClr val="1B1B1B"/>
                          </a:solidFill>
                          <a:latin typeface="Calibri"/>
                        </a:rPr>
                        <a:t>SVD baseline timing (Exp2)</a:t>
                      </a:r>
                    </a:p>
                  </a:txBody>
                  <a:tcPr marL="45720" marR="45720" marT="18288" marB="18288">
                    <a:solidFill>
                      <a:srgbClr val="F4F6F8"/>
                    </a:solidFill>
                  </a:tcPr>
                </a:tc>
                <a:tc>
                  <a:txBody>
                    <a:bodyPr wrap="square"/>
                    <a:lstStyle/>
                    <a:p>
                      <a:pPr algn="ctr"/>
                      <a:r>
                        <a:rPr sz="1100">
                          <a:solidFill>
                            <a:srgbClr val="1B1B1B"/>
                          </a:solidFill>
                          <a:latin typeface="Calibri"/>
                        </a:rPr>
                        <a:t>[repo] figure</a:t>
                      </a:r>
                    </a:p>
                  </a:txBody>
                  <a:tcPr marL="45720" marR="45720" marT="18288" marB="18288">
                    <a:solidFill>
                      <a:srgbClr val="F4F6F8"/>
                    </a:solidFill>
                  </a:tcPr>
                </a:tc>
                <a:tc>
                  <a:txBody>
                    <a:bodyPr wrap="square"/>
                    <a:lstStyle/>
                    <a:p>
                      <a:pPr algn="ctr"/>
                      <a:r>
                        <a:rPr sz="1100">
                          <a:solidFill>
                            <a:srgbClr val="1B1B1B"/>
                          </a:solidFill>
                          <a:latin typeface="Calibri"/>
                        </a:rPr>
                        <a:t>the full 1200×1200 SVD was timed (~1.7 s); the thin SVD takes 13 ms → 'speed-up vs SVD' was ~100x too high</a:t>
                      </a:r>
                    </a:p>
                  </a:txBody>
                  <a:tcPr marL="45720" marR="45720" marT="18288" marB="18288">
                    <a:solidFill>
                      <a:srgbClr val="F4F6F8"/>
                    </a:solidFill>
                  </a:tcPr>
                </a:tc>
                <a:tc>
                  <a:txBody>
                    <a:bodyPr wrap="square"/>
                    <a:lstStyle/>
                    <a:p>
                      <a:pPr algn="ctr"/>
                      <a:r>
                        <a:rPr sz="1100">
                          <a:solidFill>
                            <a:srgbClr val="1B1B1B"/>
                          </a:solidFill>
                          <a:latin typeface="Calibri"/>
                        </a:rPr>
                        <a:t>[fix] thin SVD</a:t>
                      </a:r>
                    </a:p>
                  </a:txBody>
                  <a:tcPr marL="45720" marR="45720" marT="18288" marB="18288">
                    <a:solidFill>
                      <a:srgbClr val="F4F6F8"/>
                    </a:solidFill>
                  </a:tcPr>
                </a:tc>
              </a:tr>
              <a:tr h="491490">
                <a:tc>
                  <a:txBody>
                    <a:bodyPr wrap="square"/>
                    <a:lstStyle/>
                    <a:p>
                      <a:pPr algn="l"/>
                      <a:r>
                        <a:rPr sz="1100">
                          <a:solidFill>
                            <a:srgbClr val="1B1B1B"/>
                          </a:solidFill>
                          <a:latin typeface="Calibri"/>
                        </a:rPr>
                        <a:t>Functional-split model (Exp3)</a:t>
                      </a:r>
                    </a:p>
                  </a:txBody>
                  <a:tcPr marL="45720" marR="45720" marT="18288" marB="18288">
                    <a:solidFill>
                      <a:srgbClr val="FFFFFF"/>
                    </a:solidFill>
                  </a:tcPr>
                </a:tc>
                <a:tc>
                  <a:txBody>
                    <a:bodyPr wrap="square"/>
                    <a:lstStyle/>
                    <a:p>
                      <a:pPr algn="ctr"/>
                      <a:r>
                        <a:rPr sz="1100">
                          <a:solidFill>
                            <a:srgbClr val="1B1B1B"/>
                          </a:solidFill>
                          <a:latin typeface="Calibri"/>
                        </a:rPr>
                        <a:t>[repo] figure</a:t>
                      </a:r>
                    </a:p>
                  </a:txBody>
                  <a:tcPr marL="45720" marR="45720" marT="18288" marB="18288">
                    <a:solidFill>
                      <a:srgbClr val="FFFFFF"/>
                    </a:solidFill>
                  </a:tcPr>
                </a:tc>
                <a:tc>
                  <a:txBody>
                    <a:bodyPr wrap="square"/>
                    <a:lstStyle/>
                    <a:p>
                      <a:pPr algn="ctr"/>
                      <a:r>
                        <a:rPr sz="1100">
                          <a:solidFill>
                            <a:srgbClr val="1B1B1B"/>
                          </a:solidFill>
                          <a:latin typeface="Calibri"/>
                        </a:rPr>
                        <a:t>split 6 treated as the most expensive; 3GPP says it is the cheapest. 'Fast rank' curve was exact rank + random ±1</a:t>
                      </a:r>
                    </a:p>
                  </a:txBody>
                  <a:tcPr marL="45720" marR="45720" marT="18288" marB="18288">
                    <a:solidFill>
                      <a:srgbClr val="FFFFFF"/>
                    </a:solidFill>
                  </a:tcPr>
                </a:tc>
                <a:tc>
                  <a:txBody>
                    <a:bodyPr wrap="square"/>
                    <a:lstStyle/>
                    <a:p>
                      <a:pPr algn="ctr"/>
                      <a:r>
                        <a:rPr sz="1100">
                          <a:solidFill>
                            <a:srgbClr val="1B1B1B"/>
                          </a:solidFill>
                          <a:latin typeface="Calibri"/>
                        </a:rPr>
                        <a:t>[fix] model + real estimator</a:t>
                      </a:r>
                    </a:p>
                  </a:txBody>
                  <a:tcPr marL="45720" marR="45720" marT="18288" marB="18288">
                    <a:solidFill>
                      <a:srgbClr val="FFFFFF"/>
                    </a:solidFill>
                  </a:tcPr>
                </a:tc>
              </a:tr>
              <a:tr h="491490">
                <a:tc>
                  <a:txBody>
                    <a:bodyPr wrap="square"/>
                    <a:lstStyle/>
                    <a:p>
                      <a:pPr algn="l"/>
                      <a:r>
                        <a:rPr sz="1100">
                          <a:solidFill>
                            <a:srgbClr val="1B1B1B"/>
                          </a:solidFill>
                          <a:latin typeface="Calibri"/>
                        </a:rPr>
                        <a:t>Error vs SNR (Exp4)</a:t>
                      </a:r>
                    </a:p>
                  </a:txBody>
                  <a:tcPr marL="45720" marR="45720" marT="18288" marB="18288">
                    <a:solidFill>
                      <a:srgbClr val="F4F6F8"/>
                    </a:solidFill>
                  </a:tcPr>
                </a:tc>
                <a:tc>
                  <a:txBody>
                    <a:bodyPr wrap="square"/>
                    <a:lstStyle/>
                    <a:p>
                      <a:pPr algn="ctr"/>
                      <a:r>
                        <a:rPr sz="1100">
                          <a:solidFill>
                            <a:srgbClr val="1B1B1B"/>
                          </a:solidFill>
                          <a:latin typeface="Calibri"/>
                        </a:rPr>
                        <a:t>[repo] figure</a:t>
                      </a:r>
                    </a:p>
                  </a:txBody>
                  <a:tcPr marL="45720" marR="45720" marT="18288" marB="18288">
                    <a:solidFill>
                      <a:srgbClr val="F4F6F8"/>
                    </a:solidFill>
                  </a:tcPr>
                </a:tc>
                <a:tc>
                  <a:txBody>
                    <a:bodyPr wrap="square"/>
                    <a:lstStyle/>
                    <a:p>
                      <a:pPr algn="ctr"/>
                      <a:r>
                        <a:rPr sz="1100">
                          <a:solidFill>
                            <a:srgbClr val="1B1B1B"/>
                          </a:solidFill>
                          <a:latin typeface="Calibri"/>
                        </a:rPr>
                        <a:t>error measured against the noisy matrix follows −SNR by construction; text called it 'stable'</a:t>
                      </a:r>
                    </a:p>
                  </a:txBody>
                  <a:tcPr marL="45720" marR="45720" marT="18288" marB="18288">
                    <a:solidFill>
                      <a:srgbClr val="F4F6F8"/>
                    </a:solidFill>
                  </a:tcPr>
                </a:tc>
                <a:tc>
                  <a:txBody>
                    <a:bodyPr wrap="square"/>
                    <a:lstStyle/>
                    <a:p>
                      <a:pPr algn="ctr"/>
                      <a:r>
                        <a:rPr sz="1100">
                          <a:solidFill>
                            <a:srgbClr val="1B1B1B"/>
                          </a:solidFill>
                          <a:latin typeface="Calibri"/>
                        </a:rPr>
                        <a:t>[fix] two references</a:t>
                      </a:r>
                    </a:p>
                  </a:txBody>
                  <a:tcPr marL="45720" marR="45720" marT="18288" marB="18288">
                    <a:solidFill>
                      <a:srgbClr val="F4F6F8"/>
                    </a:solidFill>
                  </a:tcPr>
                </a:tc>
              </a:tr>
              <a:tr h="491490">
                <a:tc>
                  <a:txBody>
                    <a:bodyPr wrap="square"/>
                    <a:lstStyle/>
                    <a:p>
                      <a:pPr algn="l"/>
                      <a:r>
                        <a:rPr sz="1100">
                          <a:solidFill>
                            <a:srgbClr val="1B1B1B"/>
                          </a:solidFill>
                          <a:latin typeface="Calibri"/>
                        </a:rPr>
                        <a:t>CSEE input</a:t>
                      </a:r>
                    </a:p>
                  </a:txBody>
                  <a:tcPr marL="45720" marR="45720" marT="18288" marB="18288">
                    <a:solidFill>
                      <a:srgbClr val="FFFFFF"/>
                    </a:solidFill>
                  </a:tcPr>
                </a:tc>
                <a:tc>
                  <a:txBody>
                    <a:bodyPr wrap="square"/>
                    <a:lstStyle/>
                    <a:p>
                      <a:pPr algn="ctr"/>
                      <a:r>
                        <a:rPr sz="1100">
                          <a:solidFill>
                            <a:srgbClr val="1B1B1B"/>
                          </a:solidFill>
                          <a:latin typeface="Calibri"/>
                        </a:rPr>
                        <a:t>[repo] docs</a:t>
                      </a:r>
                    </a:p>
                  </a:txBody>
                  <a:tcPr marL="45720" marR="45720" marT="18288" marB="18288">
                    <a:solidFill>
                      <a:srgbClr val="FFFFFF"/>
                    </a:solidFill>
                  </a:tcPr>
                </a:tc>
                <a:tc>
                  <a:txBody>
                    <a:bodyPr wrap="square"/>
                    <a:lstStyle/>
                    <a:p>
                      <a:pPr algn="ctr"/>
                      <a:r>
                        <a:rPr sz="1100">
                          <a:solidFill>
                            <a:srgbClr val="1B1B1B"/>
                          </a:solidFill>
                          <a:latin typeface="Calibri"/>
                        </a:rPr>
                        <a:t>tested only on unmodulated symbols; real data symbols destroy the delay sparsity</a:t>
                      </a:r>
                    </a:p>
                  </a:txBody>
                  <a:tcPr marL="45720" marR="45720" marT="18288" marB="18288">
                    <a:solidFill>
                      <a:srgbClr val="FFFFFF"/>
                    </a:solidFill>
                  </a:tcPr>
                </a:tc>
                <a:tc>
                  <a:txBody>
                    <a:bodyPr wrap="square"/>
                    <a:lstStyle/>
                    <a:p>
                      <a:pPr algn="ctr"/>
                      <a:r>
                        <a:rPr sz="1100">
                          <a:solidFill>
                            <a:srgbClr val="1B1B1B"/>
                          </a:solidFill>
                          <a:latin typeface="Calibri"/>
                        </a:rPr>
                        <a:t>[new] data vs reference symbols</a:t>
                      </a:r>
                    </a:p>
                  </a:txBody>
                  <a:tcPr marL="45720" marR="45720" marT="18288" marB="18288">
                    <a:solidFill>
                      <a:srgbClr val="FFFFFF"/>
                    </a:solidFill>
                  </a:tcPr>
                </a:tc>
              </a:tr>
              <a:tr h="491490">
                <a:tc>
                  <a:txBody>
                    <a:bodyPr wrap="square"/>
                    <a:lstStyle/>
                    <a:p>
                      <a:pPr algn="l"/>
                      <a:r>
                        <a:rPr sz="1100">
                          <a:solidFill>
                            <a:srgbClr val="1B1B1B"/>
                          </a:solidFill>
                          <a:latin typeface="Calibri"/>
                        </a:rPr>
                        <a:t>Sharing one link</a:t>
                      </a:r>
                    </a:p>
                  </a:txBody>
                  <a:tcPr marL="45720" marR="45720" marT="18288" marB="18288">
                    <a:solidFill>
                      <a:srgbClr val="F4F6F8"/>
                    </a:solidFill>
                  </a:tcPr>
                </a:tc>
                <a:tc>
                  <a:txBody>
                    <a:bodyPr wrap="square"/>
                    <a:lstStyle/>
                    <a:p>
                      <a:pPr algn="ctr"/>
                      <a:r>
                        <a:rPr sz="1100">
                          <a:solidFill>
                            <a:srgbClr val="1B1B1B"/>
                          </a:solidFill>
                          <a:latin typeface="Calibri"/>
                        </a:rPr>
                        <a:t>absent</a:t>
                      </a:r>
                    </a:p>
                  </a:txBody>
                  <a:tcPr marL="45720" marR="45720" marT="18288" marB="18288">
                    <a:solidFill>
                      <a:srgbClr val="F4F6F8"/>
                    </a:solidFill>
                  </a:tcPr>
                </a:tc>
                <a:tc>
                  <a:txBody>
                    <a:bodyPr wrap="square"/>
                    <a:lstStyle/>
                    <a:p>
                      <a:pPr algn="ctr"/>
                      <a:r>
                        <a:rPr sz="1100">
                          <a:solidFill>
                            <a:srgbClr val="1B1B1B"/>
                          </a:solidFill>
                          <a:latin typeface="Calibri"/>
                        </a:rPr>
                        <a:t>the actual 'load management' decision did not exist</a:t>
                      </a:r>
                    </a:p>
                  </a:txBody>
                  <a:tcPr marL="45720" marR="45720" marT="18288" marB="18288">
                    <a:solidFill>
                      <a:srgbClr val="F4F6F8"/>
                    </a:solidFill>
                  </a:tcPr>
                </a:tc>
                <a:tc>
                  <a:txBody>
                    <a:bodyPr wrap="square"/>
                    <a:lstStyle/>
                    <a:p>
                      <a:pPr algn="ctr"/>
                      <a:r>
                        <a:rPr sz="1100">
                          <a:solidFill>
                            <a:srgbClr val="1B1B1B"/>
                          </a:solidFill>
                          <a:latin typeface="Calibri"/>
                        </a:rPr>
                        <a:t>[new] allocator + Exp5</a:t>
                      </a:r>
                    </a:p>
                  </a:txBody>
                  <a:tcPr marL="45720" marR="45720" marT="18288" marB="18288">
                    <a:solidFill>
                      <a:srgbClr val="F4F6F8"/>
                    </a:solidFill>
                  </a:tcPr>
                </a:tc>
              </a:tr>
              <a:tr h="491490">
                <a:tc>
                  <a:txBody>
                    <a:bodyPr wrap="square"/>
                    <a:lstStyle/>
                    <a:p>
                      <a:pPr algn="l"/>
                      <a:r>
                        <a:rPr sz="1100">
                          <a:solidFill>
                            <a:srgbClr val="1B1B1B"/>
                          </a:solidFill>
                          <a:latin typeface="Calibri"/>
                        </a:rPr>
                        <a:t>Matrix-inversion benchmark</a:t>
                      </a:r>
                    </a:p>
                  </a:txBody>
                  <a:tcPr marL="45720" marR="45720" marT="18288" marB="18288">
                    <a:solidFill>
                      <a:srgbClr val="FFFFFF"/>
                    </a:solidFill>
                  </a:tcPr>
                </a:tc>
                <a:tc>
                  <a:txBody>
                    <a:bodyPr wrap="square"/>
                    <a:lstStyle/>
                    <a:p>
                      <a:pPr algn="ctr"/>
                      <a:r>
                        <a:rPr sz="1100">
                          <a:solidFill>
                            <a:srgbClr val="1B1B1B"/>
                          </a:solidFill>
                          <a:latin typeface="Calibri"/>
                        </a:rPr>
                        <a:t>[repo] complete</a:t>
                      </a:r>
                    </a:p>
                  </a:txBody>
                  <a:tcPr marL="45720" marR="45720" marT="18288" marB="18288">
                    <a:solidFill>
                      <a:srgbClr val="FFFFFF"/>
                    </a:solidFill>
                  </a:tcPr>
                </a:tc>
                <a:tc>
                  <a:txBody>
                    <a:bodyPr wrap="square"/>
                    <a:lstStyle/>
                    <a:p>
                      <a:pPr algn="ctr"/>
                      <a:r>
                        <a:rPr sz="1100">
                          <a:solidFill>
                            <a:srgbClr val="1B1B1B"/>
                          </a:solidFill>
                          <a:latin typeface="Calibri"/>
                        </a:rPr>
                        <a:t>NumPy engine used ReLU while the trained model uses GELU; docstring overstated results</a:t>
                      </a:r>
                    </a:p>
                  </a:txBody>
                  <a:tcPr marL="45720" marR="45720" marT="18288" marB="18288">
                    <a:solidFill>
                      <a:srgbClr val="FFFFFF"/>
                    </a:solidFill>
                  </a:tcPr>
                </a:tc>
                <a:tc>
                  <a:txBody>
                    <a:bodyPr wrap="square"/>
                    <a:lstStyle/>
                    <a:p>
                      <a:pPr algn="ctr"/>
                      <a:r>
                        <a:rPr sz="1100">
                          <a:solidFill>
                            <a:srgbClr val="1B1B1B"/>
                          </a:solidFill>
                          <a:latin typeface="Calibri"/>
                        </a:rPr>
                        <a:t>[fix] + re-run</a:t>
                      </a:r>
                    </a:p>
                  </a:txBody>
                  <a:tcPr marL="45720" marR="45720" marT="18288" marB="18288">
                    <a:solidFill>
                      <a:srgbClr val="FFFFFF"/>
                    </a:solidFill>
                  </a:tcPr>
                </a:tc>
              </a:tr>
            </a:tbl>
          </a:graphicData>
        </a:graphic>
      </p:graphicFrame>
      <p:sp>
        <p:nvSpPr>
          <p:cNvPr id="9" name="Rectangle 8"/>
          <p:cNvSpPr/>
          <p:nvPr/>
        </p:nvSpPr>
        <p:spPr>
          <a:xfrm>
            <a:off x="365760" y="5897880"/>
            <a:ext cx="11460175" cy="54864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142B45"/>
                </a:solidFill>
                <a:latin typeface="Calibri"/>
              </a:rPr>
              <a:t>Order of work: (1) make it run and make it correct, (2) fair baselines, (3) one new, well-tested piece — the allocator.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Research context and the gap this project addresses</a:t>
            </a:r>
          </a:p>
        </p:txBody>
      </p:sp>
      <p:sp>
        <p:nvSpPr>
          <p:cNvPr id="4" name="TextBox 3"/>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Checked sources only; full list with links in docs/research_review.md (search cutoff 17 Sep 2026)</a:t>
            </a:r>
          </a:p>
        </p:txBody>
      </p:sp>
      <p:sp>
        <p:nvSpPr>
          <p:cNvPr id="5" name="Rectangle 4"/>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Research context</a:t>
            </a:r>
          </a:p>
        </p:txBody>
      </p:sp>
      <p:sp>
        <p:nvSpPr>
          <p:cNvPr id="7" name="TextBox 6"/>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5</a:t>
            </a:r>
          </a:p>
        </p:txBody>
      </p:sp>
      <p:graphicFrame>
        <p:nvGraphicFramePr>
          <p:cNvPr id="8" name="Table 7"/>
          <p:cNvGraphicFramePr>
            <a:graphicFrameLocks noGrp="1"/>
          </p:cNvGraphicFramePr>
          <p:nvPr/>
        </p:nvGraphicFramePr>
        <p:xfrm>
          <a:off x="365760" y="1325880"/>
          <a:ext cx="11430000" cy="4206240"/>
        </p:xfrm>
        <a:graphic>
          <a:graphicData uri="http://schemas.openxmlformats.org/drawingml/2006/table">
            <a:tbl>
              <a:tblPr firstRow="1" bandRow="1">
                <a:tableStyleId>{5C22544A-7EE6-4342-B048-85BDC9FD1C3A}</a:tableStyleId>
              </a:tblPr>
              <a:tblGrid>
                <a:gridCol w="1645920"/>
                <a:gridCol w="2926080"/>
                <a:gridCol w="3291840"/>
                <a:gridCol w="3566160"/>
              </a:tblGrid>
              <a:tr h="525780">
                <a:tc>
                  <a:txBody>
                    <a:bodyPr wrap="square"/>
                    <a:lstStyle/>
                    <a:p>
                      <a:pPr algn="l"/>
                      <a:r>
                        <a:rPr sz="1000" b="1">
                          <a:solidFill>
                            <a:srgbClr val="FFFFFF"/>
                          </a:solidFill>
                          <a:latin typeface="Calibri"/>
                        </a:rPr>
                        <a:t>Direction</a:t>
                      </a:r>
                    </a:p>
                  </a:txBody>
                  <a:tcPr marL="45720" marR="45720" marT="18288" marB="18288">
                    <a:solidFill>
                      <a:srgbClr val="142B45"/>
                    </a:solidFill>
                  </a:tcPr>
                </a:tc>
                <a:tc>
                  <a:txBody>
                    <a:bodyPr wrap="square"/>
                    <a:lstStyle/>
                    <a:p>
                      <a:pPr algn="ctr"/>
                      <a:r>
                        <a:rPr sz="1000" b="1">
                          <a:solidFill>
                            <a:srgbClr val="FFFFFF"/>
                          </a:solidFill>
                          <a:latin typeface="Calibri"/>
                        </a:rPr>
                        <a:t>Representative work</a:t>
                      </a:r>
                    </a:p>
                  </a:txBody>
                  <a:tcPr marL="45720" marR="45720" marT="18288" marB="18288">
                    <a:solidFill>
                      <a:srgbClr val="142B45"/>
                    </a:solidFill>
                  </a:tcPr>
                </a:tc>
                <a:tc>
                  <a:txBody>
                    <a:bodyPr wrap="square"/>
                    <a:lstStyle/>
                    <a:p>
                      <a:pPr algn="ctr"/>
                      <a:r>
                        <a:rPr sz="1000" b="1">
                          <a:solidFill>
                            <a:srgbClr val="FFFFFF"/>
                          </a:solidFill>
                          <a:latin typeface="Calibri"/>
                        </a:rPr>
                        <a:t>What it assumes / measures</a:t>
                      </a:r>
                    </a:p>
                  </a:txBody>
                  <a:tcPr marL="45720" marR="45720" marT="18288" marB="18288">
                    <a:solidFill>
                      <a:srgbClr val="142B45"/>
                    </a:solidFill>
                  </a:tcPr>
                </a:tc>
                <a:tc>
                  <a:txBody>
                    <a:bodyPr wrap="square"/>
                    <a:lstStyle/>
                    <a:p>
                      <a:pPr algn="ctr"/>
                      <a:r>
                        <a:rPr sz="1000" b="1">
                          <a:solidFill>
                            <a:srgbClr val="FFFFFF"/>
                          </a:solidFill>
                          <a:latin typeface="Calibri"/>
                        </a:rPr>
                        <a:t>Relation to this project</a:t>
                      </a:r>
                    </a:p>
                  </a:txBody>
                  <a:tcPr marL="45720" marR="45720" marT="18288" marB="18288">
                    <a:solidFill>
                      <a:srgbClr val="142B45"/>
                    </a:solidFill>
                  </a:tcPr>
                </a:tc>
              </a:tr>
              <a:tr h="525780">
                <a:tc>
                  <a:txBody>
                    <a:bodyPr wrap="square"/>
                    <a:lstStyle/>
                    <a:p>
                      <a:pPr algn="l"/>
                      <a:r>
                        <a:rPr sz="1000">
                          <a:solidFill>
                            <a:srgbClr val="1B1B1B"/>
                          </a:solidFill>
                          <a:latin typeface="Calibri"/>
                        </a:rPr>
                        <a:t>Standardised I/Q compression</a:t>
                      </a:r>
                    </a:p>
                  </a:txBody>
                  <a:tcPr marL="45720" marR="45720" marT="18288" marB="18288">
                    <a:solidFill>
                      <a:srgbClr val="FFFFFF"/>
                    </a:solidFill>
                  </a:tcPr>
                </a:tc>
                <a:tc>
                  <a:txBody>
                    <a:bodyPr wrap="square"/>
                    <a:lstStyle/>
                    <a:p>
                      <a:pPr algn="ctr"/>
                      <a:r>
                        <a:rPr sz="1000">
                          <a:solidFill>
                            <a:srgbClr val="1B1B1B"/>
                          </a:solidFill>
                          <a:latin typeface="Calibri"/>
                        </a:rPr>
                        <a:t>O-RAN WG4 CUS Annex A [5]; Silva et al., JCIS 2022 [6]</a:t>
                      </a:r>
                    </a:p>
                  </a:txBody>
                  <a:tcPr marL="45720" marR="45720" marT="18288" marB="18288">
                    <a:solidFill>
                      <a:srgbClr val="FFFFFF"/>
                    </a:solidFill>
                  </a:tcPr>
                </a:tc>
                <a:tc>
                  <a:txBody>
                    <a:bodyPr wrap="square"/>
                    <a:lstStyle/>
                    <a:p>
                      <a:pPr algn="ctr"/>
                      <a:r>
                        <a:rPr sz="1000">
                          <a:solidFill>
                            <a:srgbClr val="1B1B1B"/>
                          </a:solidFill>
                          <a:latin typeface="Calibri"/>
                        </a:rPr>
                        <a:t>per-PRB BFP / block scaling / μ-law, 4-bit exponent; SQNR vs iqWidth, single RU</a:t>
                      </a:r>
                    </a:p>
                  </a:txBody>
                  <a:tcPr marL="45720" marR="45720" marT="18288" marB="18288">
                    <a:solidFill>
                      <a:srgbClr val="FFFFFF"/>
                    </a:solidFill>
                  </a:tcPr>
                </a:tc>
                <a:tc>
                  <a:txBody>
                    <a:bodyPr wrap="square"/>
                    <a:lstStyle/>
                    <a:p>
                      <a:pPr algn="ctr"/>
                      <a:r>
                        <a:rPr sz="1000">
                          <a:solidFill>
                            <a:srgbClr val="1B1B1B"/>
                          </a:solidFill>
                          <a:latin typeface="Calibri"/>
                        </a:rPr>
                        <a:t>our BFP baseline reproduces this bit accounting; their per-PRB method selection ≈ our per-RU menu, but no capacity constraint</a:t>
                      </a:r>
                    </a:p>
                  </a:txBody>
                  <a:tcPr marL="45720" marR="45720" marT="18288" marB="18288">
                    <a:solidFill>
                      <a:srgbClr val="FFFFFF"/>
                    </a:solidFill>
                  </a:tcPr>
                </a:tc>
              </a:tr>
              <a:tr h="525780">
                <a:tc>
                  <a:txBody>
                    <a:bodyPr wrap="square"/>
                    <a:lstStyle/>
                    <a:p>
                      <a:pPr algn="l"/>
                      <a:r>
                        <a:rPr sz="1000">
                          <a:solidFill>
                            <a:srgbClr val="1B1B1B"/>
                          </a:solidFill>
                          <a:latin typeface="Calibri"/>
                        </a:rPr>
                        <a:t>Fronthaul survey / functional splits</a:t>
                      </a:r>
                    </a:p>
                  </a:txBody>
                  <a:tcPr marL="45720" marR="45720" marT="18288" marB="18288">
                    <a:solidFill>
                      <a:srgbClr val="F4F6F8"/>
                    </a:solidFill>
                  </a:tcPr>
                </a:tc>
                <a:tc>
                  <a:txBody>
                    <a:bodyPr wrap="square"/>
                    <a:lstStyle/>
                    <a:p>
                      <a:pPr algn="ctr"/>
                      <a:r>
                        <a:rPr sz="1000">
                          <a:solidFill>
                            <a:srgbClr val="1B1B1B"/>
                          </a:solidFill>
                          <a:latin typeface="Calibri"/>
                        </a:rPr>
                        <a:t>Park et al., IEEE SPM 2014 [1]; Larsen et al., COMST 2019 [3]; 3GPP TR 38.801 Annex A [4]</a:t>
                      </a:r>
                    </a:p>
                  </a:txBody>
                  <a:tcPr marL="45720" marR="45720" marT="18288" marB="18288">
                    <a:solidFill>
                      <a:srgbClr val="F4F6F8"/>
                    </a:solidFill>
                  </a:tcPr>
                </a:tc>
                <a:tc>
                  <a:txBody>
                    <a:bodyPr wrap="square"/>
                    <a:lstStyle/>
                    <a:p>
                      <a:pPr algn="ctr"/>
                      <a:r>
                        <a:rPr sz="1000">
                          <a:solidFill>
                            <a:srgbClr val="1B1B1B"/>
                          </a:solidFill>
                          <a:latin typeface="Calibri"/>
                        </a:rPr>
                        <a:t>quantize-and-forward theory; UL bit-rate per split: Opt.6 ≈ 5.6 Gb/s ≪ Opt.7b 54–86 ≪ Opt.8 157 Gb/s</a:t>
                      </a:r>
                    </a:p>
                  </a:txBody>
                  <a:tcPr marL="45720" marR="45720" marT="18288" marB="18288">
                    <a:solidFill>
                      <a:srgbClr val="F4F6F8"/>
                    </a:solidFill>
                  </a:tcPr>
                </a:tc>
                <a:tc>
                  <a:txBody>
                    <a:bodyPr wrap="square"/>
                    <a:lstStyle/>
                    <a:p>
                      <a:pPr algn="ctr"/>
                      <a:r>
                        <a:rPr sz="1000">
                          <a:solidFill>
                            <a:srgbClr val="1B1B1B"/>
                          </a:solidFill>
                          <a:latin typeface="Calibri"/>
                        </a:rPr>
                        <a:t>source of the split-ordering correction in ACAFS; motivates rank-adaptive stream count</a:t>
                      </a:r>
                    </a:p>
                  </a:txBody>
                  <a:tcPr marL="45720" marR="45720" marT="18288" marB="18288">
                    <a:solidFill>
                      <a:srgbClr val="F4F6F8"/>
                    </a:solidFill>
                  </a:tcPr>
                </a:tc>
              </a:tr>
              <a:tr h="525780">
                <a:tc>
                  <a:txBody>
                    <a:bodyPr wrap="square"/>
                    <a:lstStyle/>
                    <a:p>
                      <a:pPr algn="l"/>
                      <a:r>
                        <a:rPr sz="1000">
                          <a:solidFill>
                            <a:srgbClr val="1B1B1B"/>
                          </a:solidFill>
                          <a:latin typeface="Calibri"/>
                        </a:rPr>
                        <a:t>Shared fronthaul, centralised control</a:t>
                      </a:r>
                    </a:p>
                  </a:txBody>
                  <a:tcPr marL="45720" marR="45720" marT="18288" marB="18288">
                    <a:solidFill>
                      <a:srgbClr val="FFFFFF"/>
                    </a:solidFill>
                  </a:tcPr>
                </a:tc>
                <a:tc>
                  <a:txBody>
                    <a:bodyPr wrap="square"/>
                    <a:lstStyle/>
                    <a:p>
                      <a:pPr algn="ctr"/>
                      <a:r>
                        <a:rPr sz="1000">
                          <a:solidFill>
                            <a:srgbClr val="1B1B1B"/>
                          </a:solidFill>
                          <a:latin typeface="Calibri"/>
                        </a:rPr>
                        <a:t>Lagén et al., IEEE ComMag 2021/2022 [7][9]; IEEE TMC 2023 [8]</a:t>
                      </a:r>
                    </a:p>
                  </a:txBody>
                  <a:tcPr marL="45720" marR="45720" marT="18288" marB="18288">
                    <a:solidFill>
                      <a:srgbClr val="FFFFFF"/>
                    </a:solidFill>
                  </a:tcPr>
                </a:tc>
                <a:tc>
                  <a:txBody>
                    <a:bodyPr wrap="square"/>
                    <a:lstStyle/>
                    <a:p>
                      <a:pPr algn="ctr"/>
                      <a:r>
                        <a:rPr sz="1000">
                          <a:solidFill>
                            <a:srgbClr val="1B1B1B"/>
                          </a:solidFill>
                          <a:latin typeface="Calibri"/>
                        </a:rPr>
                        <a:t>several cells on one FH link; DL modulation compression + MAC scheduling; ns-3 throughput</a:t>
                      </a:r>
                    </a:p>
                  </a:txBody>
                  <a:tcPr marL="45720" marR="45720" marT="18288" marB="18288">
                    <a:solidFill>
                      <a:srgbClr val="FFFFFF"/>
                    </a:solidFill>
                  </a:tcPr>
                </a:tc>
                <a:tc>
                  <a:txBody>
                    <a:bodyPr wrap="square"/>
                    <a:lstStyle/>
                    <a:p>
                      <a:pPr algn="ctr"/>
                      <a:r>
                        <a:rPr sz="1000">
                          <a:solidFill>
                            <a:srgbClr val="1B1B1B"/>
                          </a:solidFill>
                          <a:latin typeface="Calibri"/>
                        </a:rPr>
                        <a:t>template for Exp5 (per-cell operating point, common capacity); ours is UL I/Q with NMSE, no MAC</a:t>
                      </a:r>
                    </a:p>
                  </a:txBody>
                  <a:tcPr marL="45720" marR="45720" marT="18288" marB="18288">
                    <a:solidFill>
                      <a:srgbClr val="FFFFFF"/>
                    </a:solidFill>
                  </a:tcPr>
                </a:tc>
              </a:tr>
              <a:tr h="525780">
                <a:tc>
                  <a:txBody>
                    <a:bodyPr wrap="square"/>
                    <a:lstStyle/>
                    <a:p>
                      <a:pPr algn="l"/>
                      <a:r>
                        <a:rPr sz="1000">
                          <a:solidFill>
                            <a:srgbClr val="1B1B1B"/>
                          </a:solidFill>
                          <a:latin typeface="Calibri"/>
                        </a:rPr>
                        <a:t>Structured compression of channel / received matrices</a:t>
                      </a:r>
                    </a:p>
                  </a:txBody>
                  <a:tcPr marL="45720" marR="45720" marT="18288" marB="18288">
                    <a:solidFill>
                      <a:srgbClr val="F4F6F8"/>
                    </a:solidFill>
                  </a:tcPr>
                </a:tc>
                <a:tc>
                  <a:txBody>
                    <a:bodyPr wrap="square"/>
                    <a:lstStyle/>
                    <a:p>
                      <a:pPr algn="ctr"/>
                      <a:r>
                        <a:rPr sz="1000">
                          <a:solidFill>
                            <a:srgbClr val="1B1B1B"/>
                          </a:solidFill>
                          <a:latin typeface="Calibri"/>
                        </a:rPr>
                        <a:t>Wen et al., WCL 2018 (CsiNet) [15]; Qiao–Jiang–Yu, ICC 2023 / TWC 2024 [13][14]; Rahmani et al., arXiv 2025 [10]</a:t>
                      </a:r>
                    </a:p>
                  </a:txBody>
                  <a:tcPr marL="45720" marR="45720" marT="18288" marB="18288">
                    <a:solidFill>
                      <a:srgbClr val="F4F6F8"/>
                    </a:solidFill>
                  </a:tcPr>
                </a:tc>
                <a:tc>
                  <a:txBody>
                    <a:bodyPr wrap="square"/>
                    <a:lstStyle/>
                    <a:p>
                      <a:pPr algn="ctr"/>
                      <a:r>
                        <a:rPr sz="1000">
                          <a:solidFill>
                            <a:srgbClr val="1B1B1B"/>
                          </a:solidFill>
                          <a:latin typeface="Calibri"/>
                        </a:rPr>
                        <a:t>delay-domain sparsity of H; learned dimension-reduction matrices from local CSI; O-RAN BFP under TDL, BLER</a:t>
                      </a:r>
                    </a:p>
                  </a:txBody>
                  <a:tcPr marL="45720" marR="45720" marT="18288" marB="18288">
                    <a:solidFill>
                      <a:srgbClr val="F4F6F8"/>
                    </a:solidFill>
                  </a:tcPr>
                </a:tc>
                <a:tc>
                  <a:txBody>
                    <a:bodyPr wrap="square"/>
                    <a:lstStyle/>
                    <a:p>
                      <a:pPr algn="ctr"/>
                      <a:r>
                        <a:rPr sz="1000">
                          <a:solidFill>
                            <a:srgbClr val="1B1B1B"/>
                          </a:solidFill>
                          <a:latin typeface="Calibri"/>
                        </a:rPr>
                        <a:t>explains why CSEE works only on reference symbols; low-rank sketch = our RAS-BFP; BLER is the metric we still lack</a:t>
                      </a:r>
                    </a:p>
                  </a:txBody>
                  <a:tcPr marL="45720" marR="45720" marT="18288" marB="18288">
                    <a:solidFill>
                      <a:srgbClr val="F4F6F8"/>
                    </a:solidFill>
                  </a:tcPr>
                </a:tc>
              </a:tr>
              <a:tr h="525780">
                <a:tc>
                  <a:txBody>
                    <a:bodyPr wrap="square"/>
                    <a:lstStyle/>
                    <a:p>
                      <a:pPr algn="l"/>
                      <a:r>
                        <a:rPr sz="1000">
                          <a:solidFill>
                            <a:srgbClr val="1B1B1B"/>
                          </a:solidFill>
                          <a:latin typeface="Calibri"/>
                        </a:rPr>
                        <a:t>Closest single-link prior art</a:t>
                      </a:r>
                    </a:p>
                  </a:txBody>
                  <a:tcPr marL="45720" marR="45720" marT="18288" marB="18288">
                    <a:solidFill>
                      <a:srgbClr val="FFFFFF"/>
                    </a:solidFill>
                  </a:tcPr>
                </a:tc>
                <a:tc>
                  <a:txBody>
                    <a:bodyPr wrap="square"/>
                    <a:lstStyle/>
                    <a:p>
                      <a:pPr algn="ctr"/>
                      <a:r>
                        <a:rPr sz="1000">
                          <a:solidFill>
                            <a:srgbClr val="1B1B1B"/>
                          </a:solidFill>
                          <a:latin typeface="Calibri"/>
                        </a:rPr>
                        <a:t>Aswathylakshmi–Ganti, WCNC 2022 [22]; Li et al., IEEE Access 2019 [24]; Kanno et al., VTC 2023 [25]</a:t>
                      </a:r>
                    </a:p>
                  </a:txBody>
                  <a:tcPr marL="45720" marR="45720" marT="18288" marB="18288">
                    <a:solidFill>
                      <a:srgbClr val="FFFFFF"/>
                    </a:solidFill>
                  </a:tcPr>
                </a:tc>
                <a:tc>
                  <a:txBody>
                    <a:bodyPr wrap="square"/>
                    <a:lstStyle/>
                    <a:p>
                      <a:pPr algn="ctr"/>
                      <a:r>
                        <a:rPr sz="1000">
                          <a:solidFill>
                            <a:srgbClr val="1B1B1B"/>
                          </a:solidFill>
                          <a:latin typeface="Calibri"/>
                        </a:rPr>
                        <a:t>64-ant. TDL-A delay-domain low rank via blind deconvolution; bit-width vs load/SINR on one eCPRI link; SVD streams + bits per stream at one AP</a:t>
                      </a:r>
                    </a:p>
                  </a:txBody>
                  <a:tcPr marL="45720" marR="45720" marT="18288" marB="18288">
                    <a:solidFill>
                      <a:srgbClr val="FFFFFF"/>
                    </a:solidFill>
                  </a:tcPr>
                </a:tc>
                <a:tc>
                  <a:txBody>
                    <a:bodyPr wrap="square"/>
                    <a:lstStyle/>
                    <a:p>
                      <a:pPr algn="ctr"/>
                      <a:r>
                        <a:rPr sz="1000">
                          <a:solidFill>
                            <a:srgbClr val="1B1B1B"/>
                          </a:solidFill>
                          <a:latin typeface="Calibri"/>
                        </a:rPr>
                        <a:t>CSEE's structure, but data symbols removed first — hence CSEE needs reference symbols; allocator extends [24][25] to many RUs</a:t>
                      </a:r>
                    </a:p>
                  </a:txBody>
                  <a:tcPr marL="45720" marR="45720" marT="18288" marB="18288">
                    <a:solidFill>
                      <a:srgbClr val="FFFFFF"/>
                    </a:solidFill>
                  </a:tcPr>
                </a:tc>
              </a:tr>
              <a:tr h="525780">
                <a:tc>
                  <a:txBody>
                    <a:bodyPr wrap="square"/>
                    <a:lstStyle/>
                    <a:p>
                      <a:pPr algn="l"/>
                      <a:r>
                        <a:rPr sz="1000">
                          <a:solidFill>
                            <a:srgbClr val="1B1B1B"/>
                          </a:solidFill>
                          <a:latin typeface="Calibri"/>
                        </a:rPr>
                        <a:t>Learning-based split orchestration</a:t>
                      </a:r>
                    </a:p>
                  </a:txBody>
                  <a:tcPr marL="45720" marR="45720" marT="18288" marB="18288">
                    <a:solidFill>
                      <a:srgbClr val="F4F6F8"/>
                    </a:solidFill>
                  </a:tcPr>
                </a:tc>
                <a:tc>
                  <a:txBody>
                    <a:bodyPr wrap="square"/>
                    <a:lstStyle/>
                    <a:p>
                      <a:pPr algn="ctr"/>
                      <a:r>
                        <a:rPr sz="1000">
                          <a:solidFill>
                            <a:srgbClr val="1B1B1B"/>
                          </a:solidFill>
                          <a:latin typeface="Calibri"/>
                        </a:rPr>
                        <a:t>Murti et al., EuCNC 2022 [16]; IEEE TNSM 2024 [17]</a:t>
                      </a:r>
                    </a:p>
                  </a:txBody>
                  <a:tcPr marL="45720" marR="45720" marT="18288" marB="18288">
                    <a:solidFill>
                      <a:srgbClr val="F4F6F8"/>
                    </a:solidFill>
                  </a:tcPr>
                </a:tc>
                <a:tc>
                  <a:txBody>
                    <a:bodyPr wrap="square"/>
                    <a:lstStyle/>
                    <a:p>
                      <a:pPr algn="ctr"/>
                      <a:r>
                        <a:rPr sz="1000">
                          <a:solidFill>
                            <a:srgbClr val="1B1B1B"/>
                          </a:solidFill>
                          <a:latin typeface="Calibri"/>
                        </a:rPr>
                        <a:t>DQN / D3QN over minutes-scale demand traces; cost model from testbed; up to 59–69 % cost saving vs static</a:t>
                      </a:r>
                    </a:p>
                  </a:txBody>
                  <a:tcPr marL="45720" marR="45720" marT="18288" marB="18288">
                    <a:solidFill>
                      <a:srgbClr val="F4F6F8"/>
                    </a:solidFill>
                  </a:tcPr>
                </a:tc>
                <a:tc>
                  <a:txBody>
                    <a:bodyPr wrap="square"/>
                    <a:lstStyle/>
                    <a:p>
                      <a:pPr algn="ctr"/>
                      <a:r>
                        <a:rPr sz="1000">
                          <a:solidFill>
                            <a:srgbClr val="1B1B1B"/>
                          </a:solidFill>
                          <a:latin typeface="Calibri"/>
                        </a:rPr>
                        <a:t>justifies adaptive split as a topic; RL not warranted here because our rate model is closed-form per symbol</a:t>
                      </a:r>
                    </a:p>
                  </a:txBody>
                  <a:tcPr marL="45720" marR="45720" marT="18288" marB="18288">
                    <a:solidFill>
                      <a:srgbClr val="F4F6F8"/>
                    </a:solidFill>
                  </a:tcPr>
                </a:tc>
              </a:tr>
              <a:tr h="525780">
                <a:tc>
                  <a:txBody>
                    <a:bodyPr wrap="square"/>
                    <a:lstStyle/>
                    <a:p>
                      <a:pPr algn="l"/>
                      <a:r>
                        <a:rPr sz="1000">
                          <a:solidFill>
                            <a:srgbClr val="1B1B1B"/>
                          </a:solidFill>
                          <a:latin typeface="Calibri"/>
                        </a:rPr>
                        <a:t>Numerical foundations</a:t>
                      </a:r>
                    </a:p>
                  </a:txBody>
                  <a:tcPr marL="45720" marR="45720" marT="18288" marB="18288">
                    <a:solidFill>
                      <a:srgbClr val="FFFFFF"/>
                    </a:solidFill>
                  </a:tcPr>
                </a:tc>
                <a:tc>
                  <a:txBody>
                    <a:bodyPr wrap="square"/>
                    <a:lstStyle/>
                    <a:p>
                      <a:pPr algn="ctr"/>
                      <a:r>
                        <a:rPr sz="1000">
                          <a:solidFill>
                            <a:srgbClr val="1B1B1B"/>
                          </a:solidFill>
                          <a:latin typeface="Calibri"/>
                        </a:rPr>
                        <a:t>Halko–Martinsson–Tropp, SIAM Rev. 2011 [19]; Tropp 2011 [20]; Shoham–Gersho 1988 [21]</a:t>
                      </a:r>
                    </a:p>
                  </a:txBody>
                  <a:tcPr marL="45720" marR="45720" marT="18288" marB="18288">
                    <a:solidFill>
                      <a:srgbClr val="FFFFFF"/>
                    </a:solidFill>
                  </a:tcPr>
                </a:tc>
                <a:tc>
                  <a:txBody>
                    <a:bodyPr wrap="square"/>
                    <a:lstStyle/>
                    <a:p>
                      <a:pPr algn="ctr"/>
                      <a:r>
                        <a:rPr sz="1000">
                          <a:solidFill>
                            <a:srgbClr val="1B1B1B"/>
                          </a:solidFill>
                          <a:latin typeface="Calibri"/>
                        </a:rPr>
                        <a:t>randomised range finder + Frobenius bound; SRHT subspace embedding; λ-sweep / convex-hull bit allocation</a:t>
                      </a:r>
                    </a:p>
                  </a:txBody>
                  <a:tcPr marL="45720" marR="45720" marT="18288" marB="18288">
                    <a:solidFill>
                      <a:srgbClr val="FFFFFF"/>
                    </a:solidFill>
                  </a:tcPr>
                </a:tc>
                <a:tc>
                  <a:txBody>
                    <a:bodyPr wrap="square"/>
                    <a:lstStyle/>
                    <a:p>
                      <a:pPr algn="ctr"/>
                      <a:r>
                        <a:rPr sz="1000">
                          <a:solidFill>
                            <a:srgbClr val="1B1B1B"/>
                          </a:solidFill>
                          <a:latin typeface="Calibri"/>
                        </a:rPr>
                        <a:t>RAS-BFP algorithm and Thm-2 bound; allocator = Shoham–Gersho on RU menus (no algorithmic novelty claimed)</a:t>
                      </a:r>
                    </a:p>
                  </a:txBody>
                  <a:tcPr marL="45720" marR="45720" marT="18288" marB="18288">
                    <a:solidFill>
                      <a:srgbClr val="FFFFFF"/>
                    </a:solidFill>
                  </a:tcPr>
                </a:tc>
              </a:tr>
            </a:tbl>
          </a:graphicData>
        </a:graphic>
      </p:graphicFrame>
      <p:sp>
        <p:nvSpPr>
          <p:cNvPr id="9" name="Rectangle 8"/>
          <p:cNvSpPr/>
          <p:nvPr/>
        </p:nvSpPr>
        <p:spPr>
          <a:xfrm>
            <a:off x="365760" y="5897880"/>
            <a:ext cx="11460175" cy="54864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142B45"/>
                </a:solidFill>
                <a:latin typeface="Calibri"/>
              </a:rPr>
              <a:t>Gap addressed: prior art adapts bits or streams on one link [22][24][25]; here a closed-form per-symbol predictor drives allocation across RUs sharing one link, with a metric separating signal loss from removed noise.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System model</a:t>
            </a:r>
          </a:p>
        </p:txBody>
      </p:sp>
      <p:sp>
        <p:nvSpPr>
          <p:cNvPr id="4" name="Rectangle 3"/>
          <p:cNvSpPr/>
          <p:nvPr/>
        </p:nvSpPr>
        <p:spPr>
          <a:xfrm>
            <a:off x="10332720" y="246888"/>
            <a:ext cx="1554480" cy="384048"/>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[new]</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3GPP TR 38.901 TDL-A uplink channel, one OFDM symbol per RU</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Technical approach</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6</a:t>
            </a:r>
          </a:p>
        </p:txBody>
      </p:sp>
      <p:sp>
        <p:nvSpPr>
          <p:cNvPr id="10" name="Rectangle 9"/>
          <p:cNvSpPr/>
          <p:nvPr/>
        </p:nvSpPr>
        <p:spPr>
          <a:xfrm>
            <a:off x="457200" y="1463040"/>
            <a:ext cx="2011680" cy="68580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63040"/>
            <a:ext cx="2011680" cy="685800"/>
          </a:xfrm>
          <a:prstGeom prst="rect">
            <a:avLst/>
          </a:prstGeom>
          <a:noFill/>
        </p:spPr>
        <p:txBody>
          <a:bodyPr wrap="square" anchor="ctr" lIns="73152" rIns="73152" tIns="36576" bIns="36576">
            <a:spAutoFit/>
          </a:bodyPr>
          <a:lstStyle/>
          <a:p>
            <a:pPr algn="ctr">
              <a:lnSpc>
                <a:spcPct val="105000"/>
              </a:lnSpc>
              <a:spcAft>
                <a:spcPts val="400"/>
              </a:spcAft>
            </a:pPr>
            <a:r>
              <a:rPr sz="1200" b="1">
                <a:solidFill>
                  <a:srgbClr val="1B1B1B"/>
                </a:solidFill>
                <a:latin typeface="Calibri"/>
              </a:rPr>
              <a:t>RU 1  (SNR 0 dB)</a:t>
            </a:r>
          </a:p>
          <a:p>
            <a:pPr algn="ctr">
              <a:lnSpc>
                <a:spcPct val="105000"/>
              </a:lnSpc>
              <a:spcAft>
                <a:spcPts val="400"/>
              </a:spcAft>
            </a:pPr>
            <a:r>
              <a:rPr sz="1100" b="0">
                <a:solidFill>
                  <a:srgbClr val="5D6D7E"/>
                </a:solidFill>
                <a:latin typeface="Calibri"/>
              </a:rPr>
              <a:t>matrix Y_k → encoder</a:t>
            </a:r>
          </a:p>
        </p:txBody>
      </p:sp>
      <p:sp>
        <p:nvSpPr>
          <p:cNvPr id="12" name="Right Arrow 11"/>
          <p:cNvSpPr/>
          <p:nvPr/>
        </p:nvSpPr>
        <p:spPr>
          <a:xfrm>
            <a:off x="2514600" y="1664208"/>
            <a:ext cx="822960" cy="274320"/>
          </a:xfrm>
          <a:prstGeom prst="rightArrow">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31720"/>
            <a:ext cx="2011680" cy="68580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31720"/>
            <a:ext cx="2011680" cy="685800"/>
          </a:xfrm>
          <a:prstGeom prst="rect">
            <a:avLst/>
          </a:prstGeom>
          <a:noFill/>
        </p:spPr>
        <p:txBody>
          <a:bodyPr wrap="square" anchor="ctr" lIns="73152" rIns="73152" tIns="36576" bIns="36576">
            <a:spAutoFit/>
          </a:bodyPr>
          <a:lstStyle/>
          <a:p>
            <a:pPr algn="ctr">
              <a:lnSpc>
                <a:spcPct val="105000"/>
              </a:lnSpc>
              <a:spcAft>
                <a:spcPts val="400"/>
              </a:spcAft>
            </a:pPr>
            <a:r>
              <a:rPr sz="1200" b="1">
                <a:solidFill>
                  <a:srgbClr val="1B1B1B"/>
                </a:solidFill>
                <a:latin typeface="Calibri"/>
              </a:rPr>
              <a:t>RU 2  (SNR 10 dB)</a:t>
            </a:r>
          </a:p>
          <a:p>
            <a:pPr algn="ctr">
              <a:lnSpc>
                <a:spcPct val="105000"/>
              </a:lnSpc>
              <a:spcAft>
                <a:spcPts val="400"/>
              </a:spcAft>
            </a:pPr>
            <a:r>
              <a:rPr sz="1100" b="0">
                <a:solidFill>
                  <a:srgbClr val="5D6D7E"/>
                </a:solidFill>
                <a:latin typeface="Calibri"/>
              </a:rPr>
              <a:t>matrix Y_k → encoder</a:t>
            </a:r>
          </a:p>
        </p:txBody>
      </p:sp>
      <p:sp>
        <p:nvSpPr>
          <p:cNvPr id="15" name="Right Arrow 14"/>
          <p:cNvSpPr/>
          <p:nvPr/>
        </p:nvSpPr>
        <p:spPr>
          <a:xfrm>
            <a:off x="2514600" y="2532888"/>
            <a:ext cx="822960" cy="274320"/>
          </a:xfrm>
          <a:prstGeom prst="rightArrow">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200400"/>
            <a:ext cx="2011680" cy="68580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200400"/>
            <a:ext cx="2011680" cy="685800"/>
          </a:xfrm>
          <a:prstGeom prst="rect">
            <a:avLst/>
          </a:prstGeom>
          <a:noFill/>
        </p:spPr>
        <p:txBody>
          <a:bodyPr wrap="square" anchor="ctr" lIns="73152" rIns="73152" tIns="36576" bIns="36576">
            <a:spAutoFit/>
          </a:bodyPr>
          <a:lstStyle/>
          <a:p>
            <a:pPr algn="ctr">
              <a:lnSpc>
                <a:spcPct val="105000"/>
              </a:lnSpc>
              <a:spcAft>
                <a:spcPts val="400"/>
              </a:spcAft>
            </a:pPr>
            <a:r>
              <a:rPr sz="1200" b="1">
                <a:solidFill>
                  <a:srgbClr val="1B1B1B"/>
                </a:solidFill>
                <a:latin typeface="Calibri"/>
              </a:rPr>
              <a:t>RU 3  (SNR 20 dB)</a:t>
            </a:r>
          </a:p>
          <a:p>
            <a:pPr algn="ctr">
              <a:lnSpc>
                <a:spcPct val="105000"/>
              </a:lnSpc>
              <a:spcAft>
                <a:spcPts val="400"/>
              </a:spcAft>
            </a:pPr>
            <a:r>
              <a:rPr sz="1100" b="0">
                <a:solidFill>
                  <a:srgbClr val="5D6D7E"/>
                </a:solidFill>
                <a:latin typeface="Calibri"/>
              </a:rPr>
              <a:t>matrix Y_k → encoder</a:t>
            </a:r>
          </a:p>
        </p:txBody>
      </p:sp>
      <p:sp>
        <p:nvSpPr>
          <p:cNvPr id="18" name="Right Arrow 17"/>
          <p:cNvSpPr/>
          <p:nvPr/>
        </p:nvSpPr>
        <p:spPr>
          <a:xfrm>
            <a:off x="2514600" y="3401568"/>
            <a:ext cx="822960" cy="274320"/>
          </a:xfrm>
          <a:prstGeom prst="rightArrow">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069080"/>
            <a:ext cx="2011680" cy="68580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069080"/>
            <a:ext cx="2011680" cy="685800"/>
          </a:xfrm>
          <a:prstGeom prst="rect">
            <a:avLst/>
          </a:prstGeom>
          <a:noFill/>
        </p:spPr>
        <p:txBody>
          <a:bodyPr wrap="square" anchor="ctr" lIns="73152" rIns="73152" tIns="36576" bIns="36576">
            <a:spAutoFit/>
          </a:bodyPr>
          <a:lstStyle/>
          <a:p>
            <a:pPr algn="ctr">
              <a:lnSpc>
                <a:spcPct val="105000"/>
              </a:lnSpc>
              <a:spcAft>
                <a:spcPts val="400"/>
              </a:spcAft>
            </a:pPr>
            <a:r>
              <a:rPr sz="1200" b="1">
                <a:solidFill>
                  <a:srgbClr val="1B1B1B"/>
                </a:solidFill>
                <a:latin typeface="Calibri"/>
              </a:rPr>
              <a:t>RU 4  (SNR 30 dB)</a:t>
            </a:r>
          </a:p>
          <a:p>
            <a:pPr algn="ctr">
              <a:lnSpc>
                <a:spcPct val="105000"/>
              </a:lnSpc>
              <a:spcAft>
                <a:spcPts val="400"/>
              </a:spcAft>
            </a:pPr>
            <a:r>
              <a:rPr sz="1100" b="0">
                <a:solidFill>
                  <a:srgbClr val="5D6D7E"/>
                </a:solidFill>
                <a:latin typeface="Calibri"/>
              </a:rPr>
              <a:t>matrix Y_k → encoder</a:t>
            </a:r>
          </a:p>
        </p:txBody>
      </p:sp>
      <p:sp>
        <p:nvSpPr>
          <p:cNvPr id="21" name="Right Arrow 20"/>
          <p:cNvSpPr/>
          <p:nvPr/>
        </p:nvSpPr>
        <p:spPr>
          <a:xfrm>
            <a:off x="2514600" y="4270248"/>
            <a:ext cx="822960" cy="274320"/>
          </a:xfrm>
          <a:prstGeom prst="rightArrow">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68880" y="4983480"/>
            <a:ext cx="1005840" cy="274320"/>
          </a:xfrm>
          <a:prstGeom prst="rect">
            <a:avLst/>
          </a:prstGeom>
          <a:noFill/>
        </p:spPr>
        <p:txBody>
          <a:bodyPr wrap="square" anchor="t" lIns="73152" rIns="73152" tIns="36576" bIns="36576">
            <a:spAutoFit/>
          </a:bodyPr>
          <a:lstStyle/>
          <a:p>
            <a:pPr algn="ctr">
              <a:lnSpc>
                <a:spcPct val="105000"/>
              </a:lnSpc>
              <a:spcAft>
                <a:spcPts val="400"/>
              </a:spcAft>
            </a:pPr>
            <a:r>
              <a:rPr sz="1000" b="0">
                <a:solidFill>
                  <a:srgbClr val="5D6D7E"/>
                </a:solidFill>
                <a:latin typeface="Calibri"/>
              </a:rPr>
              <a:t>rate R_k</a:t>
            </a:r>
          </a:p>
        </p:txBody>
      </p:sp>
      <p:sp>
        <p:nvSpPr>
          <p:cNvPr id="23" name="Rectangle 22"/>
          <p:cNvSpPr/>
          <p:nvPr/>
        </p:nvSpPr>
        <p:spPr>
          <a:xfrm>
            <a:off x="3429000" y="1463040"/>
            <a:ext cx="914400" cy="3246120"/>
          </a:xfrm>
          <a:prstGeom prst="rect">
            <a:avLst/>
          </a:prstGeom>
          <a:solidFill>
            <a:srgbClr val="FADBD8"/>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29000" y="1463040"/>
            <a:ext cx="914400" cy="3246120"/>
          </a:xfrm>
          <a:prstGeom prst="rect">
            <a:avLst/>
          </a:prstGeom>
          <a:noFill/>
        </p:spPr>
        <p:txBody>
          <a:bodyPr wrap="square" anchor="ctr" lIns="73152" rIns="73152" tIns="36576" bIns="36576">
            <a:spAutoFit/>
          </a:bodyPr>
          <a:lstStyle/>
          <a:p>
            <a:pPr algn="ctr">
              <a:lnSpc>
                <a:spcPct val="105000"/>
              </a:lnSpc>
              <a:spcAft>
                <a:spcPts val="400"/>
              </a:spcAft>
            </a:pPr>
            <a:r>
              <a:rPr sz="1200" b="1">
                <a:solidFill>
                  <a:srgbClr val="C0392B"/>
                </a:solidFill>
                <a:latin typeface="Calibri"/>
              </a:rPr>
              <a:t>shared</a:t>
            </a:r>
          </a:p>
          <a:p>
            <a:pPr algn="ctr">
              <a:lnSpc>
                <a:spcPct val="105000"/>
              </a:lnSpc>
              <a:spcAft>
                <a:spcPts val="400"/>
              </a:spcAft>
            </a:pPr>
            <a:r>
              <a:rPr sz="1200" b="1">
                <a:solidFill>
                  <a:srgbClr val="C0392B"/>
                </a:solidFill>
                <a:latin typeface="Calibri"/>
              </a:rPr>
              <a:t>link</a:t>
            </a:r>
          </a:p>
          <a:p>
            <a:pPr algn="ctr">
              <a:lnSpc>
                <a:spcPct val="105000"/>
              </a:lnSpc>
              <a:spcAft>
                <a:spcPts val="400"/>
              </a:spcAft>
            </a:pPr>
            <a:r>
              <a:rPr sz="1300" b="1">
                <a:solidFill>
                  <a:srgbClr val="1B1B1B"/>
                </a:solidFill>
                <a:latin typeface="Calibri"/>
              </a:rPr>
              <a:t>Σ R_k ≤ C</a:t>
            </a:r>
          </a:p>
        </p:txBody>
      </p:sp>
      <p:sp>
        <p:nvSpPr>
          <p:cNvPr id="25" name="Right Arrow 24"/>
          <p:cNvSpPr/>
          <p:nvPr/>
        </p:nvSpPr>
        <p:spPr>
          <a:xfrm>
            <a:off x="4389120" y="2926080"/>
            <a:ext cx="640080" cy="320040"/>
          </a:xfrm>
          <a:prstGeom prst="rightArrow">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74920" y="1463040"/>
            <a:ext cx="1737360" cy="324612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74920" y="1463040"/>
            <a:ext cx="1737360" cy="3246120"/>
          </a:xfrm>
          <a:prstGeom prst="rect">
            <a:avLst/>
          </a:prstGeom>
          <a:noFill/>
        </p:spPr>
        <p:txBody>
          <a:bodyPr wrap="square" anchor="ctr" lIns="73152" rIns="73152" tIns="36576" bIns="36576">
            <a:spAutoFit/>
          </a:bodyPr>
          <a:lstStyle/>
          <a:p>
            <a:pPr algn="ctr">
              <a:lnSpc>
                <a:spcPct val="105000"/>
              </a:lnSpc>
              <a:spcAft>
                <a:spcPts val="400"/>
              </a:spcAft>
            </a:pPr>
            <a:r>
              <a:rPr sz="1400" b="1">
                <a:solidFill>
                  <a:srgbClr val="1B1B1B"/>
                </a:solidFill>
                <a:latin typeface="Calibri"/>
              </a:rPr>
              <a:t>DU</a:t>
            </a:r>
          </a:p>
          <a:p>
            <a:pPr algn="ctr">
              <a:lnSpc>
                <a:spcPct val="105000"/>
              </a:lnSpc>
              <a:spcAft>
                <a:spcPts val="400"/>
              </a:spcAft>
            </a:pPr>
            <a:r>
              <a:rPr sz="1200" b="0">
                <a:solidFill>
                  <a:srgbClr val="1B1B1B"/>
                </a:solidFill>
                <a:latin typeface="Calibri"/>
              </a:rPr>
              <a:t>decoders → Ŷ_k</a:t>
            </a:r>
          </a:p>
          <a:p>
            <a:pPr algn="ctr">
              <a:lnSpc>
                <a:spcPct val="105000"/>
              </a:lnSpc>
              <a:spcAft>
                <a:spcPts val="400"/>
              </a:spcAft>
            </a:pPr>
            <a:r>
              <a:rPr sz="1600" b="0">
                <a:solidFill>
                  <a:srgbClr val="1B1B1B"/>
                </a:solidFill>
                <a:latin typeface="Calibri"/>
              </a:rPr>
              <a:t/>
            </a:r>
          </a:p>
          <a:p>
            <a:pPr algn="ctr">
              <a:lnSpc>
                <a:spcPct val="105000"/>
              </a:lnSpc>
              <a:spcAft>
                <a:spcPts val="400"/>
              </a:spcAft>
            </a:pPr>
            <a:r>
              <a:rPr sz="1200" b="1">
                <a:solidFill>
                  <a:srgbClr val="1F7A8C"/>
                </a:solidFill>
                <a:latin typeface="Calibri"/>
              </a:rPr>
              <a:t>controller:</a:t>
            </a:r>
          </a:p>
          <a:p>
            <a:pPr algn="ctr">
              <a:lnSpc>
                <a:spcPct val="105000"/>
              </a:lnSpc>
              <a:spcAft>
                <a:spcPts val="400"/>
              </a:spcAft>
            </a:pPr>
            <a:r>
              <a:rPr sz="1100" b="0">
                <a:solidFill>
                  <a:srgbClr val="1B1B1B"/>
                </a:solidFill>
                <a:latin typeface="Calibri"/>
              </a:rPr>
              <a:t>ACAFS (streams)</a:t>
            </a:r>
          </a:p>
          <a:p>
            <a:pPr algn="ctr">
              <a:lnSpc>
                <a:spcPct val="105000"/>
              </a:lnSpc>
              <a:spcAft>
                <a:spcPts val="400"/>
              </a:spcAft>
            </a:pPr>
            <a:r>
              <a:rPr sz="1100" b="0">
                <a:solidFill>
                  <a:srgbClr val="1B1B1B"/>
                </a:solidFill>
                <a:latin typeface="Calibri"/>
              </a:rPr>
              <a:t>allocator (bits)</a:t>
            </a:r>
          </a:p>
          <a:p>
            <a:pPr algn="ctr">
              <a:lnSpc>
                <a:spcPct val="105000"/>
              </a:lnSpc>
              <a:spcAft>
                <a:spcPts val="400"/>
              </a:spcAft>
            </a:pPr>
            <a:r>
              <a:rPr sz="1100" b="0">
                <a:solidFill>
                  <a:srgbClr val="5D6D7E"/>
                </a:solidFill>
                <a:latin typeface="Calibri"/>
              </a:rPr>
              <a:t>uses predicted error</a:t>
            </a:r>
          </a:p>
        </p:txBody>
      </p:sp>
      <p:sp>
        <p:nvSpPr>
          <p:cNvPr id="28" name="TextBox 27"/>
          <p:cNvSpPr txBox="1"/>
          <p:nvPr/>
        </p:nvSpPr>
        <p:spPr>
          <a:xfrm>
            <a:off x="7132320" y="1371600"/>
            <a:ext cx="4754880" cy="4480560"/>
          </a:xfrm>
          <a:prstGeom prst="rect">
            <a:avLst/>
          </a:prstGeom>
          <a:noFill/>
        </p:spPr>
        <p:txBody>
          <a:bodyPr wrap="square" anchor="t" lIns="73152" rIns="73152" tIns="36576" bIns="36576">
            <a:spAutoFit/>
          </a:bodyPr>
          <a:lstStyle/>
          <a:p>
            <a:pPr algn="l">
              <a:lnSpc>
                <a:spcPct val="105000"/>
              </a:lnSpc>
              <a:spcAft>
                <a:spcPts val="400"/>
              </a:spcAft>
            </a:pPr>
            <a:r>
              <a:rPr sz="1600" b="1">
                <a:solidFill>
                  <a:srgbClr val="1B1B1B"/>
                </a:solidFill>
                <a:latin typeface="Calibri"/>
              </a:rPr>
              <a:t>Y = H · diag(x) + W    (64 antennas × 1200 subcarriers)</a:t>
            </a:r>
          </a:p>
          <a:p>
            <a:pPr algn="l">
              <a:lnSpc>
                <a:spcPct val="105000"/>
              </a:lnSpc>
              <a:spcAft>
                <a:spcPts val="400"/>
              </a:spcAft>
            </a:pPr>
            <a:r>
              <a:rPr sz="1300" b="0">
                <a:solidFill>
                  <a:srgbClr val="1B1B1B"/>
                </a:solidFill>
                <a:latin typeface="Calibri"/>
              </a:rPr>
              <a:t>H: channel. 23 paths (TDL-A taps), 100 ns delay spread, antenna correlation 0.7^|i−j|.</a:t>
            </a:r>
          </a:p>
          <a:p>
            <a:pPr algn="l">
              <a:lnSpc>
                <a:spcPct val="105000"/>
              </a:lnSpc>
              <a:spcAft>
                <a:spcPts val="400"/>
              </a:spcAft>
            </a:pPr>
            <a:r>
              <a:rPr sz="1300" b="0">
                <a:solidFill>
                  <a:srgbClr val="1B1B1B"/>
                </a:solidFill>
                <a:latin typeface="Calibri"/>
              </a:rPr>
              <a:t>So rank(H) ≤ 23, and an IFFT over the subcarriers puts almost all energy in a few delay taps.</a:t>
            </a:r>
          </a:p>
          <a:p>
            <a:pPr algn="l">
              <a:lnSpc>
                <a:spcPct val="105000"/>
              </a:lnSpc>
              <a:spcAft>
                <a:spcPts val="400"/>
              </a:spcAft>
            </a:pPr>
            <a:r>
              <a:rPr sz="1300" b="0">
                <a:solidFill>
                  <a:srgbClr val="1B1B1B"/>
                </a:solidFill>
                <a:latin typeface="Calibri"/>
              </a:rPr>
              <a:t>x: the transmitted symbols. Data symbols = random QPSK per subcarrier. Reference symbols = known, so the RU can divide them out and is left with H + noise.</a:t>
            </a:r>
          </a:p>
          <a:p>
            <a:pPr algn="l">
              <a:lnSpc>
                <a:spcPct val="105000"/>
              </a:lnSpc>
              <a:spcAft>
                <a:spcPts val="400"/>
              </a:spcAft>
            </a:pPr>
            <a:r>
              <a:rPr sz="1300" b="0">
                <a:solidFill>
                  <a:srgbClr val="1B1B1B"/>
                </a:solidFill>
                <a:latin typeface="Calibri"/>
              </a:rPr>
              <a:t>W: white noise at the chosen SNR.</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500" b="1">
                <a:solidFill>
                  <a:srgbClr val="142B45"/>
                </a:solidFill>
                <a:latin typeface="Calibri"/>
              </a:rPr>
              <a:t>What we measure</a:t>
            </a:r>
          </a:p>
          <a:p>
            <a:pPr algn="l">
              <a:lnSpc>
                <a:spcPct val="105000"/>
              </a:lnSpc>
              <a:spcAft>
                <a:spcPts val="400"/>
              </a:spcAft>
            </a:pPr>
            <a:r>
              <a:rPr sz="1300" b="0">
                <a:solidFill>
                  <a:srgbClr val="1B1B1B"/>
                </a:solidFill>
                <a:latin typeface="Calibri"/>
              </a:rPr>
              <a:t>Error: NMSE (dB) = 10 log₁₀ ‖Y − Ŷ‖² / ‖Y‖² — against the noisy Y the link carries, and against the clean H.</a:t>
            </a:r>
          </a:p>
          <a:p>
            <a:pPr algn="l">
              <a:lnSpc>
                <a:spcPct val="105000"/>
              </a:lnSpc>
              <a:spcAft>
                <a:spcPts val="400"/>
              </a:spcAft>
            </a:pPr>
            <a:r>
              <a:rPr sz="1300" b="0">
                <a:solidFill>
                  <a:srgbClr val="1B1B1B"/>
                </a:solidFill>
                <a:latin typeface="Calibri"/>
              </a:rPr>
              <a:t>Compression ratio = 16-bit size / bits actually sent (exponents and headers counted).</a:t>
            </a:r>
          </a:p>
          <a:p>
            <a:pPr algn="l">
              <a:lnSpc>
                <a:spcPct val="105000"/>
              </a:lnSpc>
              <a:spcAft>
                <a:spcPts val="400"/>
              </a:spcAft>
            </a:pPr>
            <a:r>
              <a:rPr sz="1300" b="0">
                <a:solidFill>
                  <a:srgbClr val="1B1B1B"/>
                </a:solidFill>
                <a:latin typeface="Calibri"/>
              </a:rPr>
              <a:t>Encode time (Python medians; only the ordering is meaningful).</a:t>
            </a:r>
          </a:p>
          <a:p>
            <a:pPr algn="l">
              <a:lnSpc>
                <a:spcPct val="105000"/>
              </a:lnSpc>
              <a:spcAft>
                <a:spcPts val="400"/>
              </a:spcAft>
            </a:pPr>
            <a:r>
              <a:rPr sz="1300" b="0">
                <a:solidFill>
                  <a:srgbClr val="1B1B1B"/>
                </a:solidFill>
                <a:latin typeface="Calibri"/>
              </a:rPr>
              <a:t>For the allocator: link utilisation, RUs dropped, predicted-vs-measured error, decision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Compression = decompose the matrix, keep the big part, quantise</a:t>
            </a:r>
          </a:p>
        </p:txBody>
      </p:sp>
      <p:sp>
        <p:nvSpPr>
          <p:cNvPr id="4" name="Rectangle 3"/>
          <p:cNvSpPr/>
          <p:nvPr/>
        </p:nvSpPr>
        <p:spPr>
          <a:xfrm>
            <a:off x="10332720" y="246888"/>
            <a:ext cx="1554480" cy="384048"/>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[new]</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Every encoder ends with O-RAN block floating point (12-sample blocks, 4-bit shared exponent)</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Technical approach</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7</a:t>
            </a:r>
          </a:p>
        </p:txBody>
      </p:sp>
      <p:graphicFrame>
        <p:nvGraphicFramePr>
          <p:cNvPr id="10" name="Table 9"/>
          <p:cNvGraphicFramePr>
            <a:graphicFrameLocks noGrp="1"/>
          </p:cNvGraphicFramePr>
          <p:nvPr/>
        </p:nvGraphicFramePr>
        <p:xfrm>
          <a:off x="365760" y="1371600"/>
          <a:ext cx="11430000" cy="2377440"/>
        </p:xfrm>
        <a:graphic>
          <a:graphicData uri="http://schemas.openxmlformats.org/drawingml/2006/table">
            <a:tbl>
              <a:tblPr firstRow="1" bandRow="1">
                <a:tableStyleId>{5C22544A-7EE6-4342-B048-85BDC9FD1C3A}</a:tableStyleId>
              </a:tblPr>
              <a:tblGrid>
                <a:gridCol w="1645920"/>
                <a:gridCol w="3474720"/>
                <a:gridCol w="2377440"/>
                <a:gridCol w="1645920"/>
                <a:gridCol w="2286000"/>
              </a:tblGrid>
              <a:tr h="475488">
                <a:tc>
                  <a:txBody>
                    <a:bodyPr wrap="square"/>
                    <a:lstStyle/>
                    <a:p>
                      <a:pPr algn="l"/>
                      <a:r>
                        <a:rPr sz="1200" b="1">
                          <a:solidFill>
                            <a:srgbClr val="FFFFFF"/>
                          </a:solidFill>
                          <a:latin typeface="Calibri"/>
                        </a:rPr>
                        <a:t>Encoder</a:t>
                      </a:r>
                    </a:p>
                  </a:txBody>
                  <a:tcPr marL="45720" marR="45720" marT="18288" marB="18288">
                    <a:solidFill>
                      <a:srgbClr val="142B45"/>
                    </a:solidFill>
                  </a:tcPr>
                </a:tc>
                <a:tc>
                  <a:txBody>
                    <a:bodyPr wrap="square"/>
                    <a:lstStyle/>
                    <a:p>
                      <a:pPr algn="ctr"/>
                      <a:r>
                        <a:rPr sz="1200" b="1">
                          <a:solidFill>
                            <a:srgbClr val="FFFFFF"/>
                          </a:solidFill>
                          <a:latin typeface="Calibri"/>
                        </a:rPr>
                        <a:t>Decomposition used</a:t>
                      </a:r>
                    </a:p>
                  </a:txBody>
                  <a:tcPr marL="45720" marR="45720" marT="18288" marB="18288">
                    <a:solidFill>
                      <a:srgbClr val="142B45"/>
                    </a:solidFill>
                  </a:tcPr>
                </a:tc>
                <a:tc>
                  <a:txBody>
                    <a:bodyPr wrap="square"/>
                    <a:lstStyle/>
                    <a:p>
                      <a:pPr algn="ctr"/>
                      <a:r>
                        <a:rPr sz="1200" b="1">
                          <a:solidFill>
                            <a:srgbClr val="FFFFFF"/>
                          </a:solidFill>
                          <a:latin typeface="Calibri"/>
                        </a:rPr>
                        <a:t>What is sent</a:t>
                      </a:r>
                    </a:p>
                  </a:txBody>
                  <a:tcPr marL="45720" marR="45720" marT="18288" marB="18288">
                    <a:solidFill>
                      <a:srgbClr val="142B45"/>
                    </a:solidFill>
                  </a:tcPr>
                </a:tc>
                <a:tc>
                  <a:txBody>
                    <a:bodyPr wrap="square"/>
                    <a:lstStyle/>
                    <a:p>
                      <a:pPr algn="ctr"/>
                      <a:r>
                        <a:rPr sz="1200" b="1">
                          <a:solidFill>
                            <a:srgbClr val="FFFFFF"/>
                          </a:solidFill>
                          <a:latin typeface="Calibri"/>
                        </a:rPr>
                        <a:t>Cost</a:t>
                      </a:r>
                    </a:p>
                  </a:txBody>
                  <a:tcPr marL="45720" marR="45720" marT="18288" marB="18288">
                    <a:solidFill>
                      <a:srgbClr val="142B45"/>
                    </a:solidFill>
                  </a:tcPr>
                </a:tc>
                <a:tc>
                  <a:txBody>
                    <a:bodyPr wrap="square"/>
                    <a:lstStyle/>
                    <a:p>
                      <a:pPr algn="ctr"/>
                      <a:r>
                        <a:rPr sz="1200" b="1">
                          <a:solidFill>
                            <a:srgbClr val="FFFFFF"/>
                          </a:solidFill>
                          <a:latin typeface="Calibri"/>
                        </a:rPr>
                        <a:t>Error model</a:t>
                      </a:r>
                    </a:p>
                  </a:txBody>
                  <a:tcPr marL="45720" marR="45720" marT="18288" marB="18288">
                    <a:solidFill>
                      <a:srgbClr val="142B45"/>
                    </a:solidFill>
                  </a:tcPr>
                </a:tc>
              </a:tr>
              <a:tr h="475488">
                <a:tc>
                  <a:txBody>
                    <a:bodyPr wrap="square"/>
                    <a:lstStyle/>
                    <a:p>
                      <a:pPr algn="l"/>
                      <a:r>
                        <a:rPr sz="1200" b="1">
                          <a:solidFill>
                            <a:srgbClr val="1B1B1B"/>
                          </a:solidFill>
                          <a:latin typeface="Calibri"/>
                        </a:rPr>
                        <a:t>BFP (O-RAN WG4)</a:t>
                      </a:r>
                    </a:p>
                  </a:txBody>
                  <a:tcPr marL="45720" marR="45720" marT="18288" marB="18288">
                    <a:solidFill>
                      <a:srgbClr val="FFFFFF"/>
                    </a:solidFill>
                  </a:tcPr>
                </a:tc>
                <a:tc>
                  <a:txBody>
                    <a:bodyPr wrap="square"/>
                    <a:lstStyle/>
                    <a:p>
                      <a:pPr algn="ctr"/>
                      <a:r>
                        <a:rPr sz="1200">
                          <a:solidFill>
                            <a:srgbClr val="1B1B1B"/>
                          </a:solidFill>
                          <a:latin typeface="Calibri"/>
                        </a:rPr>
                        <a:t>none — only quantisation</a:t>
                      </a:r>
                    </a:p>
                  </a:txBody>
                  <a:tcPr marL="45720" marR="45720" marT="18288" marB="18288">
                    <a:solidFill>
                      <a:srgbClr val="FFFFFF"/>
                    </a:solidFill>
                  </a:tcPr>
                </a:tc>
                <a:tc>
                  <a:txBody>
                    <a:bodyPr wrap="square"/>
                    <a:lstStyle/>
                    <a:p>
                      <a:pPr algn="ctr"/>
                      <a:r>
                        <a:rPr sz="1200">
                          <a:solidFill>
                            <a:srgbClr val="1B1B1B"/>
                          </a:solidFill>
                          <a:latin typeface="Calibri"/>
                        </a:rPr>
                        <a:t>all M·N samples at b bits + exponents</a:t>
                      </a:r>
                    </a:p>
                  </a:txBody>
                  <a:tcPr marL="45720" marR="45720" marT="18288" marB="18288">
                    <a:solidFill>
                      <a:srgbClr val="FFFFFF"/>
                    </a:solidFill>
                  </a:tcPr>
                </a:tc>
                <a:tc>
                  <a:txBody>
                    <a:bodyPr wrap="square"/>
                    <a:lstStyle/>
                    <a:p>
                      <a:pPr algn="ctr"/>
                      <a:r>
                        <a:rPr sz="1200">
                          <a:solidFill>
                            <a:srgbClr val="1B1B1B"/>
                          </a:solidFill>
                          <a:latin typeface="Calibri"/>
                        </a:rPr>
                        <a:t>O(MN)</a:t>
                      </a:r>
                    </a:p>
                  </a:txBody>
                  <a:tcPr marL="45720" marR="45720" marT="18288" marB="18288">
                    <a:solidFill>
                      <a:srgbClr val="FFFFFF"/>
                    </a:solidFill>
                  </a:tcPr>
                </a:tc>
                <a:tc>
                  <a:txBody>
                    <a:bodyPr wrap="square"/>
                    <a:lstStyle/>
                    <a:p>
                      <a:pPr algn="ctr"/>
                      <a:r>
                        <a:rPr sz="1200">
                          <a:solidFill>
                            <a:srgbClr val="1B1B1B"/>
                          </a:solidFill>
                          <a:latin typeface="Calibri"/>
                        </a:rPr>
                        <a:t>quantisation-noise formula</a:t>
                      </a:r>
                    </a:p>
                  </a:txBody>
                  <a:tcPr marL="45720" marR="45720" marT="18288" marB="18288">
                    <a:solidFill>
                      <a:srgbClr val="FFFFFF"/>
                    </a:solidFill>
                  </a:tcPr>
                </a:tc>
              </a:tr>
              <a:tr h="475488">
                <a:tc>
                  <a:txBody>
                    <a:bodyPr wrap="square"/>
                    <a:lstStyle/>
                    <a:p>
                      <a:pPr algn="l"/>
                      <a:r>
                        <a:rPr sz="1200" b="1">
                          <a:solidFill>
                            <a:srgbClr val="1B1B1B"/>
                          </a:solidFill>
                          <a:latin typeface="Calibri"/>
                        </a:rPr>
                        <a:t>Truncated SVD</a:t>
                      </a:r>
                    </a:p>
                  </a:txBody>
                  <a:tcPr marL="45720" marR="45720" marT="18288" marB="18288">
                    <a:solidFill>
                      <a:srgbClr val="F4F6F8"/>
                    </a:solidFill>
                  </a:tcPr>
                </a:tc>
                <a:tc>
                  <a:txBody>
                    <a:bodyPr wrap="square"/>
                    <a:lstStyle/>
                    <a:p>
                      <a:pPr algn="ctr"/>
                      <a:r>
                        <a:rPr sz="1200">
                          <a:solidFill>
                            <a:srgbClr val="1B1B1B"/>
                          </a:solidFill>
                          <a:latin typeface="Calibri"/>
                        </a:rPr>
                        <a:t>Y ≈ U_r Σ_r V_rᴴ (best rank-r approximation)</a:t>
                      </a:r>
                    </a:p>
                  </a:txBody>
                  <a:tcPr marL="45720" marR="45720" marT="18288" marB="18288">
                    <a:solidFill>
                      <a:srgbClr val="F4F6F8"/>
                    </a:solidFill>
                  </a:tcPr>
                </a:tc>
                <a:tc>
                  <a:txBody>
                    <a:bodyPr wrap="square"/>
                    <a:lstStyle/>
                    <a:p>
                      <a:pPr algn="ctr"/>
                      <a:r>
                        <a:rPr sz="1200">
                          <a:solidFill>
                            <a:srgbClr val="1B1B1B"/>
                          </a:solidFill>
                          <a:latin typeface="Calibri"/>
                        </a:rPr>
                        <a:t>BFP(U_rΣ_r) + BFP(V_r)</a:t>
                      </a:r>
                    </a:p>
                  </a:txBody>
                  <a:tcPr marL="45720" marR="45720" marT="18288" marB="18288">
                    <a:solidFill>
                      <a:srgbClr val="F4F6F8"/>
                    </a:solidFill>
                  </a:tcPr>
                </a:tc>
                <a:tc>
                  <a:txBody>
                    <a:bodyPr wrap="square"/>
                    <a:lstStyle/>
                    <a:p>
                      <a:pPr algn="ctr"/>
                      <a:r>
                        <a:rPr sz="1200">
                          <a:solidFill>
                            <a:srgbClr val="1B1B1B"/>
                          </a:solidFill>
                          <a:latin typeface="Calibri"/>
                        </a:rPr>
                        <a:t>O(MN·M) thin SVD</a:t>
                      </a:r>
                    </a:p>
                  </a:txBody>
                  <a:tcPr marL="45720" marR="45720" marT="18288" marB="18288">
                    <a:solidFill>
                      <a:srgbClr val="F4F6F8"/>
                    </a:solidFill>
                  </a:tcPr>
                </a:tc>
                <a:tc>
                  <a:txBody>
                    <a:bodyPr wrap="square"/>
                    <a:lstStyle/>
                    <a:p>
                      <a:pPr algn="ctr"/>
                      <a:r>
                        <a:rPr sz="1200">
                          <a:solidFill>
                            <a:srgbClr val="1B1B1B"/>
                          </a:solidFill>
                          <a:latin typeface="Calibri"/>
                        </a:rPr>
                        <a:t>Eckart–Young: sum of dropped σ_i²</a:t>
                      </a:r>
                    </a:p>
                  </a:txBody>
                  <a:tcPr marL="45720" marR="45720" marT="18288" marB="18288">
                    <a:solidFill>
                      <a:srgbClr val="F4F6F8"/>
                    </a:solidFill>
                  </a:tcPr>
                </a:tc>
              </a:tr>
              <a:tr h="475488">
                <a:tc>
                  <a:txBody>
                    <a:bodyPr wrap="square"/>
                    <a:lstStyle/>
                    <a:p>
                      <a:pPr algn="l"/>
                      <a:r>
                        <a:rPr sz="1200" b="1">
                          <a:solidFill>
                            <a:srgbClr val="1B1B1B"/>
                          </a:solidFill>
                          <a:latin typeface="Calibri"/>
                        </a:rPr>
                        <a:t>RAS-BFP (proposed)</a:t>
                      </a:r>
                    </a:p>
                  </a:txBody>
                  <a:tcPr marL="45720" marR="45720" marT="18288" marB="18288">
                    <a:solidFill>
                      <a:srgbClr val="FFFFFF"/>
                    </a:solidFill>
                  </a:tcPr>
                </a:tc>
                <a:tc>
                  <a:txBody>
                    <a:bodyPr wrap="square"/>
                    <a:lstStyle/>
                    <a:p>
                      <a:pPr algn="ctr"/>
                      <a:r>
                        <a:rPr sz="1200">
                          <a:solidFill>
                            <a:srgbClr val="1B1B1B"/>
                          </a:solidFill>
                          <a:latin typeface="Calibri"/>
                        </a:rPr>
                        <a:t>randomised SVD: sketch antennas → QR → project → small SVD → rank r</a:t>
                      </a:r>
                    </a:p>
                  </a:txBody>
                  <a:tcPr marL="45720" marR="45720" marT="18288" marB="18288">
                    <a:solidFill>
                      <a:srgbClr val="FFFFFF"/>
                    </a:solidFill>
                  </a:tcPr>
                </a:tc>
                <a:tc>
                  <a:txBody>
                    <a:bodyPr wrap="square"/>
                    <a:lstStyle/>
                    <a:p>
                      <a:pPr algn="ctr"/>
                      <a:r>
                        <a:rPr sz="1200">
                          <a:solidFill>
                            <a:srgbClr val="1B1B1B"/>
                          </a:solidFill>
                          <a:latin typeface="Calibri"/>
                        </a:rPr>
                        <a:t>same shape as SVD</a:t>
                      </a:r>
                    </a:p>
                  </a:txBody>
                  <a:tcPr marL="45720" marR="45720" marT="18288" marB="18288">
                    <a:solidFill>
                      <a:srgbClr val="FFFFFF"/>
                    </a:solidFill>
                  </a:tcPr>
                </a:tc>
                <a:tc>
                  <a:txBody>
                    <a:bodyPr wrap="square"/>
                    <a:lstStyle/>
                    <a:p>
                      <a:pPr algn="ctr"/>
                      <a:r>
                        <a:rPr sz="1200">
                          <a:solidFill>
                            <a:srgbClr val="1B1B1B"/>
                          </a:solidFill>
                          <a:latin typeface="Calibri"/>
                        </a:rPr>
                        <a:t>O(MN(r+p))</a:t>
                      </a:r>
                    </a:p>
                  </a:txBody>
                  <a:tcPr marL="45720" marR="45720" marT="18288" marB="18288">
                    <a:solidFill>
                      <a:srgbClr val="FFFFFF"/>
                    </a:solidFill>
                  </a:tcPr>
                </a:tc>
                <a:tc>
                  <a:txBody>
                    <a:bodyPr wrap="square"/>
                    <a:lstStyle/>
                    <a:p>
                      <a:pPr algn="ctr"/>
                      <a:r>
                        <a:rPr sz="1200">
                          <a:solidFill>
                            <a:srgbClr val="1B1B1B"/>
                          </a:solidFill>
                          <a:latin typeface="Calibri"/>
                        </a:rPr>
                        <a:t>HMT-type bound (Thm 2)</a:t>
                      </a:r>
                    </a:p>
                  </a:txBody>
                  <a:tcPr marL="45720" marR="45720" marT="18288" marB="18288">
                    <a:solidFill>
                      <a:srgbClr val="FFFFFF"/>
                    </a:solidFill>
                  </a:tcPr>
                </a:tc>
              </a:tr>
              <a:tr h="475488">
                <a:tc>
                  <a:txBody>
                    <a:bodyPr wrap="square"/>
                    <a:lstStyle/>
                    <a:p>
                      <a:pPr algn="l"/>
                      <a:r>
                        <a:rPr sz="1200" b="1">
                          <a:solidFill>
                            <a:srgbClr val="1B1B1B"/>
                          </a:solidFill>
                          <a:latin typeface="Calibri"/>
                        </a:rPr>
                        <a:t>CSEE (proposed)</a:t>
                      </a:r>
                    </a:p>
                  </a:txBody>
                  <a:tcPr marL="45720" marR="45720" marT="18288" marB="18288">
                    <a:solidFill>
                      <a:srgbClr val="F4F6F8"/>
                    </a:solidFill>
                  </a:tcPr>
                </a:tc>
                <a:tc>
                  <a:txBody>
                    <a:bodyPr wrap="square"/>
                    <a:lstStyle/>
                    <a:p>
                      <a:pPr algn="ctr"/>
                      <a:r>
                        <a:rPr sz="1200">
                          <a:solidFill>
                            <a:srgbClr val="1B1B1B"/>
                          </a:solidFill>
                          <a:latin typeface="Calibri"/>
                        </a:rPr>
                        <a:t>IFFT along subcarriers → keep the K strongest delay taps (same taps for all antennas)</a:t>
                      </a:r>
                    </a:p>
                  </a:txBody>
                  <a:tcPr marL="45720" marR="45720" marT="18288" marB="18288">
                    <a:solidFill>
                      <a:srgbClr val="F4F6F8"/>
                    </a:solidFill>
                  </a:tcPr>
                </a:tc>
                <a:tc>
                  <a:txBody>
                    <a:bodyPr wrap="square"/>
                    <a:lstStyle/>
                    <a:p>
                      <a:pPr algn="ctr"/>
                      <a:r>
                        <a:rPr sz="1200">
                          <a:solidFill>
                            <a:srgbClr val="1B1B1B"/>
                          </a:solidFill>
                          <a:latin typeface="Calibri"/>
                        </a:rPr>
                        <a:t>BFP(64 × K block) + K tap indices</a:t>
                      </a:r>
                    </a:p>
                  </a:txBody>
                  <a:tcPr marL="45720" marR="45720" marT="18288" marB="18288">
                    <a:solidFill>
                      <a:srgbClr val="F4F6F8"/>
                    </a:solidFill>
                  </a:tcPr>
                </a:tc>
                <a:tc>
                  <a:txBody>
                    <a:bodyPr wrap="square"/>
                    <a:lstStyle/>
                    <a:p>
                      <a:pPr algn="ctr"/>
                      <a:r>
                        <a:rPr sz="1200">
                          <a:solidFill>
                            <a:srgbClr val="1B1B1B"/>
                          </a:solidFill>
                          <a:latin typeface="Calibri"/>
                        </a:rPr>
                        <a:t>O(MN log N)</a:t>
                      </a:r>
                    </a:p>
                  </a:txBody>
                  <a:tcPr marL="45720" marR="45720" marT="18288" marB="18288">
                    <a:solidFill>
                      <a:srgbClr val="F4F6F8"/>
                    </a:solidFill>
                  </a:tcPr>
                </a:tc>
                <a:tc>
                  <a:txBody>
                    <a:bodyPr wrap="square"/>
                    <a:lstStyle/>
                    <a:p>
                      <a:pPr algn="ctr"/>
                      <a:r>
                        <a:rPr sz="1200">
                          <a:solidFill>
                            <a:srgbClr val="1B1B1B"/>
                          </a:solidFill>
                          <a:latin typeface="Calibri"/>
                        </a:rPr>
                        <a:t>Prop. 1: dropped-tap energy is exact</a:t>
                      </a:r>
                    </a:p>
                  </a:txBody>
                  <a:tcPr marL="45720" marR="45720" marT="18288" marB="18288">
                    <a:solidFill>
                      <a:srgbClr val="F4F6F8"/>
                    </a:solidFill>
                  </a:tcPr>
                </a:tc>
              </a:tr>
            </a:tbl>
          </a:graphicData>
        </a:graphic>
      </p:graphicFrame>
      <p:sp>
        <p:nvSpPr>
          <p:cNvPr id="11" name="TextBox 10"/>
          <p:cNvSpPr txBox="1"/>
          <p:nvPr/>
        </p:nvSpPr>
        <p:spPr>
          <a:xfrm>
            <a:off x="457200" y="3931920"/>
            <a:ext cx="11247120" cy="1828800"/>
          </a:xfrm>
          <a:prstGeom prst="rect">
            <a:avLst/>
          </a:prstGeom>
          <a:noFill/>
        </p:spPr>
        <p:txBody>
          <a:bodyPr wrap="square" anchor="t" lIns="73152" rIns="73152" tIns="36576" bIns="36576">
            <a:spAutoFit/>
          </a:bodyPr>
          <a:lstStyle/>
          <a:p>
            <a:pPr algn="l">
              <a:lnSpc>
                <a:spcPct val="105000"/>
              </a:lnSpc>
              <a:spcAft>
                <a:spcPts val="400"/>
              </a:spcAft>
            </a:pPr>
            <a:r>
              <a:rPr sz="1600" b="1">
                <a:solidFill>
                  <a:srgbClr val="142B45"/>
                </a:solidFill>
                <a:latin typeface="Calibri"/>
              </a:rPr>
              <a:t>• Which structure survives the transmitted symbols?  Y = H·diag(x) + W</a:t>
            </a:r>
          </a:p>
          <a:p>
            <a:pPr algn="l">
              <a:lnSpc>
                <a:spcPct val="105000"/>
              </a:lnSpc>
              <a:spcAft>
                <a:spcPts val="400"/>
              </a:spcAft>
            </a:pPr>
            <a:r>
              <a:rPr sz="1400" b="0">
                <a:solidFill>
                  <a:srgbClr val="1B1B1B"/>
                </a:solidFill>
                <a:latin typeface="Calibri"/>
              </a:rPr>
              <a:t>• Rank: multiplying by diag(x) (an invertible matrix) does not change the rank → SVD and RAS-BFP work on data and reference symbols alike.</a:t>
            </a:r>
          </a:p>
          <a:p>
            <a:pPr algn="l">
              <a:lnSpc>
                <a:spcPct val="105000"/>
              </a:lnSpc>
              <a:spcAft>
                <a:spcPts val="400"/>
              </a:spcAft>
            </a:pPr>
            <a:r>
              <a:rPr sz="1400" b="0">
                <a:solidFill>
                  <a:srgbClr val="1B1B1B"/>
                </a:solidFill>
                <a:latin typeface="Calibri"/>
              </a:rPr>
              <a:t>• Delay sparsity: IFFT(H·diag(x)) = IFFT(H) convolved with IFFT(x). Random symbols make IFFT(x) white, so the energy spreads over all 1200 taps → CSEE only works on reference symbols.</a:t>
            </a:r>
          </a:p>
          <a:p>
            <a:pPr algn="l">
              <a:lnSpc>
                <a:spcPct val="105000"/>
              </a:lnSpc>
              <a:spcAft>
                <a:spcPts val="400"/>
              </a:spcAft>
            </a:pPr>
            <a:r>
              <a:rPr sz="1300" b="0">
                <a:solidFill>
                  <a:srgbClr val="C0392B"/>
                </a:solidFill>
                <a:latin typeface="Calibri"/>
              </a:rPr>
              <a:t>• The earlier repository did not see this because it simulated a constant symbol on every subcarrier.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How the shared link is allocated, and why it is cheap</a:t>
            </a:r>
          </a:p>
        </p:txBody>
      </p:sp>
      <p:sp>
        <p:nvSpPr>
          <p:cNvPr id="4" name="Rectangle 3"/>
          <p:cNvSpPr/>
          <p:nvPr/>
        </p:nvSpPr>
        <p:spPr>
          <a:xfrm>
            <a:off x="10332720" y="246888"/>
            <a:ext cx="1554480" cy="384048"/>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[new]</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One decision per OFDM symbol: a multiple-choice knapsack</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Technical approach</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8</a:t>
            </a:r>
          </a:p>
        </p:txBody>
      </p:sp>
      <p:sp>
        <p:nvSpPr>
          <p:cNvPr id="10" name="TextBox 9"/>
          <p:cNvSpPr txBox="1"/>
          <p:nvPr/>
        </p:nvSpPr>
        <p:spPr>
          <a:xfrm>
            <a:off x="457200" y="1371600"/>
            <a:ext cx="5669280" cy="4572000"/>
          </a:xfrm>
          <a:prstGeom prst="rect">
            <a:avLst/>
          </a:prstGeom>
          <a:noFill/>
        </p:spPr>
        <p:txBody>
          <a:bodyPr wrap="square" anchor="t" lIns="73152" rIns="73152" tIns="36576" bIns="36576">
            <a:spAutoFit/>
          </a:bodyPr>
          <a:lstStyle/>
          <a:p>
            <a:pPr algn="l">
              <a:lnSpc>
                <a:spcPct val="105000"/>
              </a:lnSpc>
              <a:spcAft>
                <a:spcPts val="400"/>
              </a:spcAft>
            </a:pPr>
            <a:r>
              <a:rPr sz="1600" b="1">
                <a:solidFill>
                  <a:srgbClr val="142B45"/>
                </a:solidFill>
                <a:latin typeface="Calibri"/>
              </a:rPr>
              <a:t>The decision</a:t>
            </a:r>
          </a:p>
          <a:p>
            <a:pPr algn="l">
              <a:lnSpc>
                <a:spcPct val="105000"/>
              </a:lnSpc>
              <a:spcAft>
                <a:spcPts val="400"/>
              </a:spcAft>
            </a:pPr>
            <a:r>
              <a:rPr sz="1400" b="0">
                <a:solidFill>
                  <a:srgbClr val="1B1B1B"/>
                </a:solidFill>
                <a:latin typeface="Calibri"/>
              </a:rPr>
              <a:t>Each RU k picks one setting a_k from its menu (for CSEE: K taps and b bits).</a:t>
            </a:r>
          </a:p>
          <a:p>
            <a:pPr algn="l">
              <a:lnSpc>
                <a:spcPct val="105000"/>
              </a:lnSpc>
              <a:spcAft>
                <a:spcPts val="400"/>
              </a:spcAft>
            </a:pPr>
            <a:r>
              <a:rPr sz="1400" b="0">
                <a:solidFill>
                  <a:srgbClr val="1B1B1B"/>
                </a:solidFill>
                <a:latin typeface="Calibri"/>
              </a:rPr>
              <a:t>Every setting has an exact rate R_k(a) in bits and an error D_k(a) = ‖Y_k − Ŷ_k‖² / ‖Y_k‖².</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700" b="1">
                <a:solidFill>
                  <a:srgbClr val="1B1B1B"/>
                </a:solidFill>
                <a:latin typeface="Calibri"/>
              </a:rPr>
              <a:t>minimise  Σ_k D_k(a_k)     [or the worst RU: max_k D_k(a_k)]</a:t>
            </a:r>
          </a:p>
          <a:p>
            <a:pPr algn="l">
              <a:lnSpc>
                <a:spcPct val="105000"/>
              </a:lnSpc>
              <a:spcAft>
                <a:spcPts val="400"/>
              </a:spcAft>
            </a:pPr>
            <a:r>
              <a:rPr sz="1700" b="1">
                <a:solidFill>
                  <a:srgbClr val="1B1B1B"/>
                </a:solidFill>
                <a:latin typeface="Calibri"/>
              </a:rPr>
              <a:t>subject to  Σ_k R_k(a_k) ≤ C_link</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300" b="0">
                <a:solidFill>
                  <a:srgbClr val="1B1B1B"/>
                </a:solidFill>
                <a:latin typeface="Calibri"/>
              </a:rPr>
              <a:t>Solver: start every RU at its cheapest setting, then repeatedly give the next upgrade to the RU that gains the most error reduction per bit (on the convex hull of its menu). Optimal up to one fractional step. If even the cheapest settings do not fit, drop the RUs that gain least.</a:t>
            </a:r>
          </a:p>
          <a:p>
            <a:pPr algn="l">
              <a:lnSpc>
                <a:spcPct val="105000"/>
              </a:lnSpc>
              <a:spcAft>
                <a:spcPts val="400"/>
              </a:spcAft>
            </a:pPr>
            <a:r>
              <a:rPr sz="1300" b="0">
                <a:solidFill>
                  <a:srgbClr val="5D6D7E"/>
                </a:solidFill>
                <a:latin typeface="Calibri"/>
              </a:rPr>
              <a:t>Measured: ≈1 ms to allocate + ≈27 ms to predict all menus for 8 RUs × 66 settings (Python).</a:t>
            </a:r>
          </a:p>
        </p:txBody>
      </p:sp>
      <p:sp>
        <p:nvSpPr>
          <p:cNvPr id="11" name="TextBox 10"/>
          <p:cNvSpPr txBox="1"/>
          <p:nvPr/>
        </p:nvSpPr>
        <p:spPr>
          <a:xfrm>
            <a:off x="6309360" y="1371600"/>
            <a:ext cx="5577840" cy="4572000"/>
          </a:xfrm>
          <a:prstGeom prst="rect">
            <a:avLst/>
          </a:prstGeom>
          <a:noFill/>
        </p:spPr>
        <p:txBody>
          <a:bodyPr wrap="square" anchor="t" lIns="73152" rIns="73152" tIns="36576" bIns="36576">
            <a:spAutoFit/>
          </a:bodyPr>
          <a:lstStyle/>
          <a:p>
            <a:pPr algn="l">
              <a:lnSpc>
                <a:spcPct val="105000"/>
              </a:lnSpc>
              <a:spcAft>
                <a:spcPts val="400"/>
              </a:spcAft>
            </a:pPr>
            <a:r>
              <a:rPr sz="1600" b="1">
                <a:solidFill>
                  <a:srgbClr val="142B45"/>
                </a:solidFill>
                <a:latin typeface="Calibri"/>
              </a:rPr>
              <a:t>Proposition 1: predicting CSEE's error without encoding</a:t>
            </a:r>
          </a:p>
          <a:p>
            <a:pPr algn="l">
              <a:lnSpc>
                <a:spcPct val="105000"/>
              </a:lnSpc>
              <a:spcAft>
                <a:spcPts val="400"/>
              </a:spcAft>
            </a:pPr>
            <a:r>
              <a:rPr sz="1400" b="0">
                <a:solidFill>
                  <a:srgbClr val="1B1B1B"/>
                </a:solidFill>
                <a:latin typeface="Calibri"/>
              </a:rPr>
              <a:t>Take the IFFT once: Y_d. Sort the delay taps by energy.</a:t>
            </a:r>
          </a:p>
          <a:p>
            <a:pPr algn="l">
              <a:lnSpc>
                <a:spcPct val="105000"/>
              </a:lnSpc>
              <a:spcAft>
                <a:spcPts val="400"/>
              </a:spcAft>
            </a:pPr>
            <a:r>
              <a:rPr sz="1600" b="1">
                <a:solidFill>
                  <a:srgbClr val="1B1B1B"/>
                </a:solidFill>
                <a:latin typeface="Calibri"/>
              </a:rPr>
              <a:t>error = ( energy of dropped taps  +  quantisation error ) / total energy</a:t>
            </a:r>
          </a:p>
          <a:p>
            <a:pPr algn="l">
              <a:lnSpc>
                <a:spcPct val="105000"/>
              </a:lnSpc>
              <a:spcAft>
                <a:spcPts val="400"/>
              </a:spcAft>
            </a:pPr>
            <a:r>
              <a:rPr sz="1300" b="0">
                <a:solidFill>
                  <a:srgbClr val="1B1B1B"/>
                </a:solidFill>
                <a:latin typeface="Calibri"/>
              </a:rPr>
              <a:t>The first term is exact (the IFFT preserves energy). The second comes from the block exponents: Δ²/6 per sample on average, Δ²/2 worst case.</a:t>
            </a:r>
          </a:p>
          <a:p>
            <a:pPr algn="l">
              <a:lnSpc>
                <a:spcPct val="105000"/>
              </a:lnSpc>
              <a:spcAft>
                <a:spcPts val="400"/>
              </a:spcAft>
            </a:pPr>
            <a:r>
              <a:rPr sz="1300" b="0">
                <a:solidFill>
                  <a:srgbClr val="1B1B1B"/>
                </a:solidFill>
                <a:latin typeface="Calibri"/>
              </a:rPr>
              <a:t>Noise-aware version: subtract the noise that is expected in the dropped taps and divide by signal energy only — uses the RU's noise estimate σ².</a:t>
            </a:r>
          </a:p>
          <a:p>
            <a:pPr algn="l">
              <a:lnSpc>
                <a:spcPct val="105000"/>
              </a:lnSpc>
              <a:spcAft>
                <a:spcPts val="400"/>
              </a:spcAft>
            </a:pPr>
            <a:r>
              <a:rPr sz="1300" b="0">
                <a:solidFill>
                  <a:srgbClr val="1B1B1B"/>
                </a:solidFill>
                <a:latin typeface="Calibri"/>
              </a:rPr>
              <a:t>Because the top-K sets are nested, one IFFT gives the prediction for every K and every b.</a:t>
            </a:r>
          </a:p>
          <a:p>
            <a:pPr algn="l">
              <a:lnSpc>
                <a:spcPct val="105000"/>
              </a:lnSpc>
              <a:spcAft>
                <a:spcPts val="400"/>
              </a:spcAft>
            </a:pPr>
            <a:r>
              <a:rPr sz="1300" b="1">
                <a:solidFill>
                  <a:srgbClr val="1E8449"/>
                </a:solidFill>
                <a:latin typeface="Calibri"/>
              </a:rPr>
              <a:t>Measured: prediction within 0.5 dB of the real error for CSEE in Exp5 (BFP predictor within 1.3 dB).</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400" b="1">
                <a:solidFill>
                  <a:srgbClr val="142B45"/>
                </a:solidFill>
                <a:latin typeface="Calibri"/>
              </a:rPr>
              <a:t>Theorem 2 (RAS-BFP): reference bound from Halko–Martinsson–Tropp 2011, Thm 10.5</a:t>
            </a:r>
          </a:p>
          <a:p>
            <a:pPr algn="l">
              <a:lnSpc>
                <a:spcPct val="105000"/>
              </a:lnSpc>
              <a:spcAft>
                <a:spcPts val="400"/>
              </a:spcAft>
            </a:pPr>
            <a:r>
              <a:rPr sz="1500" b="1">
                <a:solidFill>
                  <a:srgbClr val="1B1B1B"/>
                </a:solidFill>
                <a:latin typeface="Calibri"/>
              </a:rPr>
              <a:t>E‖Y − Ŷ_r‖²_F ≤ (4 + 2r/(p−1)) · Σ_{i&gt;r} σ_i²   (Gaussian sketch, p ≥ 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Result 1 — how much compression for how much error (Exp1)</a:t>
            </a:r>
          </a:p>
        </p:txBody>
      </p:sp>
      <p:sp>
        <p:nvSpPr>
          <p:cNvPr id="4" name="Rectangle 3"/>
          <p:cNvSpPr/>
          <p:nvPr/>
        </p:nvSpPr>
        <p:spPr>
          <a:xfrm>
            <a:off x="10332720" y="246888"/>
            <a:ext cx="1554480" cy="384048"/>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[new]</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M=64, N=1200, SNR 20 dB, 30 channel realisations; b = 10 bits for SVD / CSEE / RAS-BFP</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Evidence</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9</a:t>
            </a:r>
          </a:p>
        </p:txBody>
      </p:sp>
      <p:pic>
        <p:nvPicPr>
          <p:cNvPr id="10" name="Picture 9" descr="exp1_nmse_vs_cr.png"/>
          <p:cNvPicPr>
            <a:picLocks noChangeAspect="1"/>
          </p:cNvPicPr>
          <p:nvPr/>
        </p:nvPicPr>
        <p:blipFill>
          <a:blip r:embed="rId2"/>
          <a:stretch>
            <a:fillRect/>
          </a:stretch>
        </p:blipFill>
        <p:spPr>
          <a:xfrm>
            <a:off x="274320" y="1998207"/>
            <a:ext cx="7863840" cy="3135905"/>
          </a:xfrm>
          <a:prstGeom prst="rect">
            <a:avLst/>
          </a:prstGeom>
        </p:spPr>
      </p:pic>
      <p:graphicFrame>
        <p:nvGraphicFramePr>
          <p:cNvPr id="11" name="Table 10"/>
          <p:cNvGraphicFramePr>
            <a:graphicFrameLocks noGrp="1"/>
          </p:cNvGraphicFramePr>
          <p:nvPr/>
        </p:nvGraphicFramePr>
        <p:xfrm>
          <a:off x="8229600" y="1463040"/>
          <a:ext cx="3657598" cy="2011680"/>
        </p:xfrm>
        <a:graphic>
          <a:graphicData uri="http://schemas.openxmlformats.org/drawingml/2006/table">
            <a:tbl>
              <a:tblPr firstRow="1" bandRow="1">
                <a:tableStyleId>{5C22544A-7EE6-4342-B048-85BDC9FD1C3A}</a:tableStyleId>
              </a:tblPr>
              <a:tblGrid>
                <a:gridCol w="1351721"/>
                <a:gridCol w="636104"/>
                <a:gridCol w="795130"/>
                <a:gridCol w="874643"/>
              </a:tblGrid>
              <a:tr h="402336">
                <a:tc>
                  <a:txBody>
                    <a:bodyPr wrap="square"/>
                    <a:lstStyle/>
                    <a:p>
                      <a:pPr algn="l"/>
                      <a:r>
                        <a:rPr sz="1100" b="1">
                          <a:solidFill>
                            <a:srgbClr val="FFFFFF"/>
                          </a:solidFill>
                          <a:latin typeface="Calibri"/>
                        </a:rPr>
                        <a:t>Setting</a:t>
                      </a:r>
                    </a:p>
                  </a:txBody>
                  <a:tcPr marL="45720" marR="45720" marT="18288" marB="18288">
                    <a:solidFill>
                      <a:srgbClr val="142B45"/>
                    </a:solidFill>
                  </a:tcPr>
                </a:tc>
                <a:tc>
                  <a:txBody>
                    <a:bodyPr wrap="square"/>
                    <a:lstStyle/>
                    <a:p>
                      <a:pPr algn="ctr"/>
                      <a:r>
                        <a:rPr sz="1100" b="1">
                          <a:solidFill>
                            <a:srgbClr val="FFFFFF"/>
                          </a:solidFill>
                          <a:latin typeface="Calibri"/>
                        </a:rPr>
                        <a:t>CR</a:t>
                      </a:r>
                    </a:p>
                  </a:txBody>
                  <a:tcPr marL="45720" marR="45720" marT="18288" marB="18288">
                    <a:solidFill>
                      <a:srgbClr val="142B45"/>
                    </a:solidFill>
                  </a:tcPr>
                </a:tc>
                <a:tc>
                  <a:txBody>
                    <a:bodyPr wrap="square"/>
                    <a:lstStyle/>
                    <a:p>
                      <a:pPr algn="ctr"/>
                      <a:r>
                        <a:rPr sz="1100" b="1">
                          <a:solidFill>
                            <a:srgbClr val="FFFFFF"/>
                          </a:solidFill>
                          <a:latin typeface="Calibri"/>
                        </a:rPr>
                        <a:t>data</a:t>
                      </a:r>
                    </a:p>
                  </a:txBody>
                  <a:tcPr marL="45720" marR="45720" marT="18288" marB="18288">
                    <a:solidFill>
                      <a:srgbClr val="142B45"/>
                    </a:solidFill>
                  </a:tcPr>
                </a:tc>
                <a:tc>
                  <a:txBody>
                    <a:bodyPr wrap="square"/>
                    <a:lstStyle/>
                    <a:p>
                      <a:pPr algn="ctr"/>
                      <a:r>
                        <a:rPr sz="1100" b="1">
                          <a:solidFill>
                            <a:srgbClr val="FFFFFF"/>
                          </a:solidFill>
                          <a:latin typeface="Calibri"/>
                        </a:rPr>
                        <a:t>reference</a:t>
                      </a:r>
                    </a:p>
                  </a:txBody>
                  <a:tcPr marL="45720" marR="45720" marT="18288" marB="18288">
                    <a:solidFill>
                      <a:srgbClr val="142B45"/>
                    </a:solidFill>
                  </a:tcPr>
                </a:tc>
              </a:tr>
              <a:tr h="402336">
                <a:tc>
                  <a:txBody>
                    <a:bodyPr wrap="square"/>
                    <a:lstStyle/>
                    <a:p>
                      <a:pPr algn="l"/>
                      <a:r>
                        <a:rPr sz="1100" b="1">
                          <a:solidFill>
                            <a:srgbClr val="1B1B1B"/>
                          </a:solidFill>
                          <a:latin typeface="Calibri"/>
                        </a:rPr>
                        <a:t>BFP b=8</a:t>
                      </a:r>
                    </a:p>
                  </a:txBody>
                  <a:tcPr marL="45720" marR="45720" marT="18288" marB="18288">
                    <a:solidFill>
                      <a:srgbClr val="FFFFFF"/>
                    </a:solidFill>
                  </a:tcPr>
                </a:tc>
                <a:tc>
                  <a:txBody>
                    <a:bodyPr wrap="square"/>
                    <a:lstStyle/>
                    <a:p>
                      <a:pPr algn="ctr"/>
                      <a:r>
                        <a:rPr sz="1100">
                          <a:solidFill>
                            <a:srgbClr val="1B1B1B"/>
                          </a:solidFill>
                          <a:latin typeface="Calibri"/>
                        </a:rPr>
                        <a:t>2.0x</a:t>
                      </a:r>
                    </a:p>
                  </a:txBody>
                  <a:tcPr marL="45720" marR="45720" marT="18288" marB="18288">
                    <a:solidFill>
                      <a:srgbClr val="FFFFFF"/>
                    </a:solidFill>
                  </a:tcPr>
                </a:tc>
                <a:tc>
                  <a:txBody>
                    <a:bodyPr wrap="square"/>
                    <a:lstStyle/>
                    <a:p>
                      <a:pPr algn="ctr"/>
                      <a:r>
                        <a:rPr sz="1100">
                          <a:solidFill>
                            <a:srgbClr val="1B1B1B"/>
                          </a:solidFill>
                          <a:latin typeface="Calibri"/>
                        </a:rPr>
                        <a:t>-46.4 dB</a:t>
                      </a:r>
                    </a:p>
                  </a:txBody>
                  <a:tcPr marL="45720" marR="45720" marT="18288" marB="18288">
                    <a:solidFill>
                      <a:srgbClr val="FFFFFF"/>
                    </a:solidFill>
                  </a:tcPr>
                </a:tc>
                <a:tc>
                  <a:txBody>
                    <a:bodyPr wrap="square"/>
                    <a:lstStyle/>
                    <a:p>
                      <a:pPr algn="ctr"/>
                      <a:r>
                        <a:rPr sz="1100">
                          <a:solidFill>
                            <a:srgbClr val="1B1B1B"/>
                          </a:solidFill>
                          <a:latin typeface="Calibri"/>
                        </a:rPr>
                        <a:t>-46.4 dB</a:t>
                      </a:r>
                    </a:p>
                  </a:txBody>
                  <a:tcPr marL="45720" marR="45720" marT="18288" marB="18288">
                    <a:solidFill>
                      <a:srgbClr val="FFFFFF"/>
                    </a:solidFill>
                  </a:tcPr>
                </a:tc>
              </a:tr>
              <a:tr h="402336">
                <a:tc>
                  <a:txBody>
                    <a:bodyPr wrap="square"/>
                    <a:lstStyle/>
                    <a:p>
                      <a:pPr algn="l"/>
                      <a:r>
                        <a:rPr sz="1100" b="1">
                          <a:solidFill>
                            <a:srgbClr val="1B1B1B"/>
                          </a:solidFill>
                          <a:latin typeface="Calibri"/>
                        </a:rPr>
                        <a:t>SVD r=12</a:t>
                      </a:r>
                    </a:p>
                  </a:txBody>
                  <a:tcPr marL="45720" marR="45720" marT="18288" marB="18288">
                    <a:solidFill>
                      <a:srgbClr val="F4F6F8"/>
                    </a:solidFill>
                  </a:tcPr>
                </a:tc>
                <a:tc>
                  <a:txBody>
                    <a:bodyPr wrap="square"/>
                    <a:lstStyle/>
                    <a:p>
                      <a:pPr algn="ctr"/>
                      <a:r>
                        <a:rPr sz="1100">
                          <a:solidFill>
                            <a:srgbClr val="1B1B1B"/>
                          </a:solidFill>
                          <a:latin typeface="Calibri"/>
                        </a:rPr>
                        <a:t>8.0x</a:t>
                      </a:r>
                    </a:p>
                  </a:txBody>
                  <a:tcPr marL="45720" marR="45720" marT="18288" marB="18288">
                    <a:solidFill>
                      <a:srgbClr val="F4F6F8"/>
                    </a:solidFill>
                  </a:tcPr>
                </a:tc>
                <a:tc>
                  <a:txBody>
                    <a:bodyPr wrap="square"/>
                    <a:lstStyle/>
                    <a:p>
                      <a:pPr algn="ctr"/>
                      <a:r>
                        <a:rPr sz="1100">
                          <a:solidFill>
                            <a:srgbClr val="1B1B1B"/>
                          </a:solidFill>
                          <a:latin typeface="Calibri"/>
                        </a:rPr>
                        <a:t>-20.7 dB</a:t>
                      </a:r>
                    </a:p>
                  </a:txBody>
                  <a:tcPr marL="45720" marR="45720" marT="18288" marB="18288">
                    <a:solidFill>
                      <a:srgbClr val="F4F6F8"/>
                    </a:solidFill>
                  </a:tcPr>
                </a:tc>
                <a:tc>
                  <a:txBody>
                    <a:bodyPr wrap="square"/>
                    <a:lstStyle/>
                    <a:p>
                      <a:pPr algn="ctr"/>
                      <a:r>
                        <a:rPr sz="1100">
                          <a:solidFill>
                            <a:srgbClr val="1B1B1B"/>
                          </a:solidFill>
                          <a:latin typeface="Calibri"/>
                        </a:rPr>
                        <a:t>-20.7 dB</a:t>
                      </a:r>
                    </a:p>
                  </a:txBody>
                  <a:tcPr marL="45720" marR="45720" marT="18288" marB="18288">
                    <a:solidFill>
                      <a:srgbClr val="F4F6F8"/>
                    </a:solidFill>
                  </a:tcPr>
                </a:tc>
              </a:tr>
              <a:tr h="402336">
                <a:tc>
                  <a:txBody>
                    <a:bodyPr wrap="square"/>
                    <a:lstStyle/>
                    <a:p>
                      <a:pPr algn="l"/>
                      <a:r>
                        <a:rPr sz="1100" b="1">
                          <a:solidFill>
                            <a:srgbClr val="1B1B1B"/>
                          </a:solidFill>
                          <a:latin typeface="Calibri"/>
                        </a:rPr>
                        <a:t>RAS-BFP r=12</a:t>
                      </a:r>
                    </a:p>
                  </a:txBody>
                  <a:tcPr marL="45720" marR="45720" marT="18288" marB="18288">
                    <a:solidFill>
                      <a:srgbClr val="FFFFFF"/>
                    </a:solidFill>
                  </a:tcPr>
                </a:tc>
                <a:tc>
                  <a:txBody>
                    <a:bodyPr wrap="square"/>
                    <a:lstStyle/>
                    <a:p>
                      <a:pPr algn="ctr"/>
                      <a:r>
                        <a:rPr sz="1100">
                          <a:solidFill>
                            <a:srgbClr val="1B1B1B"/>
                          </a:solidFill>
                          <a:latin typeface="Calibri"/>
                        </a:rPr>
                        <a:t>8.0x</a:t>
                      </a:r>
                    </a:p>
                  </a:txBody>
                  <a:tcPr marL="45720" marR="45720" marT="18288" marB="18288">
                    <a:solidFill>
                      <a:srgbClr val="FFFFFF"/>
                    </a:solidFill>
                  </a:tcPr>
                </a:tc>
                <a:tc>
                  <a:txBody>
                    <a:bodyPr wrap="square"/>
                    <a:lstStyle/>
                    <a:p>
                      <a:pPr algn="ctr"/>
                      <a:r>
                        <a:rPr sz="1100">
                          <a:solidFill>
                            <a:srgbClr val="1B1B1B"/>
                          </a:solidFill>
                          <a:latin typeface="Calibri"/>
                        </a:rPr>
                        <a:t>-16.7 dB</a:t>
                      </a:r>
                    </a:p>
                  </a:txBody>
                  <a:tcPr marL="45720" marR="45720" marT="18288" marB="18288">
                    <a:solidFill>
                      <a:srgbClr val="FFFFFF"/>
                    </a:solidFill>
                  </a:tcPr>
                </a:tc>
                <a:tc>
                  <a:txBody>
                    <a:bodyPr wrap="square"/>
                    <a:lstStyle/>
                    <a:p>
                      <a:pPr algn="ctr"/>
                      <a:r>
                        <a:rPr sz="1100">
                          <a:solidFill>
                            <a:srgbClr val="1B1B1B"/>
                          </a:solidFill>
                          <a:latin typeface="Calibri"/>
                        </a:rPr>
                        <a:t>-16.7 dB</a:t>
                      </a:r>
                    </a:p>
                  </a:txBody>
                  <a:tcPr marL="45720" marR="45720" marT="18288" marB="18288">
                    <a:solidFill>
                      <a:srgbClr val="FFFFFF"/>
                    </a:solidFill>
                  </a:tcPr>
                </a:tc>
              </a:tr>
              <a:tr h="402336">
                <a:tc>
                  <a:txBody>
                    <a:bodyPr wrap="square"/>
                    <a:lstStyle/>
                    <a:p>
                      <a:pPr algn="l"/>
                      <a:r>
                        <a:rPr sz="1100" b="1">
                          <a:solidFill>
                            <a:srgbClr val="1B1B1B"/>
                          </a:solidFill>
                          <a:latin typeface="Calibri"/>
                        </a:rPr>
                        <a:t>CSEE K=120</a:t>
                      </a:r>
                    </a:p>
                  </a:txBody>
                  <a:tcPr marL="45720" marR="45720" marT="18288" marB="18288">
                    <a:solidFill>
                      <a:srgbClr val="F4F6F8"/>
                    </a:solidFill>
                  </a:tcPr>
                </a:tc>
                <a:tc>
                  <a:txBody>
                    <a:bodyPr wrap="square"/>
                    <a:lstStyle/>
                    <a:p>
                      <a:pPr algn="ctr"/>
                      <a:r>
                        <a:rPr sz="1100">
                          <a:solidFill>
                            <a:srgbClr val="1B1B1B"/>
                          </a:solidFill>
                          <a:latin typeface="Calibri"/>
                        </a:rPr>
                        <a:t>15.6x</a:t>
                      </a:r>
                    </a:p>
                  </a:txBody>
                  <a:tcPr marL="45720" marR="45720" marT="18288" marB="18288">
                    <a:solidFill>
                      <a:srgbClr val="F4F6F8"/>
                    </a:solidFill>
                  </a:tcPr>
                </a:tc>
                <a:tc>
                  <a:txBody>
                    <a:bodyPr wrap="square"/>
                    <a:lstStyle/>
                    <a:p>
                      <a:pPr algn="ctr"/>
                      <a:r>
                        <a:rPr sz="1100">
                          <a:solidFill>
                            <a:srgbClr val="1B1B1B"/>
                          </a:solidFill>
                          <a:latin typeface="Calibri"/>
                        </a:rPr>
                        <a:t>-1.3 dB</a:t>
                      </a:r>
                    </a:p>
                  </a:txBody>
                  <a:tcPr marL="45720" marR="45720" marT="18288" marB="18288">
                    <a:solidFill>
                      <a:srgbClr val="F4F6F8"/>
                    </a:solidFill>
                  </a:tcPr>
                </a:tc>
                <a:tc>
                  <a:txBody>
                    <a:bodyPr wrap="square"/>
                    <a:lstStyle/>
                    <a:p>
                      <a:pPr algn="ctr"/>
                      <a:r>
                        <a:rPr sz="1100">
                          <a:solidFill>
                            <a:srgbClr val="1B1B1B"/>
                          </a:solidFill>
                          <a:latin typeface="Calibri"/>
                        </a:rPr>
                        <a:t>-19.6 dB</a:t>
                      </a:r>
                    </a:p>
                  </a:txBody>
                  <a:tcPr marL="45720" marR="45720" marT="18288" marB="18288">
                    <a:solidFill>
                      <a:srgbClr val="F4F6F8"/>
                    </a:solidFill>
                  </a:tcPr>
                </a:tc>
              </a:tr>
            </a:tbl>
          </a:graphicData>
        </a:graphic>
      </p:graphicFrame>
      <p:sp>
        <p:nvSpPr>
          <p:cNvPr id="12" name="TextBox 11"/>
          <p:cNvSpPr txBox="1"/>
          <p:nvPr/>
        </p:nvSpPr>
        <p:spPr>
          <a:xfrm>
            <a:off x="8229600" y="3566160"/>
            <a:ext cx="3657600" cy="2286000"/>
          </a:xfrm>
          <a:prstGeom prst="rect">
            <a:avLst/>
          </a:prstGeom>
          <a:noFill/>
        </p:spPr>
        <p:txBody>
          <a:bodyPr wrap="square" anchor="t" lIns="73152" rIns="73152" tIns="36576" bIns="36576">
            <a:spAutoFit/>
          </a:bodyPr>
          <a:lstStyle/>
          <a:p>
            <a:pPr algn="l">
              <a:lnSpc>
                <a:spcPct val="105000"/>
              </a:lnSpc>
              <a:spcAft>
                <a:spcPts val="400"/>
              </a:spcAft>
            </a:pPr>
            <a:r>
              <a:rPr sz="1100" b="0">
                <a:solidFill>
                  <a:srgbClr val="5D6D7E"/>
                </a:solidFill>
                <a:latin typeface="Calibri"/>
              </a:rPr>
              <a:t>• Error here = NMSE against the transported (noisy) matrix Y; lower is better.</a:t>
            </a:r>
          </a:p>
          <a:p>
            <a:pPr algn="l">
              <a:lnSpc>
                <a:spcPct val="105000"/>
              </a:lnSpc>
              <a:spcAft>
                <a:spcPts val="400"/>
              </a:spcAft>
            </a:pPr>
            <a:r>
              <a:rPr sz="1200" b="0">
                <a:solidFill>
                  <a:srgbClr val="1B1B1B"/>
                </a:solidFill>
                <a:latin typeface="Calibri"/>
              </a:rPr>
              <a:t>• CSEE: −17 to −21 dB at 6–78x on reference symbols, but about 0 dB (useless) on data symbols.</a:t>
            </a:r>
          </a:p>
          <a:p>
            <a:pPr algn="l">
              <a:lnSpc>
                <a:spcPct val="105000"/>
              </a:lnSpc>
              <a:spcAft>
                <a:spcPts val="400"/>
              </a:spcAft>
            </a:pPr>
            <a:r>
              <a:rPr sz="1200" b="0">
                <a:solidFill>
                  <a:srgbClr val="1B1B1B"/>
                </a:solidFill>
                <a:latin typeface="Calibri"/>
              </a:rPr>
              <a:t>• RAS-BFP costs 1–4 dB more than SVD for the same payload; the Thm-2 bound sits 6–10 dB above it (valid, loose).</a:t>
            </a:r>
          </a:p>
          <a:p>
            <a:pPr algn="l">
              <a:lnSpc>
                <a:spcPct val="105000"/>
              </a:lnSpc>
              <a:spcAft>
                <a:spcPts val="400"/>
              </a:spcAft>
            </a:pPr>
            <a:r>
              <a:rPr sz="1200" b="0">
                <a:solidFill>
                  <a:srgbClr val="1B1B1B"/>
                </a:solidFill>
                <a:latin typeface="Calibri"/>
              </a:rPr>
              <a:t>• Every truncating encoder flattens at −20 dB: that is the noise floor of this metric at 20 dB SNR.</a:t>
            </a:r>
          </a:p>
        </p:txBody>
      </p:sp>
      <p:sp>
        <p:nvSpPr>
          <p:cNvPr id="13" name="Rectangle 12"/>
          <p:cNvSpPr/>
          <p:nvPr/>
        </p:nvSpPr>
        <p:spPr>
          <a:xfrm>
            <a:off x="365760" y="5897880"/>
            <a:ext cx="11460175" cy="54864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142B45"/>
                </a:solidFill>
                <a:latin typeface="Calibri"/>
              </a:rPr>
              <a:t>CSEE compresses channel (reference-symbol) matrices, not general data; low-rank methods (SVD, RAS-BFP) work for both.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Results 2–3 — encoding time, and two ways to measure error</a:t>
            </a:r>
          </a:p>
        </p:txBody>
      </p:sp>
      <p:sp>
        <p:nvSpPr>
          <p:cNvPr id="4" name="Rectangle 3"/>
          <p:cNvSpPr/>
          <p:nvPr/>
        </p:nvSpPr>
        <p:spPr>
          <a:xfrm>
            <a:off x="10332720" y="246888"/>
            <a:ext cx="1554480" cy="384048"/>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[new]</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Exp2: Python medians of 7 runs, N=1200 · Exp4: reference symbols, settings at CR ≈ 8x, 12 realisations</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Evidence</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10</a:t>
            </a:r>
          </a:p>
        </p:txBody>
      </p:sp>
      <p:pic>
        <p:nvPicPr>
          <p:cNvPr id="10" name="Picture 9" descr="exp2_complexity.png"/>
          <p:cNvPicPr>
            <a:picLocks noChangeAspect="1"/>
          </p:cNvPicPr>
          <p:nvPr/>
        </p:nvPicPr>
        <p:blipFill>
          <a:blip r:embed="rId2"/>
          <a:stretch>
            <a:fillRect/>
          </a:stretch>
        </p:blipFill>
        <p:spPr>
          <a:xfrm>
            <a:off x="274320" y="1370541"/>
            <a:ext cx="4846320" cy="3293958"/>
          </a:xfrm>
          <a:prstGeom prst="rect">
            <a:avLst/>
          </a:prstGeom>
        </p:spPr>
      </p:pic>
      <p:pic>
        <p:nvPicPr>
          <p:cNvPr id="11" name="Picture 10" descr="exp4_snr_sweep.png"/>
          <p:cNvPicPr>
            <a:picLocks noChangeAspect="1"/>
          </p:cNvPicPr>
          <p:nvPr/>
        </p:nvPicPr>
        <p:blipFill>
          <a:blip r:embed="rId3"/>
          <a:stretch>
            <a:fillRect/>
          </a:stretch>
        </p:blipFill>
        <p:spPr>
          <a:xfrm>
            <a:off x="5120640" y="1706548"/>
            <a:ext cx="6858000" cy="2621944"/>
          </a:xfrm>
          <a:prstGeom prst="rect">
            <a:avLst/>
          </a:prstGeom>
        </p:spPr>
      </p:pic>
      <p:sp>
        <p:nvSpPr>
          <p:cNvPr id="12" name="TextBox 11"/>
          <p:cNvSpPr txBox="1"/>
          <p:nvPr/>
        </p:nvSpPr>
        <p:spPr>
          <a:xfrm>
            <a:off x="365760" y="4754880"/>
            <a:ext cx="4754880" cy="1005840"/>
          </a:xfrm>
          <a:prstGeom prst="rect">
            <a:avLst/>
          </a:prstGeom>
          <a:noFill/>
        </p:spPr>
        <p:txBody>
          <a:bodyPr wrap="square" anchor="t" lIns="73152" rIns="73152" tIns="36576" bIns="36576">
            <a:spAutoFit/>
          </a:bodyPr>
          <a:lstStyle/>
          <a:p>
            <a:pPr algn="l">
              <a:lnSpc>
                <a:spcPct val="105000"/>
              </a:lnSpc>
              <a:spcAft>
                <a:spcPts val="400"/>
              </a:spcAft>
            </a:pPr>
            <a:r>
              <a:rPr sz="1100" b="1">
                <a:solidFill>
                  <a:srgbClr val="1B1B1B"/>
                </a:solidFill>
                <a:latin typeface="Calibri"/>
              </a:rPr>
              <a:t>M=64: BFP 0.66 ms · CSEE 0.58 ms · RAS-BFP 2.6 ms · thin SVD 12.6 ms</a:t>
            </a:r>
          </a:p>
          <a:p>
            <a:pPr algn="l">
              <a:lnSpc>
                <a:spcPct val="105000"/>
              </a:lnSpc>
              <a:spcAft>
                <a:spcPts val="400"/>
              </a:spcAft>
            </a:pPr>
            <a:r>
              <a:rPr sz="1000" b="0">
                <a:solidFill>
                  <a:srgbClr val="5D6D7E"/>
                </a:solidFill>
                <a:latin typeface="Calibri"/>
              </a:rPr>
              <a:t>Randomised SVD is ≈5x faster than the thin SVD at M=64 and ≈7x at M=128 (the old figure said ~100x, against a full SVD)</a:t>
            </a:r>
          </a:p>
        </p:txBody>
      </p:sp>
      <p:sp>
        <p:nvSpPr>
          <p:cNvPr id="13" name="TextBox 12"/>
          <p:cNvSpPr txBox="1"/>
          <p:nvPr/>
        </p:nvSpPr>
        <p:spPr>
          <a:xfrm>
            <a:off x="5212080" y="4754880"/>
            <a:ext cx="6675120" cy="1005840"/>
          </a:xfrm>
          <a:prstGeom prst="rect">
            <a:avLst/>
          </a:prstGeom>
          <a:noFill/>
        </p:spPr>
        <p:txBody>
          <a:bodyPr wrap="square" anchor="t" lIns="73152" rIns="73152" tIns="36576" bIns="36576">
            <a:spAutoFit/>
          </a:bodyPr>
          <a:lstStyle/>
          <a:p>
            <a:pPr algn="l">
              <a:lnSpc>
                <a:spcPct val="105000"/>
              </a:lnSpc>
              <a:spcAft>
                <a:spcPts val="400"/>
              </a:spcAft>
            </a:pPr>
            <a:r>
              <a:rPr sz="1000" b="0">
                <a:solidFill>
                  <a:srgbClr val="1B1B1B"/>
                </a:solidFill>
                <a:latin typeface="Calibri"/>
              </a:rPr>
              <a:t>(a) against noisy Y: truncating encoders follow the −SNR line. (b) against clean H: at 0 dB SNR the raw matrix is at 0 dB, CSEE at -9 dB, SVD at -6 dB — the decompositions remove noise.</a:t>
            </a:r>
          </a:p>
          <a:p>
            <a:pPr algn="l">
              <a:lnSpc>
                <a:spcPct val="105000"/>
              </a:lnSpc>
              <a:spcAft>
                <a:spcPts val="400"/>
              </a:spcAft>
            </a:pPr>
            <a:r>
              <a:rPr sz="1000" b="0">
                <a:solidFill>
                  <a:srgbClr val="1B1B1B"/>
                </a:solidFill>
                <a:latin typeface="Calibri"/>
              </a:rPr>
              <a:t>At 30 dB: SVD -34, CSEE -27, RAS-BFP -26, BFP b=4 -21 dB. CSEE on data symbols (dashed) stays at ≈ −1 dB.</a:t>
            </a:r>
          </a:p>
        </p:txBody>
      </p:sp>
      <p:sp>
        <p:nvSpPr>
          <p:cNvPr id="14" name="Rectangle 13"/>
          <p:cNvSpPr/>
          <p:nvPr/>
        </p:nvSpPr>
        <p:spPr>
          <a:xfrm>
            <a:off x="365760" y="5897880"/>
            <a:ext cx="11460175" cy="54864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142B45"/>
                </a:solidFill>
                <a:latin typeface="Calibri"/>
              </a:rPr>
              <a:t>'Stable across SNR' in the old report was an artefact of the metric. Against the clean channel, the decompositions act as denoisers at low SNR.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Result 4 — send only as many streams as the rank (ACAFS, Exp3)</a:t>
            </a:r>
          </a:p>
        </p:txBody>
      </p:sp>
      <p:sp>
        <p:nvSpPr>
          <p:cNvPr id="4" name="Rectangle 3"/>
          <p:cNvSpPr/>
          <p:nvPr/>
        </p:nvSpPr>
        <p:spPr>
          <a:xfrm>
            <a:off x="10332720" y="246888"/>
            <a:ext cx="1554480"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[fix]</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M=64, N=1200, 20 realisations per SNR; rank = number of eigenvalues of Y Yᴴ holding 99 % of the energy</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Evidence</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11</a:t>
            </a:r>
          </a:p>
        </p:txBody>
      </p:sp>
      <p:pic>
        <p:nvPicPr>
          <p:cNvPr id="10" name="Picture 9" descr="exp3_acafs.png"/>
          <p:cNvPicPr>
            <a:picLocks noChangeAspect="1"/>
          </p:cNvPicPr>
          <p:nvPr/>
        </p:nvPicPr>
        <p:blipFill>
          <a:blip r:embed="rId2"/>
          <a:stretch>
            <a:fillRect/>
          </a:stretch>
        </p:blipFill>
        <p:spPr>
          <a:xfrm>
            <a:off x="274320" y="1681575"/>
            <a:ext cx="7589520" cy="3129090"/>
          </a:xfrm>
          <a:prstGeom prst="rect">
            <a:avLst/>
          </a:prstGeom>
        </p:spPr>
      </p:pic>
      <p:sp>
        <p:nvSpPr>
          <p:cNvPr id="11" name="TextBox 10"/>
          <p:cNvSpPr txBox="1"/>
          <p:nvPr/>
        </p:nvSpPr>
        <p:spPr>
          <a:xfrm>
            <a:off x="7955279" y="1371600"/>
            <a:ext cx="4023360" cy="4114800"/>
          </a:xfrm>
          <a:prstGeom prst="rect">
            <a:avLst/>
          </a:prstGeom>
          <a:noFill/>
        </p:spPr>
        <p:txBody>
          <a:bodyPr wrap="square" anchor="t" lIns="73152" rIns="73152" tIns="36576" bIns="36576">
            <a:spAutoFit/>
          </a:bodyPr>
          <a:lstStyle/>
          <a:p>
            <a:pPr algn="l">
              <a:lnSpc>
                <a:spcPct val="105000"/>
              </a:lnSpc>
              <a:spcAft>
                <a:spcPts val="400"/>
              </a:spcAft>
            </a:pPr>
            <a:r>
              <a:rPr sz="1400" b="1">
                <a:solidFill>
                  <a:srgbClr val="142B45"/>
                </a:solidFill>
                <a:latin typeface="Calibri"/>
              </a:rPr>
              <a:t>• Corrected cost model (3GPP TR 38.801 / O-RAN)</a:t>
            </a:r>
          </a:p>
          <a:p>
            <a:pPr algn="l">
              <a:lnSpc>
                <a:spcPct val="105000"/>
              </a:lnSpc>
              <a:spcAft>
                <a:spcPts val="400"/>
              </a:spcAft>
            </a:pPr>
            <a:r>
              <a:rPr sz="1200" b="0">
                <a:solidFill>
                  <a:srgbClr val="1B1B1B"/>
                </a:solidFill>
                <a:latin typeface="Calibri"/>
              </a:rPr>
              <a:t>• all antennas (split 7.1 / 7.2x-A): 2MNb bits — the reference</a:t>
            </a:r>
          </a:p>
          <a:p>
            <a:pPr algn="l">
              <a:lnSpc>
                <a:spcPct val="105000"/>
              </a:lnSpc>
              <a:spcAft>
                <a:spcPts val="400"/>
              </a:spcAft>
            </a:pPr>
            <a:r>
              <a:rPr sz="1200" b="0">
                <a:solidFill>
                  <a:srgbClr val="1B1B1B"/>
                </a:solidFill>
                <a:latin typeface="Calibri"/>
              </a:rPr>
              <a:t>• r streams (7.2x-B beam-space): 2rNb + weights</a:t>
            </a:r>
          </a:p>
          <a:p>
            <a:pPr algn="l">
              <a:lnSpc>
                <a:spcPct val="105000"/>
              </a:lnSpc>
              <a:spcAft>
                <a:spcPts val="400"/>
              </a:spcAft>
            </a:pPr>
            <a:r>
              <a:rPr sz="1200" b="0">
                <a:solidFill>
                  <a:srgbClr val="1B1B1B"/>
                </a:solidFill>
                <a:latin typeface="Calibri"/>
              </a:rPr>
              <a:t>• split 6 (decoded bits): r·N·6 bits → ≈20x cheaper, but the RU must run the whole uplink receiver</a:t>
            </a:r>
          </a:p>
          <a:p>
            <a:pPr algn="l">
              <a:lnSpc>
                <a:spcPct val="105000"/>
              </a:lnSpc>
              <a:spcAft>
                <a:spcPts val="400"/>
              </a:spcAft>
            </a:pPr>
            <a:r>
              <a:rPr sz="1200" b="0">
                <a:solidFill>
                  <a:srgbClr val="1B1B1B"/>
                </a:solidFill>
                <a:latin typeface="Calibri"/>
              </a:rPr>
              <a:t>• Rule: if rank/M &lt; 0.55 → send max(rank, 10) streams; else split 6 if the RU has the compute, else all antennas.</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200" b="1">
                <a:solidFill>
                  <a:srgbClr val="1B1B1B"/>
                </a:solidFill>
                <a:latin typeface="Calibri"/>
              </a:rPr>
              <a:t>• Streams only: 0 % saving below 15 dB → 83 % at 20 dB (mean rank 11).</a:t>
            </a:r>
          </a:p>
          <a:p>
            <a:pPr algn="l">
              <a:lnSpc>
                <a:spcPct val="105000"/>
              </a:lnSpc>
              <a:spcAft>
                <a:spcPts val="400"/>
              </a:spcAft>
            </a:pPr>
            <a:r>
              <a:rPr sz="1200" b="0">
                <a:solidFill>
                  <a:srgbClr val="1B1B1B"/>
                </a:solidFill>
                <a:latin typeface="Calibri"/>
              </a:rPr>
              <a:t>• Fast rank estimate (1/8 of the subcarriers): 31 % less time, but under-estimates the rank by up to 10 at 10–17 dB → the 10-stream floor protects against it.</a:t>
            </a:r>
          </a:p>
          <a:p>
            <a:pPr algn="l">
              <a:lnSpc>
                <a:spcPct val="105000"/>
              </a:lnSpc>
              <a:spcAft>
                <a:spcPts val="400"/>
              </a:spcAft>
            </a:pPr>
            <a:r>
              <a:rPr sz="1200" b="0">
                <a:solidFill>
                  <a:srgbClr val="5D6D7E"/>
                </a:solidFill>
                <a:latin typeface="Calibri"/>
              </a:rPr>
              <a:t>• Prop. 5 (assumes every rank equally likely): 38 % streams-only, 77 % with split 6 — a prediction, not a bound.</a:t>
            </a:r>
          </a:p>
        </p:txBody>
      </p:sp>
      <p:sp>
        <p:nvSpPr>
          <p:cNvPr id="12" name="Rectangle 11"/>
          <p:cNvSpPr/>
          <p:nvPr/>
        </p:nvSpPr>
        <p:spPr>
          <a:xfrm>
            <a:off x="365760" y="5897880"/>
            <a:ext cx="11460175" cy="548640"/>
          </a:xfrm>
          <a:prstGeom prst="rect">
            <a:avLst/>
          </a:prstGeom>
          <a:solidFill>
            <a:srgbClr val="F4F6F8"/>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C0392B"/>
                </a:solidFill>
                <a:latin typeface="Calibri"/>
              </a:rPr>
              <a:t>The old 'saving vs split 6' figure had the costs upside down. Savings come from the rank collapsing at high SNR, and from whether the RU may host split 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Result 5 — sharing one link between 8 RUs (Exp5)</a:t>
            </a:r>
          </a:p>
        </p:txBody>
      </p:sp>
      <p:sp>
        <p:nvSpPr>
          <p:cNvPr id="4" name="Rectangle 3"/>
          <p:cNvSpPr/>
          <p:nvPr/>
        </p:nvSpPr>
        <p:spPr>
          <a:xfrm>
            <a:off x="10332720" y="246888"/>
            <a:ext cx="1554480" cy="384048"/>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[new]</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RU SNRs {0,5,10,15,20,25,30,20} dB · menu of 11 K × 6 b = 66 CSEE settings · 5 seeds · reference symbols</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Evidence</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12</a:t>
            </a:r>
          </a:p>
        </p:txBody>
      </p:sp>
      <p:pic>
        <p:nvPicPr>
          <p:cNvPr id="10" name="Picture 9" descr="exp5_allocation.png"/>
          <p:cNvPicPr>
            <a:picLocks noChangeAspect="1"/>
          </p:cNvPicPr>
          <p:nvPr/>
        </p:nvPicPr>
        <p:blipFill>
          <a:blip r:embed="rId2"/>
          <a:stretch>
            <a:fillRect/>
          </a:stretch>
        </p:blipFill>
        <p:spPr>
          <a:xfrm>
            <a:off x="539304" y="1325880"/>
            <a:ext cx="6419471" cy="4572000"/>
          </a:xfrm>
          <a:prstGeom prst="rect">
            <a:avLst/>
          </a:prstGeom>
        </p:spPr>
      </p:pic>
      <p:sp>
        <p:nvSpPr>
          <p:cNvPr id="11" name="TextBox 10"/>
          <p:cNvSpPr txBox="1"/>
          <p:nvPr/>
        </p:nvSpPr>
        <p:spPr>
          <a:xfrm>
            <a:off x="7315200" y="1280160"/>
            <a:ext cx="4663440" cy="4480560"/>
          </a:xfrm>
          <a:prstGeom prst="rect">
            <a:avLst/>
          </a:prstGeom>
          <a:noFill/>
        </p:spPr>
        <p:txBody>
          <a:bodyPr wrap="square" anchor="t" lIns="73152" rIns="73152" tIns="36576" bIns="36576">
            <a:spAutoFit/>
          </a:bodyPr>
          <a:lstStyle/>
          <a:p>
            <a:pPr algn="l">
              <a:lnSpc>
                <a:spcPct val="105000"/>
              </a:lnSpc>
              <a:spcAft>
                <a:spcPts val="400"/>
              </a:spcAft>
            </a:pPr>
            <a:r>
              <a:rPr sz="1400" b="1">
                <a:solidFill>
                  <a:srgbClr val="142B45"/>
                </a:solidFill>
                <a:latin typeface="Calibri"/>
              </a:rPr>
              <a:t>• Policies compared</a:t>
            </a:r>
          </a:p>
          <a:p>
            <a:pPr algn="l">
              <a:lnSpc>
                <a:spcPct val="105000"/>
              </a:lnSpc>
              <a:spcAft>
                <a:spcPts val="400"/>
              </a:spcAft>
            </a:pPr>
            <a:r>
              <a:rPr sz="1100" b="0">
                <a:solidFill>
                  <a:srgbClr val="1B1B1B"/>
                </a:solidFill>
                <a:latin typeface="Calibri"/>
              </a:rPr>
              <a:t>• uniform-CSEE / uniform-BFP: same setting for every RU (today's static configuration)</a:t>
            </a:r>
          </a:p>
          <a:p>
            <a:pPr algn="l">
              <a:lnSpc>
                <a:spcPct val="105000"/>
              </a:lnSpc>
              <a:spcAft>
                <a:spcPts val="400"/>
              </a:spcAft>
            </a:pPr>
            <a:r>
              <a:rPr sz="1100" b="0">
                <a:solidFill>
                  <a:srgbClr val="1B1B1B"/>
                </a:solidFill>
                <a:latin typeface="Calibri"/>
              </a:rPr>
              <a:t>• greedy-sum / greedy-max: proposed; decides from Prop.-1 predictions only</a:t>
            </a:r>
          </a:p>
          <a:p>
            <a:pPr algn="l">
              <a:lnSpc>
                <a:spcPct val="105000"/>
              </a:lnSpc>
              <a:spcAft>
                <a:spcPts val="400"/>
              </a:spcAft>
            </a:pPr>
            <a:r>
              <a:rPr sz="1100" b="0">
                <a:solidFill>
                  <a:srgbClr val="1B1B1B"/>
                </a:solidFill>
                <a:latin typeface="Calibri"/>
              </a:rPr>
              <a:t>• greedy-clean: proposed; noise-aware objective (error of the signal, not of the noise)</a:t>
            </a:r>
          </a:p>
          <a:p>
            <a:pPr algn="l">
              <a:lnSpc>
                <a:spcPct val="105000"/>
              </a:lnSpc>
              <a:spcAft>
                <a:spcPts val="400"/>
              </a:spcAft>
            </a:pPr>
            <a:r>
              <a:rPr sz="1100" b="0">
                <a:solidFill>
                  <a:srgbClr val="1B1B1B"/>
                </a:solidFill>
                <a:latin typeface="Calibri"/>
              </a:rPr>
              <a:t>• oracle: greedy on measured error — encodes every option first (ablation)</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400" b="1">
                <a:solidFill>
                  <a:srgbClr val="142B45"/>
                </a:solidFill>
                <a:latin typeface="Calibri"/>
              </a:rPr>
              <a:t>• What the panels show</a:t>
            </a:r>
          </a:p>
          <a:p>
            <a:pPr algn="l">
              <a:lnSpc>
                <a:spcPct val="105000"/>
              </a:lnSpc>
              <a:spcAft>
                <a:spcPts val="400"/>
              </a:spcAft>
            </a:pPr>
            <a:r>
              <a:rPr sz="1100" b="0">
                <a:solidFill>
                  <a:srgbClr val="1B1B1B"/>
                </a:solidFill>
                <a:latin typeface="Calibri"/>
              </a:rPr>
              <a:t>• (a) vs Y: greedy is within 0.5 dB of the oracle everywhere; 2.5 dB better than uniform at 27.5 Gbps, 6.2 dB at 55 Gbps; uniform-BFP does not fit below 55 Gbps (RUs dropped)</a:t>
            </a:r>
          </a:p>
          <a:p>
            <a:pPr algn="l">
              <a:lnSpc>
                <a:spcPct val="105000"/>
              </a:lnSpc>
              <a:spcAft>
                <a:spcPts val="400"/>
              </a:spcAft>
            </a:pPr>
            <a:r>
              <a:rPr sz="1100" b="0">
                <a:solidFill>
                  <a:srgbClr val="1B1B1B"/>
                </a:solidFill>
                <a:latin typeface="Calibri"/>
              </a:rPr>
              <a:t>• (b) vs H: greedy-sum spends bits on reproducing noise in the low-SNR RUs; the noise-aware objective is 6.2 dB better at 27.5 Gbps</a:t>
            </a:r>
          </a:p>
          <a:p>
            <a:pPr algn="l">
              <a:lnSpc>
                <a:spcPct val="105000"/>
              </a:lnSpc>
              <a:spcAft>
                <a:spcPts val="400"/>
              </a:spcAft>
            </a:pPr>
            <a:r>
              <a:rPr sz="1100" b="0">
                <a:solidFill>
                  <a:srgbClr val="1B1B1B"/>
                </a:solidFill>
                <a:latin typeface="Calibri"/>
              </a:rPr>
              <a:t>• (c) min-max objective: worst RU up to 2.2 dB better (27.5 Gbps) at a 0.7–2.6 dB cost in the mean</a:t>
            </a:r>
          </a:p>
          <a:p>
            <a:pPr algn="l">
              <a:lnSpc>
                <a:spcPct val="105000"/>
              </a:lnSpc>
              <a:spcAft>
                <a:spcPts val="400"/>
              </a:spcAft>
            </a:pPr>
            <a:r>
              <a:rPr sz="1100" b="0">
                <a:solidFill>
                  <a:srgbClr val="1B1B1B"/>
                </a:solidFill>
                <a:latin typeface="Calibri"/>
              </a:rPr>
              <a:t>• (d) the noise-aware policy uses only 25 % of the link at 138 Gbps — more bits would only copy noise</a:t>
            </a:r>
          </a:p>
        </p:txBody>
      </p:sp>
      <p:sp>
        <p:nvSpPr>
          <p:cNvPr id="12" name="Rectangle 11"/>
          <p:cNvSpPr/>
          <p:nvPr/>
        </p:nvSpPr>
        <p:spPr>
          <a:xfrm>
            <a:off x="365760" y="5897880"/>
            <a:ext cx="11460175" cy="54864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142B45"/>
                </a:solidFill>
                <a:latin typeface="Calibri"/>
              </a:rPr>
              <a:t>Predicting the error is enough to allocate as well as encoding everything. The objective matters: minimise loss of signal, not loss of noise.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Result 6 — how much does one matrix inversion cost?</a:t>
            </a:r>
          </a:p>
        </p:txBody>
      </p:sp>
      <p:sp>
        <p:nvSpPr>
          <p:cNvPr id="4" name="Rectangle 3"/>
          <p:cNvSpPr/>
          <p:nvPr/>
        </p:nvSpPr>
        <p:spPr>
          <a:xfrm>
            <a:off x="10332720" y="246888"/>
            <a:ext cx="1554480" cy="384048"/>
          </a:xfrm>
          <a:prstGeom prst="rect">
            <a:avLst/>
          </a:prstGeom>
          <a:solidFill>
            <a:srgbClr val="5D6D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[repo]</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Why it matters: MMSE equalisation and channel estimation invert a matrix per resource-block group every slot; split 6 puts that inside the RU</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Evidence</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13</a:t>
            </a:r>
          </a:p>
        </p:txBody>
      </p:sp>
      <p:pic>
        <p:nvPicPr>
          <p:cNvPr id="10" name="Picture 9" descr="inference_time.png"/>
          <p:cNvPicPr>
            <a:picLocks noChangeAspect="1"/>
          </p:cNvPicPr>
          <p:nvPr/>
        </p:nvPicPr>
        <p:blipFill>
          <a:blip r:embed="rId2"/>
          <a:stretch>
            <a:fillRect/>
          </a:stretch>
        </p:blipFill>
        <p:spPr>
          <a:xfrm>
            <a:off x="299258" y="1325880"/>
            <a:ext cx="5985163" cy="3657599"/>
          </a:xfrm>
          <a:prstGeom prst="rect">
            <a:avLst/>
          </a:prstGeom>
        </p:spPr>
      </p:pic>
      <p:graphicFrame>
        <p:nvGraphicFramePr>
          <p:cNvPr id="11" name="Table 10"/>
          <p:cNvGraphicFramePr>
            <a:graphicFrameLocks noGrp="1"/>
          </p:cNvGraphicFramePr>
          <p:nvPr/>
        </p:nvGraphicFramePr>
        <p:xfrm>
          <a:off x="6492240" y="1371600"/>
          <a:ext cx="5394958" cy="1554480"/>
        </p:xfrm>
        <a:graphic>
          <a:graphicData uri="http://schemas.openxmlformats.org/drawingml/2006/table">
            <a:tbl>
              <a:tblPr firstRow="1" bandRow="1">
                <a:tableStyleId>{5C22544A-7EE6-4342-B048-85BDC9FD1C3A}</a:tableStyleId>
              </a:tblPr>
              <a:tblGrid>
                <a:gridCol w="390939"/>
                <a:gridCol w="1720132"/>
                <a:gridCol w="1172817"/>
                <a:gridCol w="938253"/>
                <a:gridCol w="1172817"/>
              </a:tblGrid>
              <a:tr h="388620">
                <a:tc>
                  <a:txBody>
                    <a:bodyPr wrap="square"/>
                    <a:lstStyle/>
                    <a:p>
                      <a:pPr algn="l"/>
                      <a:r>
                        <a:rPr sz="1100" b="1">
                          <a:solidFill>
                            <a:srgbClr val="FFFFFF"/>
                          </a:solidFill>
                          <a:latin typeface="Calibri"/>
                        </a:rPr>
                        <a:t>n</a:t>
                      </a:r>
                    </a:p>
                  </a:txBody>
                  <a:tcPr marL="45720" marR="45720" marT="18288" marB="18288">
                    <a:solidFill>
                      <a:srgbClr val="142B45"/>
                    </a:solidFill>
                  </a:tcPr>
                </a:tc>
                <a:tc>
                  <a:txBody>
                    <a:bodyPr wrap="square"/>
                    <a:lstStyle/>
                    <a:p>
                      <a:pPr algn="ctr"/>
                      <a:r>
                        <a:rPr sz="1100" b="1">
                          <a:solidFill>
                            <a:srgbClr val="FFFFFF"/>
                          </a:solidFill>
                          <a:latin typeface="Calibri"/>
                        </a:rPr>
                        <a:t>LAPACK LU (numpy.linalg.inv)</a:t>
                      </a:r>
                    </a:p>
                  </a:txBody>
                  <a:tcPr marL="45720" marR="45720" marT="18288" marB="18288">
                    <a:solidFill>
                      <a:srgbClr val="142B45"/>
                    </a:solidFill>
                  </a:tcPr>
                </a:tc>
                <a:tc>
                  <a:txBody>
                    <a:bodyPr wrap="square"/>
                    <a:lstStyle/>
                    <a:p>
                      <a:pPr algn="ctr"/>
                      <a:r>
                        <a:rPr sz="1100" b="1">
                          <a:solidFill>
                            <a:srgbClr val="FFFFFF"/>
                          </a:solidFill>
                          <a:latin typeface="Calibri"/>
                        </a:rPr>
                        <a:t>Newton–Schulz</a:t>
                      </a:r>
                    </a:p>
                  </a:txBody>
                  <a:tcPr marL="45720" marR="45720" marT="18288" marB="18288">
                    <a:solidFill>
                      <a:srgbClr val="142B45"/>
                    </a:solidFill>
                  </a:tcPr>
                </a:tc>
                <a:tc>
                  <a:txBody>
                    <a:bodyPr wrap="square"/>
                    <a:lstStyle/>
                    <a:p>
                      <a:pPr algn="ctr"/>
                      <a:r>
                        <a:rPr sz="1100" b="1">
                          <a:solidFill>
                            <a:srgbClr val="FFFFFF"/>
                          </a:solidFill>
                          <a:latin typeface="Calibri"/>
                        </a:rPr>
                        <a:t>thin SVD</a:t>
                      </a:r>
                    </a:p>
                  </a:txBody>
                  <a:tcPr marL="45720" marR="45720" marT="18288" marB="18288">
                    <a:solidFill>
                      <a:srgbClr val="142B45"/>
                    </a:solidFill>
                  </a:tcPr>
                </a:tc>
                <a:tc>
                  <a:txBody>
                    <a:bodyPr wrap="square"/>
                    <a:lstStyle/>
                    <a:p>
                      <a:pPr algn="ctr"/>
                      <a:r>
                        <a:rPr sz="1100" b="1">
                          <a:solidFill>
                            <a:srgbClr val="FFFFFF"/>
                          </a:solidFill>
                          <a:latin typeface="Calibri"/>
                        </a:rPr>
                        <a:t>Gauss–Jordan</a:t>
                      </a:r>
                    </a:p>
                  </a:txBody>
                  <a:tcPr marL="45720" marR="45720" marT="18288" marB="18288">
                    <a:solidFill>
                      <a:srgbClr val="142B45"/>
                    </a:solidFill>
                  </a:tcPr>
                </a:tc>
              </a:tr>
              <a:tr h="388620">
                <a:tc>
                  <a:txBody>
                    <a:bodyPr wrap="square"/>
                    <a:lstStyle/>
                    <a:p>
                      <a:pPr algn="l"/>
                      <a:r>
                        <a:rPr sz="1100">
                          <a:solidFill>
                            <a:srgbClr val="1B1B1B"/>
                          </a:solidFill>
                          <a:latin typeface="Calibri"/>
                        </a:rPr>
                        <a:t>10</a:t>
                      </a:r>
                    </a:p>
                  </a:txBody>
                  <a:tcPr marL="45720" marR="45720" marT="18288" marB="18288">
                    <a:solidFill>
                      <a:srgbClr val="FFFFFF"/>
                    </a:solidFill>
                  </a:tcPr>
                </a:tc>
                <a:tc>
                  <a:txBody>
                    <a:bodyPr wrap="square"/>
                    <a:lstStyle/>
                    <a:p>
                      <a:pPr algn="ctr"/>
                      <a:r>
                        <a:rPr sz="1100">
                          <a:solidFill>
                            <a:srgbClr val="1B1B1B"/>
                          </a:solidFill>
                          <a:latin typeface="Calibri"/>
                        </a:rPr>
                        <a:t>0.00581 ms</a:t>
                      </a:r>
                    </a:p>
                  </a:txBody>
                  <a:tcPr marL="45720" marR="45720" marT="18288" marB="18288">
                    <a:solidFill>
                      <a:srgbClr val="FFFFFF"/>
                    </a:solidFill>
                  </a:tcPr>
                </a:tc>
                <a:tc>
                  <a:txBody>
                    <a:bodyPr wrap="square"/>
                    <a:lstStyle/>
                    <a:p>
                      <a:pPr algn="ctr"/>
                      <a:r>
                        <a:rPr sz="1100">
                          <a:solidFill>
                            <a:srgbClr val="1B1B1B"/>
                          </a:solidFill>
                          <a:latin typeface="Calibri"/>
                        </a:rPr>
                        <a:t>0.0423 ms</a:t>
                      </a:r>
                    </a:p>
                  </a:txBody>
                  <a:tcPr marL="45720" marR="45720" marT="18288" marB="18288">
                    <a:solidFill>
                      <a:srgbClr val="FFFFFF"/>
                    </a:solidFill>
                  </a:tcPr>
                </a:tc>
                <a:tc>
                  <a:txBody>
                    <a:bodyPr wrap="square"/>
                    <a:lstStyle/>
                    <a:p>
                      <a:pPr algn="ctr"/>
                      <a:r>
                        <a:rPr sz="1100">
                          <a:solidFill>
                            <a:srgbClr val="1B1B1B"/>
                          </a:solidFill>
                          <a:latin typeface="Calibri"/>
                        </a:rPr>
                        <a:t>0.021 ms</a:t>
                      </a:r>
                    </a:p>
                  </a:txBody>
                  <a:tcPr marL="45720" marR="45720" marT="18288" marB="18288">
                    <a:solidFill>
                      <a:srgbClr val="FFFFFF"/>
                    </a:solidFill>
                  </a:tcPr>
                </a:tc>
                <a:tc>
                  <a:txBody>
                    <a:bodyPr wrap="square"/>
                    <a:lstStyle/>
                    <a:p>
                      <a:pPr algn="ctr"/>
                      <a:r>
                        <a:rPr sz="1100">
                          <a:solidFill>
                            <a:srgbClr val="1B1B1B"/>
                          </a:solidFill>
                          <a:latin typeface="Calibri"/>
                        </a:rPr>
                        <a:t>0.0439 ms</a:t>
                      </a:r>
                    </a:p>
                  </a:txBody>
                  <a:tcPr marL="45720" marR="45720" marT="18288" marB="18288">
                    <a:solidFill>
                      <a:srgbClr val="FFFFFF"/>
                    </a:solidFill>
                  </a:tcPr>
                </a:tc>
              </a:tr>
              <a:tr h="388620">
                <a:tc>
                  <a:txBody>
                    <a:bodyPr wrap="square"/>
                    <a:lstStyle/>
                    <a:p>
                      <a:pPr algn="l"/>
                      <a:r>
                        <a:rPr sz="1100">
                          <a:solidFill>
                            <a:srgbClr val="1B1B1B"/>
                          </a:solidFill>
                          <a:latin typeface="Calibri"/>
                        </a:rPr>
                        <a:t>100</a:t>
                      </a:r>
                    </a:p>
                  </a:txBody>
                  <a:tcPr marL="45720" marR="45720" marT="18288" marB="18288">
                    <a:solidFill>
                      <a:srgbClr val="F4F6F8"/>
                    </a:solidFill>
                  </a:tcPr>
                </a:tc>
                <a:tc>
                  <a:txBody>
                    <a:bodyPr wrap="square"/>
                    <a:lstStyle/>
                    <a:p>
                      <a:pPr algn="ctr"/>
                      <a:r>
                        <a:rPr sz="1100">
                          <a:solidFill>
                            <a:srgbClr val="1B1B1B"/>
                          </a:solidFill>
                          <a:latin typeface="Calibri"/>
                        </a:rPr>
                        <a:t>0.138 ms</a:t>
                      </a:r>
                    </a:p>
                  </a:txBody>
                  <a:tcPr marL="45720" marR="45720" marT="18288" marB="18288">
                    <a:solidFill>
                      <a:srgbClr val="F4F6F8"/>
                    </a:solidFill>
                  </a:tcPr>
                </a:tc>
                <a:tc>
                  <a:txBody>
                    <a:bodyPr wrap="square"/>
                    <a:lstStyle/>
                    <a:p>
                      <a:pPr algn="ctr"/>
                      <a:r>
                        <a:rPr sz="1100">
                          <a:solidFill>
                            <a:srgbClr val="1B1B1B"/>
                          </a:solidFill>
                          <a:latin typeface="Calibri"/>
                        </a:rPr>
                        <a:t>0.403 ms</a:t>
                      </a:r>
                    </a:p>
                  </a:txBody>
                  <a:tcPr marL="45720" marR="45720" marT="18288" marB="18288">
                    <a:solidFill>
                      <a:srgbClr val="F4F6F8"/>
                    </a:solidFill>
                  </a:tcPr>
                </a:tc>
                <a:tc>
                  <a:txBody>
                    <a:bodyPr wrap="square"/>
                    <a:lstStyle/>
                    <a:p>
                      <a:pPr algn="ctr"/>
                      <a:r>
                        <a:rPr sz="1100">
                          <a:solidFill>
                            <a:srgbClr val="1B1B1B"/>
                          </a:solidFill>
                          <a:latin typeface="Calibri"/>
                        </a:rPr>
                        <a:t>1.23 ms</a:t>
                      </a:r>
                    </a:p>
                  </a:txBody>
                  <a:tcPr marL="45720" marR="45720" marT="18288" marB="18288">
                    <a:solidFill>
                      <a:srgbClr val="F4F6F8"/>
                    </a:solidFill>
                  </a:tcPr>
                </a:tc>
                <a:tc>
                  <a:txBody>
                    <a:bodyPr wrap="square"/>
                    <a:lstStyle/>
                    <a:p>
                      <a:pPr algn="ctr"/>
                      <a:r>
                        <a:rPr sz="1100">
                          <a:solidFill>
                            <a:srgbClr val="1B1B1B"/>
                          </a:solidFill>
                          <a:latin typeface="Calibri"/>
                        </a:rPr>
                        <a:t>1.38 ms</a:t>
                      </a:r>
                    </a:p>
                  </a:txBody>
                  <a:tcPr marL="45720" marR="45720" marT="18288" marB="18288">
                    <a:solidFill>
                      <a:srgbClr val="F4F6F8"/>
                    </a:solidFill>
                  </a:tcPr>
                </a:tc>
              </a:tr>
              <a:tr h="388620">
                <a:tc>
                  <a:txBody>
                    <a:bodyPr wrap="square"/>
                    <a:lstStyle/>
                    <a:p>
                      <a:pPr algn="l"/>
                      <a:r>
                        <a:rPr sz="1100">
                          <a:solidFill>
                            <a:srgbClr val="1B1B1B"/>
                          </a:solidFill>
                          <a:latin typeface="Calibri"/>
                        </a:rPr>
                        <a:t>500</a:t>
                      </a:r>
                    </a:p>
                  </a:txBody>
                  <a:tcPr marL="45720" marR="45720" marT="18288" marB="18288">
                    <a:solidFill>
                      <a:srgbClr val="FFFFFF"/>
                    </a:solidFill>
                  </a:tcPr>
                </a:tc>
                <a:tc>
                  <a:txBody>
                    <a:bodyPr wrap="square"/>
                    <a:lstStyle/>
                    <a:p>
                      <a:pPr algn="ctr"/>
                      <a:r>
                        <a:rPr sz="1100">
                          <a:solidFill>
                            <a:srgbClr val="1B1B1B"/>
                          </a:solidFill>
                          <a:latin typeface="Calibri"/>
                        </a:rPr>
                        <a:t>5.86 ms</a:t>
                      </a:r>
                    </a:p>
                  </a:txBody>
                  <a:tcPr marL="45720" marR="45720" marT="18288" marB="18288">
                    <a:solidFill>
                      <a:srgbClr val="FFFFFF"/>
                    </a:solidFill>
                  </a:tcPr>
                </a:tc>
                <a:tc>
                  <a:txBody>
                    <a:bodyPr wrap="square"/>
                    <a:lstStyle/>
                    <a:p>
                      <a:pPr algn="ctr"/>
                      <a:r>
                        <a:rPr sz="1100">
                          <a:solidFill>
                            <a:srgbClr val="1B1B1B"/>
                          </a:solidFill>
                          <a:latin typeface="Calibri"/>
                        </a:rPr>
                        <a:t>18.1 ms</a:t>
                      </a:r>
                    </a:p>
                  </a:txBody>
                  <a:tcPr marL="45720" marR="45720" marT="18288" marB="18288">
                    <a:solidFill>
                      <a:srgbClr val="FFFFFF"/>
                    </a:solidFill>
                  </a:tcPr>
                </a:tc>
                <a:tc>
                  <a:txBody>
                    <a:bodyPr wrap="square"/>
                    <a:lstStyle/>
                    <a:p>
                      <a:pPr algn="ctr"/>
                      <a:r>
                        <a:rPr sz="1100">
                          <a:solidFill>
                            <a:srgbClr val="1B1B1B"/>
                          </a:solidFill>
                          <a:latin typeface="Calibri"/>
                        </a:rPr>
                        <a:t>35.7 ms</a:t>
                      </a:r>
                    </a:p>
                  </a:txBody>
                  <a:tcPr marL="45720" marR="45720" marT="18288" marB="18288">
                    <a:solidFill>
                      <a:srgbClr val="FFFFFF"/>
                    </a:solidFill>
                  </a:tcPr>
                </a:tc>
                <a:tc>
                  <a:txBody>
                    <a:bodyPr wrap="square"/>
                    <a:lstStyle/>
                    <a:p>
                      <a:pPr algn="ctr"/>
                      <a:r>
                        <a:rPr sz="1100">
                          <a:solidFill>
                            <a:srgbClr val="1B1B1B"/>
                          </a:solidFill>
                          <a:latin typeface="Calibri"/>
                        </a:rPr>
                        <a:t>189 ms</a:t>
                      </a:r>
                    </a:p>
                  </a:txBody>
                  <a:tcPr marL="45720" marR="45720" marT="18288" marB="18288">
                    <a:solidFill>
                      <a:srgbClr val="FFFFFF"/>
                    </a:solidFill>
                  </a:tcPr>
                </a:tc>
              </a:tr>
            </a:tbl>
          </a:graphicData>
        </a:graphic>
      </p:graphicFrame>
      <p:sp>
        <p:nvSpPr>
          <p:cNvPr id="12" name="TextBox 11"/>
          <p:cNvSpPr txBox="1"/>
          <p:nvPr/>
        </p:nvSpPr>
        <p:spPr>
          <a:xfrm>
            <a:off x="6492240" y="3017520"/>
            <a:ext cx="5394960" cy="2834640"/>
          </a:xfrm>
          <a:prstGeom prst="rect">
            <a:avLst/>
          </a:prstGeom>
          <a:noFill/>
        </p:spPr>
        <p:txBody>
          <a:bodyPr wrap="square" anchor="t" lIns="73152" rIns="73152" tIns="36576" bIns="36576">
            <a:spAutoFit/>
          </a:bodyPr>
          <a:lstStyle/>
          <a:p>
            <a:pPr algn="l">
              <a:lnSpc>
                <a:spcPct val="105000"/>
              </a:lnSpc>
              <a:spcAft>
                <a:spcPts val="400"/>
              </a:spcAft>
            </a:pPr>
            <a:r>
              <a:rPr sz="1200" b="0">
                <a:solidFill>
                  <a:srgbClr val="5D6D7E"/>
                </a:solidFill>
                <a:latin typeface="Calibri"/>
              </a:rPr>
              <a:t>• Set-up: random well-conditioned matrices A = G/√n + 2I, float32, n = 10 / 100 / 500; 200 held-out matrices (20 at n=500); 4-core CPU, one matrix at a time.</a:t>
            </a:r>
          </a:p>
          <a:p>
            <a:pPr algn="l">
              <a:lnSpc>
                <a:spcPct val="105000"/>
              </a:lnSpc>
              <a:spcAft>
                <a:spcPts val="400"/>
              </a:spcAft>
            </a:pPr>
            <a:r>
              <a:rPr sz="1300" b="0">
                <a:solidFill>
                  <a:srgbClr val="1B1B1B"/>
                </a:solidFill>
                <a:latin typeface="Calibri"/>
              </a:rPr>
              <a:t>• LAPACK LU is fastest at every size and exact to float32 (relative error ≈ 5e-8).</a:t>
            </a:r>
          </a:p>
          <a:p>
            <a:pPr algn="l">
              <a:lnSpc>
                <a:spcPct val="105000"/>
              </a:lnSpc>
              <a:spcAft>
                <a:spcPts val="400"/>
              </a:spcAft>
            </a:pPr>
            <a:r>
              <a:rPr sz="1300" b="1">
                <a:solidFill>
                  <a:srgbClr val="1B1B1B"/>
                </a:solidFill>
                <a:latin typeface="Calibri"/>
              </a:rPr>
              <a:t>• A 100×100 inverse takes ≈0.14 ms → about 7 per core fit in a 1 ms slot (15 kHz spacing). A 500×500 inverse takes ≈6 ms → it does not fit.</a:t>
            </a:r>
          </a:p>
          <a:p>
            <a:pPr algn="l">
              <a:lnSpc>
                <a:spcPct val="105000"/>
              </a:lnSpc>
              <a:spcAft>
                <a:spcPts val="400"/>
              </a:spcAft>
            </a:pPr>
            <a:r>
              <a:rPr sz="1300" b="0">
                <a:solidFill>
                  <a:srgbClr val="1B1B1B"/>
                </a:solidFill>
                <a:latin typeface="Calibri"/>
              </a:rPr>
              <a:t>• Iterative Newton–Schulz is 3–7x slower than LU but needs only matrix multiplications — attractive for hardware, and the basis of the learned models on the next slide.</a:t>
            </a:r>
          </a:p>
          <a:p>
            <a:pPr algn="l">
              <a:lnSpc>
                <a:spcPct val="105000"/>
              </a:lnSpc>
              <a:spcAft>
                <a:spcPts val="400"/>
              </a:spcAft>
            </a:pPr>
            <a:r>
              <a:rPr sz="1300" b="0">
                <a:solidFill>
                  <a:srgbClr val="1B1B1B"/>
                </a:solidFill>
                <a:latin typeface="Calibri"/>
              </a:rPr>
              <a:t>• Gauss–Jordan (textbook method) is 30x slower at n=500.</a:t>
            </a:r>
          </a:p>
        </p:txBody>
      </p:sp>
      <p:sp>
        <p:nvSpPr>
          <p:cNvPr id="13" name="Rectangle 12"/>
          <p:cNvSpPr/>
          <p:nvPr/>
        </p:nvSpPr>
        <p:spPr>
          <a:xfrm>
            <a:off x="365760" y="5897880"/>
            <a:ext cx="11460175" cy="54864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142B45"/>
                </a:solidFill>
                <a:latin typeface="Calibri"/>
              </a:rPr>
              <a:t>Inversion cost bounds where processing can live: massive-MIMO-sized inverses fit a slot on a CPU core; multi-cell-sized ones do not.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Result 6b — can a neural network learn to invert a matrix?</a:t>
            </a:r>
          </a:p>
        </p:txBody>
      </p:sp>
      <p:sp>
        <p:nvSpPr>
          <p:cNvPr id="4" name="Rectangle 3"/>
          <p:cNvSpPr/>
          <p:nvPr/>
        </p:nvSpPr>
        <p:spPr>
          <a:xfrm>
            <a:off x="10332720" y="246888"/>
            <a:ext cx="1554480"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[fix]</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Three 'InverseNet' models, trained on the first 80 % of the dataset, tested on the last 20 %</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Evidence</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14</a:t>
            </a:r>
          </a:p>
        </p:txBody>
      </p:sp>
      <p:graphicFrame>
        <p:nvGraphicFramePr>
          <p:cNvPr id="10" name="Table 9"/>
          <p:cNvGraphicFramePr>
            <a:graphicFrameLocks noGrp="1"/>
          </p:cNvGraphicFramePr>
          <p:nvPr/>
        </p:nvGraphicFramePr>
        <p:xfrm>
          <a:off x="365760" y="1371600"/>
          <a:ext cx="11430000" cy="1737360"/>
        </p:xfrm>
        <a:graphic>
          <a:graphicData uri="http://schemas.openxmlformats.org/drawingml/2006/table">
            <a:tbl>
              <a:tblPr firstRow="1" bandRow="1">
                <a:tableStyleId>{5C22544A-7EE6-4342-B048-85BDC9FD1C3A}</a:tableStyleId>
              </a:tblPr>
              <a:tblGrid>
                <a:gridCol w="457200"/>
                <a:gridCol w="2286000"/>
                <a:gridCol w="2651760"/>
                <a:gridCol w="3017520"/>
                <a:gridCol w="3017520"/>
              </a:tblGrid>
              <a:tr h="434340">
                <a:tc>
                  <a:txBody>
                    <a:bodyPr wrap="square"/>
                    <a:lstStyle/>
                    <a:p>
                      <a:pPr algn="l"/>
                      <a:r>
                        <a:rPr sz="1100" b="1">
                          <a:solidFill>
                            <a:srgbClr val="FFFFFF"/>
                          </a:solidFill>
                          <a:latin typeface="Calibri"/>
                        </a:rPr>
                        <a:t>n</a:t>
                      </a:r>
                    </a:p>
                  </a:txBody>
                  <a:tcPr marL="45720" marR="45720" marT="18288" marB="18288">
                    <a:solidFill>
                      <a:srgbClr val="142B45"/>
                    </a:solidFill>
                  </a:tcPr>
                </a:tc>
                <a:tc>
                  <a:txBody>
                    <a:bodyPr wrap="square"/>
                    <a:lstStyle/>
                    <a:p>
                      <a:pPr algn="ctr"/>
                      <a:r>
                        <a:rPr sz="1100" b="1">
                          <a:solidFill>
                            <a:srgbClr val="FFFFFF"/>
                          </a:solidFill>
                          <a:latin typeface="Calibri"/>
                        </a:rPr>
                        <a:t>LAPACK LU</a:t>
                      </a:r>
                    </a:p>
                  </a:txBody>
                  <a:tcPr marL="45720" marR="45720" marT="18288" marB="18288">
                    <a:solidFill>
                      <a:srgbClr val="142B45"/>
                    </a:solidFill>
                  </a:tcPr>
                </a:tc>
                <a:tc>
                  <a:txBody>
                    <a:bodyPr wrap="square"/>
                    <a:lstStyle/>
                    <a:p>
                      <a:pPr algn="ctr"/>
                      <a:r>
                        <a:rPr sz="1100" b="1">
                          <a:solidFill>
                            <a:srgbClr val="FFFFFF"/>
                          </a:solidFill>
                          <a:latin typeface="Calibri"/>
                        </a:rPr>
                        <a:t>InverseNet-MLP (direct regression)</a:t>
                      </a:r>
                    </a:p>
                  </a:txBody>
                  <a:tcPr marL="45720" marR="45720" marT="18288" marB="18288">
                    <a:solidFill>
                      <a:srgbClr val="142B45"/>
                    </a:solidFill>
                  </a:tcPr>
                </a:tc>
                <a:tc>
                  <a:txBody>
                    <a:bodyPr wrap="square"/>
                    <a:lstStyle/>
                    <a:p>
                      <a:pPr algn="ctr"/>
                      <a:r>
                        <a:rPr sz="1100" b="1">
                          <a:solidFill>
                            <a:srgbClr val="FFFFFF"/>
                          </a:solidFill>
                          <a:latin typeface="Calibri"/>
                        </a:rPr>
                        <a:t>InverseNet-NS (learned Newton–Schulz, 17 params)</a:t>
                      </a:r>
                    </a:p>
                  </a:txBody>
                  <a:tcPr marL="45720" marR="45720" marT="18288" marB="18288">
                    <a:solidFill>
                      <a:srgbClr val="142B45"/>
                    </a:solidFill>
                  </a:tcPr>
                </a:tc>
                <a:tc>
                  <a:txBody>
                    <a:bodyPr wrap="square"/>
                    <a:lstStyle/>
                    <a:p>
                      <a:pPr algn="ctr"/>
                      <a:r>
                        <a:rPr sz="1100" b="1">
                          <a:solidFill>
                            <a:srgbClr val="FFFFFF"/>
                          </a:solidFill>
                          <a:latin typeface="Calibri"/>
                        </a:rPr>
                        <a:t>InverseNet-Ultra (learned NS + data-dependent start)</a:t>
                      </a:r>
                    </a:p>
                  </a:txBody>
                  <a:tcPr marL="45720" marR="45720" marT="18288" marB="18288">
                    <a:solidFill>
                      <a:srgbClr val="142B45"/>
                    </a:solidFill>
                  </a:tcPr>
                </a:tc>
              </a:tr>
              <a:tr h="434340">
                <a:tc>
                  <a:txBody>
                    <a:bodyPr wrap="square"/>
                    <a:lstStyle/>
                    <a:p>
                      <a:pPr algn="l"/>
                      <a:r>
                        <a:rPr sz="1100">
                          <a:solidFill>
                            <a:srgbClr val="1B1B1B"/>
                          </a:solidFill>
                          <a:latin typeface="Calibri"/>
                        </a:rPr>
                        <a:t>10</a:t>
                      </a:r>
                    </a:p>
                  </a:txBody>
                  <a:tcPr marL="45720" marR="45720" marT="18288" marB="18288">
                    <a:solidFill>
                      <a:srgbClr val="FFFFFF"/>
                    </a:solidFill>
                  </a:tcPr>
                </a:tc>
                <a:tc>
                  <a:txBody>
                    <a:bodyPr wrap="square"/>
                    <a:lstStyle/>
                    <a:p>
                      <a:pPr algn="ctr"/>
                      <a:r>
                        <a:rPr sz="1100">
                          <a:solidFill>
                            <a:srgbClr val="1B1B1B"/>
                          </a:solidFill>
                          <a:latin typeface="Calibri"/>
                        </a:rPr>
                        <a:t>0.00581 ms · rel. error 4.8e-08</a:t>
                      </a:r>
                    </a:p>
                  </a:txBody>
                  <a:tcPr marL="45720" marR="45720" marT="18288" marB="18288">
                    <a:solidFill>
                      <a:srgbClr val="FFFFFF"/>
                    </a:solidFill>
                  </a:tcPr>
                </a:tc>
                <a:tc>
                  <a:txBody>
                    <a:bodyPr wrap="square"/>
                    <a:lstStyle/>
                    <a:p>
                      <a:pPr algn="ctr"/>
                      <a:r>
                        <a:rPr sz="1100">
                          <a:solidFill>
                            <a:srgbClr val="1B1B1B"/>
                          </a:solidFill>
                          <a:latin typeface="Calibri"/>
                        </a:rPr>
                        <a:t>0.0501 ms · rel. error 3.6e-01</a:t>
                      </a:r>
                    </a:p>
                  </a:txBody>
                  <a:tcPr marL="45720" marR="45720" marT="18288" marB="18288">
                    <a:solidFill>
                      <a:srgbClr val="FFFFFF"/>
                    </a:solidFill>
                  </a:tcPr>
                </a:tc>
                <a:tc>
                  <a:txBody>
                    <a:bodyPr wrap="square"/>
                    <a:lstStyle/>
                    <a:p>
                      <a:pPr algn="ctr"/>
                      <a:r>
                        <a:rPr sz="1100">
                          <a:solidFill>
                            <a:srgbClr val="1B1B1B"/>
                          </a:solidFill>
                          <a:latin typeface="Calibri"/>
                        </a:rPr>
                        <a:t>0.114 ms · rel. error 4.0e-02</a:t>
                      </a:r>
                    </a:p>
                  </a:txBody>
                  <a:tcPr marL="45720" marR="45720" marT="18288" marB="18288">
                    <a:solidFill>
                      <a:srgbClr val="FFFFFF"/>
                    </a:solidFill>
                  </a:tcPr>
                </a:tc>
                <a:tc>
                  <a:txBody>
                    <a:bodyPr wrap="square"/>
                    <a:lstStyle/>
                    <a:p>
                      <a:pPr algn="ctr"/>
                      <a:r>
                        <a:rPr sz="1100">
                          <a:solidFill>
                            <a:srgbClr val="1B1B1B"/>
                          </a:solidFill>
                          <a:latin typeface="Calibri"/>
                        </a:rPr>
                        <a:t>0.0383 ms · rel. error 1.7e-01</a:t>
                      </a:r>
                    </a:p>
                  </a:txBody>
                  <a:tcPr marL="45720" marR="45720" marT="18288" marB="18288">
                    <a:solidFill>
                      <a:srgbClr val="FFFFFF"/>
                    </a:solidFill>
                  </a:tcPr>
                </a:tc>
              </a:tr>
              <a:tr h="434340">
                <a:tc>
                  <a:txBody>
                    <a:bodyPr wrap="square"/>
                    <a:lstStyle/>
                    <a:p>
                      <a:pPr algn="l"/>
                      <a:r>
                        <a:rPr sz="1100">
                          <a:solidFill>
                            <a:srgbClr val="1B1B1B"/>
                          </a:solidFill>
                          <a:latin typeface="Calibri"/>
                        </a:rPr>
                        <a:t>100</a:t>
                      </a:r>
                    </a:p>
                  </a:txBody>
                  <a:tcPr marL="45720" marR="45720" marT="18288" marB="18288">
                    <a:solidFill>
                      <a:srgbClr val="F4F6F8"/>
                    </a:solidFill>
                  </a:tcPr>
                </a:tc>
                <a:tc>
                  <a:txBody>
                    <a:bodyPr wrap="square"/>
                    <a:lstStyle/>
                    <a:p>
                      <a:pPr algn="ctr"/>
                      <a:r>
                        <a:rPr sz="1100">
                          <a:solidFill>
                            <a:srgbClr val="1B1B1B"/>
                          </a:solidFill>
                          <a:latin typeface="Calibri"/>
                        </a:rPr>
                        <a:t>0.138 ms · rel. error 4.8e-08</a:t>
                      </a:r>
                    </a:p>
                  </a:txBody>
                  <a:tcPr marL="45720" marR="45720" marT="18288" marB="18288">
                    <a:solidFill>
                      <a:srgbClr val="F4F6F8"/>
                    </a:solidFill>
                  </a:tcPr>
                </a:tc>
                <a:tc>
                  <a:txBody>
                    <a:bodyPr wrap="square"/>
                    <a:lstStyle/>
                    <a:p>
                      <a:pPr algn="ctr"/>
                      <a:r>
                        <a:rPr sz="1100">
                          <a:solidFill>
                            <a:srgbClr val="1B1B1B"/>
                          </a:solidFill>
                          <a:latin typeface="Calibri"/>
                        </a:rPr>
                        <a:t>not run</a:t>
                      </a:r>
                    </a:p>
                  </a:txBody>
                  <a:tcPr marL="45720" marR="45720" marT="18288" marB="18288">
                    <a:solidFill>
                      <a:srgbClr val="F4F6F8"/>
                    </a:solidFill>
                  </a:tcPr>
                </a:tc>
                <a:tc>
                  <a:txBody>
                    <a:bodyPr wrap="square"/>
                    <a:lstStyle/>
                    <a:p>
                      <a:pPr algn="ctr"/>
                      <a:r>
                        <a:rPr sz="1100">
                          <a:solidFill>
                            <a:srgbClr val="1B1B1B"/>
                          </a:solidFill>
                          <a:latin typeface="Calibri"/>
                        </a:rPr>
                        <a:t>0.328 ms · rel. error 4.0e-04</a:t>
                      </a:r>
                    </a:p>
                  </a:txBody>
                  <a:tcPr marL="45720" marR="45720" marT="18288" marB="18288">
                    <a:solidFill>
                      <a:srgbClr val="F4F6F8"/>
                    </a:solidFill>
                  </a:tcPr>
                </a:tc>
                <a:tc>
                  <a:txBody>
                    <a:bodyPr wrap="square"/>
                    <a:lstStyle/>
                    <a:p>
                      <a:pPr algn="ctr"/>
                      <a:r>
                        <a:rPr sz="1100">
                          <a:solidFill>
                            <a:srgbClr val="1B1B1B"/>
                          </a:solidFill>
                          <a:latin typeface="Calibri"/>
                        </a:rPr>
                        <a:t>0.397 ms · rel. error 1.1e-06</a:t>
                      </a:r>
                    </a:p>
                  </a:txBody>
                  <a:tcPr marL="45720" marR="45720" marT="18288" marB="18288">
                    <a:solidFill>
                      <a:srgbClr val="F4F6F8"/>
                    </a:solidFill>
                  </a:tcPr>
                </a:tc>
              </a:tr>
              <a:tr h="434340">
                <a:tc>
                  <a:txBody>
                    <a:bodyPr wrap="square"/>
                    <a:lstStyle/>
                    <a:p>
                      <a:pPr algn="l"/>
                      <a:r>
                        <a:rPr sz="1100">
                          <a:solidFill>
                            <a:srgbClr val="1B1B1B"/>
                          </a:solidFill>
                          <a:latin typeface="Calibri"/>
                        </a:rPr>
                        <a:t>500</a:t>
                      </a:r>
                    </a:p>
                  </a:txBody>
                  <a:tcPr marL="45720" marR="45720" marT="18288" marB="18288">
                    <a:solidFill>
                      <a:srgbClr val="FFFFFF"/>
                    </a:solidFill>
                  </a:tcPr>
                </a:tc>
                <a:tc>
                  <a:txBody>
                    <a:bodyPr wrap="square"/>
                    <a:lstStyle/>
                    <a:p>
                      <a:pPr algn="ctr"/>
                      <a:r>
                        <a:rPr sz="1100">
                          <a:solidFill>
                            <a:srgbClr val="1B1B1B"/>
                          </a:solidFill>
                          <a:latin typeface="Calibri"/>
                        </a:rPr>
                        <a:t>5.86 ms · rel. error 4.8e-08</a:t>
                      </a:r>
                    </a:p>
                  </a:txBody>
                  <a:tcPr marL="45720" marR="45720" marT="18288" marB="18288">
                    <a:solidFill>
                      <a:srgbClr val="FFFFFF"/>
                    </a:solidFill>
                  </a:tcPr>
                </a:tc>
                <a:tc>
                  <a:txBody>
                    <a:bodyPr wrap="square"/>
                    <a:lstStyle/>
                    <a:p>
                      <a:pPr algn="ctr"/>
                      <a:r>
                        <a:rPr sz="1100">
                          <a:solidFill>
                            <a:srgbClr val="1B1B1B"/>
                          </a:solidFill>
                          <a:latin typeface="Calibri"/>
                        </a:rPr>
                        <a:t>not run</a:t>
                      </a:r>
                    </a:p>
                  </a:txBody>
                  <a:tcPr marL="45720" marR="45720" marT="18288" marB="18288">
                    <a:solidFill>
                      <a:srgbClr val="FFFFFF"/>
                    </a:solidFill>
                  </a:tcPr>
                </a:tc>
                <a:tc>
                  <a:txBody>
                    <a:bodyPr wrap="square"/>
                    <a:lstStyle/>
                    <a:p>
                      <a:pPr algn="ctr"/>
                      <a:r>
                        <a:rPr sz="1100">
                          <a:solidFill>
                            <a:srgbClr val="1B1B1B"/>
                          </a:solidFill>
                          <a:latin typeface="Calibri"/>
                        </a:rPr>
                        <a:t>117 ms · rel. error 7.4e-03</a:t>
                      </a:r>
                    </a:p>
                  </a:txBody>
                  <a:tcPr marL="45720" marR="45720" marT="18288" marB="18288">
                    <a:solidFill>
                      <a:srgbClr val="FFFFFF"/>
                    </a:solidFill>
                  </a:tcPr>
                </a:tc>
                <a:tc>
                  <a:txBody>
                    <a:bodyPr wrap="square"/>
                    <a:lstStyle/>
                    <a:p>
                      <a:pPr algn="ctr"/>
                      <a:r>
                        <a:rPr sz="1100">
                          <a:solidFill>
                            <a:srgbClr val="1B1B1B"/>
                          </a:solidFill>
                          <a:latin typeface="Calibri"/>
                        </a:rPr>
                        <a:t>17.9 ms · rel. error 1.3e-06</a:t>
                      </a:r>
                    </a:p>
                  </a:txBody>
                  <a:tcPr marL="45720" marR="45720" marT="18288" marB="18288">
                    <a:solidFill>
                      <a:srgbClr val="FFFFFF"/>
                    </a:solidFill>
                  </a:tcPr>
                </a:tc>
              </a:tr>
            </a:tbl>
          </a:graphicData>
        </a:graphic>
      </p:graphicFrame>
      <p:sp>
        <p:nvSpPr>
          <p:cNvPr id="11" name="TextBox 10"/>
          <p:cNvSpPr txBox="1"/>
          <p:nvPr/>
        </p:nvSpPr>
        <p:spPr>
          <a:xfrm>
            <a:off x="457200" y="3291840"/>
            <a:ext cx="11247120" cy="2468880"/>
          </a:xfrm>
          <a:prstGeom prst="rect">
            <a:avLst/>
          </a:prstGeom>
          <a:noFill/>
        </p:spPr>
        <p:txBody>
          <a:bodyPr wrap="square" anchor="t" lIns="73152" rIns="73152" tIns="36576" bIns="36576">
            <a:spAutoFit/>
          </a:bodyPr>
          <a:lstStyle/>
          <a:p>
            <a:pPr algn="l">
              <a:lnSpc>
                <a:spcPct val="105000"/>
              </a:lnSpc>
              <a:spcAft>
                <a:spcPts val="400"/>
              </a:spcAft>
            </a:pPr>
            <a:r>
              <a:rPr sz="1300" b="0">
                <a:solidFill>
                  <a:srgbClr val="1B1B1B"/>
                </a:solidFill>
                <a:latin typeface="Calibri"/>
              </a:rPr>
              <a:t>• MLP: flatten A, regress A⁻¹. Fails (error 0.36 at n=10) and cannot scale — at n=500 it would need &gt; 2 billion parameters.</a:t>
            </a:r>
          </a:p>
          <a:p>
            <a:pPr algn="l">
              <a:lnSpc>
                <a:spcPct val="105000"/>
              </a:lnSpc>
              <a:spcAft>
                <a:spcPts val="400"/>
              </a:spcAft>
            </a:pPr>
            <a:r>
              <a:rPr sz="1300" b="0">
                <a:solidFill>
                  <a:srgbClr val="1B1B1B"/>
                </a:solidFill>
                <a:latin typeface="Calibri"/>
              </a:rPr>
              <a:t>• Learned Newton–Schulz: unroll X ← X(βI − γAX) for 8 steps and learn the 17 scalars. It generalises to any n (error 4e-4 at n=100), but it is slower than LU.</a:t>
            </a:r>
          </a:p>
          <a:p>
            <a:pPr algn="l">
              <a:lnSpc>
                <a:spcPct val="105000"/>
              </a:lnSpc>
              <a:spcAft>
                <a:spcPts val="400"/>
              </a:spcAft>
            </a:pPr>
            <a:r>
              <a:rPr sz="1300" b="0">
                <a:solidFill>
                  <a:srgbClr val="1B1B1B"/>
                </a:solidFill>
                <a:latin typeface="Calibri"/>
              </a:rPr>
              <a:t>• Ultra: adds a tiny network that sets the starting guess from four matrix statistics. Error ≈1e-6 at n=100/500 (but 0.17 at n=10); same speed as classical Newton–Schulz; never beats LU medians.</a:t>
            </a:r>
          </a:p>
          <a:p>
            <a:pPr algn="l">
              <a:lnSpc>
                <a:spcPct val="105000"/>
              </a:lnSpc>
              <a:spcAft>
                <a:spcPts val="400"/>
              </a:spcAft>
            </a:pPr>
            <a:r>
              <a:rPr sz="1300" b="0">
                <a:solidFill>
                  <a:srgbClr val="C0392B"/>
                </a:solidFill>
                <a:latin typeface="Calibri"/>
              </a:rPr>
              <a:t>• Fixed this iteration [fix]: the fast NumPy inference engine used ReLU while the trained model uses GELU — outputs now match (tested); a docstring claiming 1e-7 error and 'faster than LU' was corrected; benchmark re-run.</a:t>
            </a:r>
          </a:p>
          <a:p>
            <a:pPr algn="l">
              <a:lnSpc>
                <a:spcPct val="105000"/>
              </a:lnSpc>
              <a:spcAft>
                <a:spcPts val="400"/>
              </a:spcAft>
            </a:pPr>
            <a:r>
              <a:rPr sz="1300" b="1">
                <a:solidFill>
                  <a:srgbClr val="1B1B1B"/>
                </a:solidFill>
                <a:latin typeface="Calibri"/>
              </a:rPr>
              <a:t>• Conclusion: for well-conditioned matrices, learning the inverse does not beat LAPACK on a CPU. The learned iteration is a reasonable idea for fixed-latency hardware, not a replacement for LU.</a:t>
            </a:r>
          </a:p>
        </p:txBody>
      </p:sp>
      <p:sp>
        <p:nvSpPr>
          <p:cNvPr id="12" name="Rectangle 11"/>
          <p:cNvSpPr/>
          <p:nvPr/>
        </p:nvSpPr>
        <p:spPr>
          <a:xfrm>
            <a:off x="365760" y="5897880"/>
            <a:ext cx="11460175" cy="54864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142B45"/>
                </a:solidFill>
                <a:latin typeface="Calibri"/>
              </a:rPr>
              <a:t>The ML part of the project gives a clear negative result: a learned inverter does not beat classical linear algebra here — and saying so is the honest contribution.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What is done, what is not, and what comes next</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Closing</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15</a:t>
            </a:r>
          </a:p>
        </p:txBody>
      </p:sp>
      <p:sp>
        <p:nvSpPr>
          <p:cNvPr id="7" name="TextBox 6"/>
          <p:cNvSpPr txBox="1"/>
          <p:nvPr/>
        </p:nvSpPr>
        <p:spPr>
          <a:xfrm>
            <a:off x="365760" y="1188720"/>
            <a:ext cx="3840480" cy="4754880"/>
          </a:xfrm>
          <a:prstGeom prst="rect">
            <a:avLst/>
          </a:prstGeom>
          <a:noFill/>
        </p:spPr>
        <p:txBody>
          <a:bodyPr wrap="square" anchor="t" lIns="73152" rIns="73152" tIns="36576" bIns="36576">
            <a:spAutoFit/>
          </a:bodyPr>
          <a:lstStyle/>
          <a:p>
            <a:pPr algn="l">
              <a:lnSpc>
                <a:spcPct val="105000"/>
              </a:lnSpc>
              <a:spcAft>
                <a:spcPts val="400"/>
              </a:spcAft>
            </a:pPr>
            <a:r>
              <a:rPr sz="1700" b="1">
                <a:solidFill>
                  <a:srgbClr val="1E8449"/>
                </a:solidFill>
                <a:latin typeface="Calibri"/>
              </a:rPr>
              <a:t>• Done</a:t>
            </a:r>
          </a:p>
          <a:p>
            <a:pPr algn="l">
              <a:lnSpc>
                <a:spcPct val="105000"/>
              </a:lnSpc>
              <a:spcAft>
                <a:spcPts val="400"/>
              </a:spcAft>
            </a:pPr>
            <a:r>
              <a:rPr sz="900" b="1">
                <a:solidFill>
                  <a:srgbClr val="1E8449"/>
                </a:solidFill>
                <a:latin typeface="Calibri"/>
              </a:rPr>
              <a:t>[new] </a:t>
            </a:r>
            <a:r>
              <a:rPr sz="1200" b="0">
                <a:solidFill>
                  <a:srgbClr val="1B1B1B"/>
                </a:solidFill>
                <a:latin typeface="Calibri"/>
              </a:rPr>
              <a:t>• Working, tested simulator: channel → decomposition-based encoders → split → allocation (was missing)</a:t>
            </a:r>
          </a:p>
          <a:p>
            <a:pPr algn="l">
              <a:lnSpc>
                <a:spcPct val="105000"/>
              </a:lnSpc>
              <a:spcAft>
                <a:spcPts val="400"/>
              </a:spcAft>
            </a:pPr>
            <a:r>
              <a:rPr sz="900" b="1">
                <a:solidFill>
                  <a:srgbClr val="C0392B"/>
                </a:solidFill>
                <a:latin typeface="Calibri"/>
              </a:rPr>
              <a:t>[fix] </a:t>
            </a:r>
            <a:r>
              <a:rPr sz="1200" b="0">
                <a:solidFill>
                  <a:srgbClr val="1B1B1B"/>
                </a:solidFill>
                <a:latin typeface="Calibri"/>
              </a:rPr>
              <a:t>• Fair baselines: thin SVD, correct split costs, real rank estimator, two error references</a:t>
            </a:r>
          </a:p>
          <a:p>
            <a:pPr algn="l">
              <a:lnSpc>
                <a:spcPct val="105000"/>
              </a:lnSpc>
              <a:spcAft>
                <a:spcPts val="400"/>
              </a:spcAft>
            </a:pPr>
            <a:r>
              <a:rPr sz="900" b="1">
                <a:solidFill>
                  <a:srgbClr val="1E8449"/>
                </a:solidFill>
                <a:latin typeface="Calibri"/>
              </a:rPr>
              <a:t>[new] </a:t>
            </a:r>
            <a:r>
              <a:rPr sz="1200" b="0">
                <a:solidFill>
                  <a:srgbClr val="1B1B1B"/>
                </a:solidFill>
                <a:latin typeface="Calibri"/>
              </a:rPr>
              <a:t>• Error predictor within 0.5 dB; HMT bound checked</a:t>
            </a:r>
          </a:p>
          <a:p>
            <a:pPr algn="l">
              <a:lnSpc>
                <a:spcPct val="105000"/>
              </a:lnSpc>
              <a:spcAft>
                <a:spcPts val="400"/>
              </a:spcAft>
            </a:pPr>
            <a:r>
              <a:rPr sz="900" b="1">
                <a:solidFill>
                  <a:srgbClr val="1E8449"/>
                </a:solidFill>
                <a:latin typeface="Calibri"/>
              </a:rPr>
              <a:t>[new] </a:t>
            </a:r>
            <a:r>
              <a:rPr sz="1200" b="0">
                <a:solidFill>
                  <a:srgbClr val="1B1B1B"/>
                </a:solidFill>
                <a:latin typeface="Calibri"/>
              </a:rPr>
              <a:t>• Allocator for 8 RUs with static baselines, oracle and objective ablations, 5 seeds</a:t>
            </a:r>
          </a:p>
          <a:p>
            <a:pPr algn="l">
              <a:lnSpc>
                <a:spcPct val="105000"/>
              </a:lnSpc>
              <a:spcAft>
                <a:spcPts val="400"/>
              </a:spcAft>
            </a:pPr>
            <a:r>
              <a:rPr sz="900" b="1">
                <a:solidFill>
                  <a:srgbClr val="1E8449"/>
                </a:solidFill>
                <a:latin typeface="Calibri"/>
              </a:rPr>
              <a:t>[new] </a:t>
            </a:r>
            <a:r>
              <a:rPr sz="1200" b="0">
                <a:solidFill>
                  <a:srgbClr val="1B1B1B"/>
                </a:solidFill>
                <a:latin typeface="Calibri"/>
              </a:rPr>
              <a:t>• Finding: delay-domain compression works only on channel/reference symbols; low rank works on everything</a:t>
            </a:r>
          </a:p>
          <a:p>
            <a:pPr algn="l">
              <a:lnSpc>
                <a:spcPct val="105000"/>
              </a:lnSpc>
              <a:spcAft>
                <a:spcPts val="400"/>
              </a:spcAft>
            </a:pPr>
            <a:r>
              <a:rPr sz="900" b="1">
                <a:solidFill>
                  <a:srgbClr val="C0392B"/>
                </a:solidFill>
                <a:latin typeface="Calibri"/>
              </a:rPr>
              <a:t>[fix] </a:t>
            </a:r>
            <a:r>
              <a:rPr sz="1200" b="0">
                <a:solidFill>
                  <a:srgbClr val="1B1B1B"/>
                </a:solidFill>
                <a:latin typeface="Calibri"/>
              </a:rPr>
              <a:t>• Matrix-inversion benchmark: bug fixed, re-run, honest conclusion (LU wins)</a:t>
            </a:r>
          </a:p>
        </p:txBody>
      </p:sp>
      <p:sp>
        <p:nvSpPr>
          <p:cNvPr id="8" name="TextBox 7"/>
          <p:cNvSpPr txBox="1"/>
          <p:nvPr/>
        </p:nvSpPr>
        <p:spPr>
          <a:xfrm>
            <a:off x="4297680" y="1188720"/>
            <a:ext cx="3840480" cy="4754880"/>
          </a:xfrm>
          <a:prstGeom prst="rect">
            <a:avLst/>
          </a:prstGeom>
          <a:noFill/>
        </p:spPr>
        <p:txBody>
          <a:bodyPr wrap="square" anchor="t" lIns="73152" rIns="73152" tIns="36576" bIns="36576">
            <a:spAutoFit/>
          </a:bodyPr>
          <a:lstStyle/>
          <a:p>
            <a:pPr algn="l">
              <a:lnSpc>
                <a:spcPct val="105000"/>
              </a:lnSpc>
              <a:spcAft>
                <a:spcPts val="400"/>
              </a:spcAft>
            </a:pPr>
            <a:r>
              <a:rPr sz="1700" b="1">
                <a:solidFill>
                  <a:srgbClr val="C0392B"/>
                </a:solidFill>
                <a:latin typeface="Calibri"/>
              </a:rPr>
              <a:t>• Limits</a:t>
            </a:r>
          </a:p>
          <a:p>
            <a:pPr algn="l">
              <a:lnSpc>
                <a:spcPct val="105000"/>
              </a:lnSpc>
              <a:spcAft>
                <a:spcPts val="400"/>
              </a:spcAft>
            </a:pPr>
            <a:r>
              <a:rPr sz="1200" b="0">
                <a:solidFill>
                  <a:srgbClr val="1B1B1B"/>
                </a:solidFill>
                <a:latin typeface="Calibri"/>
              </a:rPr>
              <a:t>• One OFDM symbol at a time; no scheduler, retransmissions or latency</a:t>
            </a:r>
          </a:p>
          <a:p>
            <a:pPr algn="l">
              <a:lnSpc>
                <a:spcPct val="105000"/>
              </a:lnSpc>
              <a:spcAft>
                <a:spcPts val="400"/>
              </a:spcAft>
            </a:pPr>
            <a:r>
              <a:rPr sz="1200" b="0">
                <a:solidFill>
                  <a:srgbClr val="1B1B1B"/>
                </a:solidFill>
                <a:latin typeface="Calibri"/>
              </a:rPr>
              <a:t>• CSEE valid on reference symbols only → Exp5 covers that traffic only</a:t>
            </a:r>
          </a:p>
          <a:p>
            <a:pPr algn="l">
              <a:lnSpc>
                <a:spcPct val="105000"/>
              </a:lnSpc>
              <a:spcAft>
                <a:spcPts val="400"/>
              </a:spcAft>
            </a:pPr>
            <a:r>
              <a:rPr sz="1200" b="0">
                <a:solidFill>
                  <a:srgbClr val="1B1B1B"/>
                </a:solidFill>
                <a:latin typeface="Calibri"/>
              </a:rPr>
              <a:t>• Python timings: ordering and scaling only</a:t>
            </a:r>
          </a:p>
          <a:p>
            <a:pPr algn="l">
              <a:lnSpc>
                <a:spcPct val="105000"/>
              </a:lnSpc>
              <a:spcAft>
                <a:spcPts val="400"/>
              </a:spcAft>
            </a:pPr>
            <a:r>
              <a:rPr sz="1200" b="0">
                <a:solidFill>
                  <a:srgbClr val="1B1B1B"/>
                </a:solidFill>
                <a:latin typeface="Calibri"/>
              </a:rPr>
              <a:t>• Thm 2 proven for Gaussian sketches; Hadamard sketch checked empirically</a:t>
            </a:r>
          </a:p>
          <a:p>
            <a:pPr algn="l">
              <a:lnSpc>
                <a:spcPct val="105000"/>
              </a:lnSpc>
              <a:spcAft>
                <a:spcPts val="400"/>
              </a:spcAft>
            </a:pPr>
            <a:r>
              <a:rPr sz="1200" b="0">
                <a:solidFill>
                  <a:srgbClr val="1B1B1B"/>
                </a:solidFill>
                <a:latin typeface="Calibri"/>
              </a:rPr>
              <a:t>• Split-6 cost is a rough model (6 bit/RE); noise variance assumed known in the noise-aware test</a:t>
            </a:r>
          </a:p>
          <a:p>
            <a:pPr algn="l">
              <a:lnSpc>
                <a:spcPct val="105000"/>
              </a:lnSpc>
              <a:spcAft>
                <a:spcPts val="400"/>
              </a:spcAft>
            </a:pPr>
            <a:r>
              <a:rPr sz="1200" b="0">
                <a:solidFill>
                  <a:srgbClr val="1B1B1B"/>
                </a:solidFill>
                <a:latin typeface="Calibri"/>
              </a:rPr>
              <a:t>• Inversion benchmark: well-conditioned random matrices, not channel matrices</a:t>
            </a:r>
          </a:p>
          <a:p>
            <a:pPr algn="l">
              <a:lnSpc>
                <a:spcPct val="105000"/>
              </a:lnSpc>
              <a:spcAft>
                <a:spcPts val="400"/>
              </a:spcAft>
            </a:pPr>
            <a:r>
              <a:rPr sz="1200" b="0" i="1">
                <a:solidFill>
                  <a:srgbClr val="1B1B1B"/>
                </a:solidFill>
                <a:latin typeface="Calibri"/>
              </a:rPr>
              <a:t>• No novelty claimed for any single algorithm; the contribution is the validated system and its findings</a:t>
            </a:r>
          </a:p>
        </p:txBody>
      </p:sp>
      <p:sp>
        <p:nvSpPr>
          <p:cNvPr id="9" name="TextBox 8"/>
          <p:cNvSpPr txBox="1"/>
          <p:nvPr/>
        </p:nvSpPr>
        <p:spPr>
          <a:xfrm>
            <a:off x="8229600" y="1188720"/>
            <a:ext cx="3657600" cy="4754880"/>
          </a:xfrm>
          <a:prstGeom prst="rect">
            <a:avLst/>
          </a:prstGeom>
          <a:noFill/>
        </p:spPr>
        <p:txBody>
          <a:bodyPr wrap="square" anchor="t" lIns="73152" rIns="73152" tIns="36576" bIns="36576">
            <a:spAutoFit/>
          </a:bodyPr>
          <a:lstStyle/>
          <a:p>
            <a:pPr algn="l">
              <a:lnSpc>
                <a:spcPct val="105000"/>
              </a:lnSpc>
              <a:spcAft>
                <a:spcPts val="400"/>
              </a:spcAft>
            </a:pPr>
            <a:r>
              <a:rPr sz="1700" b="1">
                <a:solidFill>
                  <a:srgbClr val="1F7A8C"/>
                </a:solidFill>
                <a:latin typeface="Calibri"/>
              </a:rPr>
              <a:t>• Next, until the final evaluation</a:t>
            </a:r>
          </a:p>
          <a:p>
            <a:pPr algn="l">
              <a:lnSpc>
                <a:spcPct val="105000"/>
              </a:lnSpc>
              <a:spcAft>
                <a:spcPts val="400"/>
              </a:spcAft>
            </a:pPr>
            <a:r>
              <a:rPr sz="900" b="1">
                <a:solidFill>
                  <a:srgbClr val="1F7A8C"/>
                </a:solidFill>
                <a:latin typeface="Calibri"/>
              </a:rPr>
              <a:t>[future] </a:t>
            </a:r>
            <a:r>
              <a:rPr sz="1200" b="0">
                <a:solidFill>
                  <a:srgbClr val="1B1B1B"/>
                </a:solidFill>
                <a:latin typeface="Calibri"/>
              </a:rPr>
              <a:t>• Slot-level simulation mixing data and reference symbols; menu with CSEE, RAS-BFP and BFP (needs a RAS-BFP error predictor)</a:t>
            </a:r>
          </a:p>
          <a:p>
            <a:pPr algn="l">
              <a:lnSpc>
                <a:spcPct val="105000"/>
              </a:lnSpc>
              <a:spcAft>
                <a:spcPts val="400"/>
              </a:spcAft>
            </a:pPr>
            <a:r>
              <a:rPr sz="900" b="1">
                <a:solidFill>
                  <a:srgbClr val="1F7A8C"/>
                </a:solidFill>
                <a:latin typeface="Calibri"/>
              </a:rPr>
              <a:t>[future] </a:t>
            </a:r>
            <a:r>
              <a:rPr sz="1200" b="0">
                <a:solidFill>
                  <a:srgbClr val="1B1B1B"/>
                </a:solidFill>
                <a:latin typeface="Calibri"/>
              </a:rPr>
              <a:t>• Joint split + allocation under one capacity, with the inversion benchmark as the RU compute limit</a:t>
            </a:r>
          </a:p>
          <a:p>
            <a:pPr algn="l">
              <a:lnSpc>
                <a:spcPct val="105000"/>
              </a:lnSpc>
              <a:spcAft>
                <a:spcPts val="400"/>
              </a:spcAft>
            </a:pPr>
            <a:r>
              <a:rPr sz="900" b="1">
                <a:solidFill>
                  <a:srgbClr val="1F7A8C"/>
                </a:solidFill>
                <a:latin typeface="Calibri"/>
              </a:rPr>
              <a:t>[future] </a:t>
            </a:r>
            <a:r>
              <a:rPr sz="1200" b="0">
                <a:solidFill>
                  <a:srgbClr val="1B1B1B"/>
                </a:solidFill>
                <a:latin typeface="Calibri"/>
              </a:rPr>
              <a:t>• Sensitivity to noise-estimate and rank errors</a:t>
            </a:r>
          </a:p>
          <a:p>
            <a:pPr algn="l">
              <a:lnSpc>
                <a:spcPct val="105000"/>
              </a:lnSpc>
              <a:spcAft>
                <a:spcPts val="400"/>
              </a:spcAft>
            </a:pPr>
            <a:r>
              <a:rPr sz="900" b="1">
                <a:solidFill>
                  <a:srgbClr val="1F7A8C"/>
                </a:solidFill>
                <a:latin typeface="Calibri"/>
              </a:rPr>
              <a:t>[future] </a:t>
            </a:r>
            <a:r>
              <a:rPr sz="1200" b="0">
                <a:solidFill>
                  <a:srgbClr val="1B1B1B"/>
                </a:solidFill>
                <a:latin typeface="Calibri"/>
              </a:rPr>
              <a:t>• Inversion benchmark on real channel matrices (ill-conditioned) and on fixed-latency hardware</a:t>
            </a:r>
          </a:p>
          <a:p>
            <a:pPr algn="l">
              <a:lnSpc>
                <a:spcPct val="105000"/>
              </a:lnSpc>
              <a:spcAft>
                <a:spcPts val="400"/>
              </a:spcAft>
            </a:pPr>
            <a:r>
              <a:rPr sz="900" b="1">
                <a:solidFill>
                  <a:srgbClr val="1F7A8C"/>
                </a:solidFill>
                <a:latin typeface="Calibri"/>
              </a:rPr>
              <a:t>[future] </a:t>
            </a:r>
            <a:r>
              <a:rPr sz="1200" b="0">
                <a:solidFill>
                  <a:srgbClr val="1B1B1B"/>
                </a:solidFill>
                <a:latin typeface="Calibri"/>
              </a:rPr>
              <a:t>• Learned components only where no formula exists, judged against the formula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References (1/2) — checked sources, see docs/research_review.md</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References</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16</a:t>
            </a:r>
          </a:p>
        </p:txBody>
      </p:sp>
      <p:sp>
        <p:nvSpPr>
          <p:cNvPr id="7" name="TextBox 6"/>
          <p:cNvSpPr txBox="1"/>
          <p:nvPr/>
        </p:nvSpPr>
        <p:spPr>
          <a:xfrm>
            <a:off x="365760" y="1097280"/>
            <a:ext cx="11430000" cy="5394960"/>
          </a:xfrm>
          <a:prstGeom prst="rect">
            <a:avLst/>
          </a:prstGeom>
          <a:noFill/>
        </p:spPr>
        <p:txBody>
          <a:bodyPr wrap="square" anchor="t" lIns="73152" rIns="73152" tIns="36576" bIns="36576">
            <a:spAutoFit/>
          </a:bodyPr>
          <a:lstStyle/>
          <a:p>
            <a:pPr algn="l">
              <a:lnSpc>
                <a:spcPct val="105000"/>
              </a:lnSpc>
              <a:spcAft>
                <a:spcPts val="200"/>
              </a:spcAft>
            </a:pPr>
            <a:r>
              <a:rPr sz="1000" b="0">
                <a:solidFill>
                  <a:srgbClr val="1B1B1B"/>
                </a:solidFill>
                <a:latin typeface="Calibri"/>
              </a:rPr>
              <a:t>[1] S.-H. Park, O. Simeone, O. Sahin, S. Shamai, "Fronthaul compression for cloud radio access networks," IEEE Signal Process. Mag., vol. 31, no. 6, 2014. doi:10.1109/MSP.2014.2330031 (abstract)</a:t>
            </a:r>
          </a:p>
          <a:p>
            <a:pPr algn="l">
              <a:lnSpc>
                <a:spcPct val="105000"/>
              </a:lnSpc>
              <a:spcAft>
                <a:spcPts val="200"/>
              </a:spcAft>
            </a:pPr>
            <a:r>
              <a:rPr sz="1000" b="0">
                <a:solidFill>
                  <a:srgbClr val="1B1B1B"/>
                </a:solidFill>
                <a:latin typeface="Calibri"/>
              </a:rPr>
              <a:t>[2] M. Peng, C. Wang, V. Lau, H. V. Poor, "Fronthaul-constrained cloud radio access networks: Insights and challenges," IEEE Wireless Commun., vol. 22, no. 2, 2015. (full text, author copy)</a:t>
            </a:r>
          </a:p>
          <a:p>
            <a:pPr algn="l">
              <a:lnSpc>
                <a:spcPct val="105000"/>
              </a:lnSpc>
              <a:spcAft>
                <a:spcPts val="200"/>
              </a:spcAft>
            </a:pPr>
            <a:r>
              <a:rPr sz="1000" b="0">
                <a:solidFill>
                  <a:srgbClr val="1B1B1B"/>
                </a:solidFill>
                <a:latin typeface="Calibri"/>
              </a:rPr>
              <a:t>[3] L. M. P. Larsen, A. Checko, H. L. Christiansen, "A survey of the functional splits proposed for 5G mobile crosshaul networks," IEEE Commun. Surveys Tuts., vol. 21, no. 1, 2019. (full text)</a:t>
            </a:r>
          </a:p>
          <a:p>
            <a:pPr algn="l">
              <a:lnSpc>
                <a:spcPct val="105000"/>
              </a:lnSpc>
              <a:spcAft>
                <a:spcPts val="200"/>
              </a:spcAft>
            </a:pPr>
            <a:r>
              <a:rPr sz="1000" b="0">
                <a:solidFill>
                  <a:srgbClr val="1B1B1B"/>
                </a:solidFill>
                <a:latin typeface="Calibri"/>
              </a:rPr>
              <a:t>[4] 3GPP TR 38.801 (Rel-14), "Study on new radio access technology: Radio access architecture and interfaces," §11.1.2, Annex A Tables A-1/A-2.</a:t>
            </a:r>
          </a:p>
          <a:p>
            <a:pPr algn="l">
              <a:lnSpc>
                <a:spcPct val="105000"/>
              </a:lnSpc>
              <a:spcAft>
                <a:spcPts val="200"/>
              </a:spcAft>
            </a:pPr>
            <a:r>
              <a:rPr sz="1000" b="0">
                <a:solidFill>
                  <a:srgbClr val="1B1B1B"/>
                </a:solidFill>
                <a:latin typeface="Calibri"/>
              </a:rPr>
              <a:t>[5] O-RAN Alliance WG4, "Control, User and Synchronization Plane Specification," O-RAN.WG4.TS.CUS.0-R004-v19.00, Annex A (compression methods). (annex listing; BFP details cross-checked with [6])</a:t>
            </a:r>
          </a:p>
          <a:p>
            <a:pPr algn="l">
              <a:lnSpc>
                <a:spcPct val="105000"/>
              </a:lnSpc>
              <a:spcAft>
                <a:spcPts val="200"/>
              </a:spcAft>
            </a:pPr>
            <a:r>
              <a:rPr sz="1000" b="0">
                <a:solidFill>
                  <a:srgbClr val="1B1B1B"/>
                </a:solidFill>
                <a:latin typeface="Calibri"/>
              </a:rPr>
              <a:t>[6] M. D. L. Silva, L. Ramalho, I. Almeida, E. Medeiros, M. Berg, A. Klautau, "A new O-RAN compression approach for improved performance on uplink signals," J. Commun. Inf. Syst., vol. 37, no. 1, pp. 30–41, 2022. doi:10.14209/jcis.2022.3 (full text)</a:t>
            </a:r>
          </a:p>
          <a:p>
            <a:pPr algn="l">
              <a:lnSpc>
                <a:spcPct val="105000"/>
              </a:lnSpc>
              <a:spcAft>
                <a:spcPts val="200"/>
              </a:spcAft>
            </a:pPr>
            <a:r>
              <a:rPr sz="1000" b="0">
                <a:solidFill>
                  <a:srgbClr val="1B1B1B"/>
                </a:solidFill>
                <a:latin typeface="Calibri"/>
              </a:rPr>
              <a:t>[7] S. Lagén, L. Giupponi, A. Hansson, X. Gelabert, "Modulation compression in next generation RAN: Air interface and fronthaul trade-offs," IEEE Commun. Mag., vol. 59, no. 1, 2021. doi:10.1109/MCOM.001.2000453 (full text)</a:t>
            </a:r>
          </a:p>
          <a:p>
            <a:pPr algn="l">
              <a:lnSpc>
                <a:spcPct val="105000"/>
              </a:lnSpc>
              <a:spcAft>
                <a:spcPts val="200"/>
              </a:spcAft>
            </a:pPr>
            <a:r>
              <a:rPr sz="1000" b="0">
                <a:solidFill>
                  <a:srgbClr val="1B1B1B"/>
                </a:solidFill>
                <a:latin typeface="Calibri"/>
              </a:rPr>
              <a:t>[8] S. Lagén, X. Gelabert, L. Giupponi, A. Hansson, "Fronthaul-aware scheduling strategies for dynamic modulation compression in next generation RANs," IEEE Trans. Mobile Comput., vol. 22, no. 5, pp. 2725–2740, 2023. (abstract)</a:t>
            </a:r>
          </a:p>
          <a:p>
            <a:pPr algn="l">
              <a:lnSpc>
                <a:spcPct val="105000"/>
              </a:lnSpc>
              <a:spcAft>
                <a:spcPts val="200"/>
              </a:spcAft>
            </a:pPr>
            <a:r>
              <a:rPr sz="1000" b="0">
                <a:solidFill>
                  <a:srgbClr val="1B1B1B"/>
                </a:solidFill>
                <a:latin typeface="Calibri"/>
              </a:rPr>
              <a:t>[9] S. Lagén, X. Gelabert, A. Hansson, M. Requena, L. Giupponi, "Fronthaul compression control for shared fronthaul access networks," IEEE Commun. Mag., vol. 60, no. 6, 2022. doi:10.1109/MCOM.001.2100959 (full text)</a:t>
            </a:r>
          </a:p>
          <a:p>
            <a:pPr algn="l">
              <a:lnSpc>
                <a:spcPct val="105000"/>
              </a:lnSpc>
              <a:spcAft>
                <a:spcPts val="200"/>
              </a:spcAft>
            </a:pPr>
            <a:r>
              <a:rPr sz="1000" b="0">
                <a:solidFill>
                  <a:srgbClr val="1B1B1B"/>
                </a:solidFill>
                <a:latin typeface="Calibri"/>
              </a:rPr>
              <a:t>[10] M. Rahmani et al., "Exploring O-RAN compression techniques in decentralized distributed MIMO systems: Reducing fronthaul load," arXiv:2507.04997, 2025. (preprint, full text)</a:t>
            </a:r>
          </a:p>
          <a:p>
            <a:pPr algn="l">
              <a:lnSpc>
                <a:spcPct val="105000"/>
              </a:lnSpc>
              <a:spcAft>
                <a:spcPts val="200"/>
              </a:spcAft>
            </a:pPr>
            <a:r>
              <a:rPr sz="1000" b="0">
                <a:solidFill>
                  <a:srgbClr val="1B1B1B"/>
                </a:solidFill>
                <a:latin typeface="Calibri"/>
              </a:rPr>
              <a:t>[11] "Hardware implementation for O-RAN block floating point compression and decompression methods in 5G base station," Proc. ATC 2024. doi:10.1109/ATC63255.2024.10908174 (abstract)</a:t>
            </a:r>
          </a:p>
          <a:p>
            <a:pPr algn="l">
              <a:lnSpc>
                <a:spcPct val="105000"/>
              </a:lnSpc>
              <a:spcAft>
                <a:spcPts val="200"/>
              </a:spcAft>
            </a:pPr>
            <a:r>
              <a:rPr sz="1000" b="0">
                <a:solidFill>
                  <a:srgbClr val="1B1B1B"/>
                </a:solidFill>
                <a:latin typeface="Calibri"/>
              </a:rPr>
              <a:t>[12] S. Yagi et al., "Deep learning-based nonlinear quantizer for fronthaul compression," Proc. OECC/PSC 2022. (abstract)</a:t>
            </a:r>
          </a:p>
          <a:p>
            <a:pPr algn="l">
              <a:lnSpc>
                <a:spcPct val="105000"/>
              </a:lnSpc>
              <a:spcAft>
                <a:spcPts val="200"/>
              </a:spcAft>
            </a:pPr>
            <a:r>
              <a:rPr sz="1000" b="0">
                <a:solidFill>
                  <a:srgbClr val="1B1B1B"/>
                </a:solidFill>
                <a:latin typeface="Calibri"/>
              </a:rPr>
              <a:t>[13] R. Qiao, T. Jiang, W. Yu, "Learning-based fronthaul compression for uplink cloud radio access networks," Proc. IEEE ICC 2023, pp. 5928–5933. (abstract)</a:t>
            </a:r>
          </a:p>
          <a:p>
            <a:pPr algn="l">
              <a:lnSpc>
                <a:spcPct val="105000"/>
              </a:lnSpc>
              <a:spcAft>
                <a:spcPts val="200"/>
              </a:spcAft>
            </a:pPr>
            <a:r>
              <a:rPr sz="1000" b="0">
                <a:solidFill>
                  <a:srgbClr val="1B1B1B"/>
                </a:solidFill>
                <a:latin typeface="Calibri"/>
              </a:rPr>
              <a:t>[14] R. Qiao, T. Jiang, W. Yu, "Meta-learning-based fronthaul compression for cloud radio access networks," arXiv:2403.09004, 2024; IEEE Trans. Wireless Commun., vol. 23, no. 9, 2024. (abstract)</a:t>
            </a:r>
          </a:p>
          <a:p>
            <a:pPr algn="l">
              <a:lnSpc>
                <a:spcPct val="105000"/>
              </a:lnSpc>
              <a:spcAft>
                <a:spcPts val="200"/>
              </a:spcAft>
            </a:pPr>
            <a:r>
              <a:rPr sz="1000" b="0">
                <a:solidFill>
                  <a:srgbClr val="1B1B1B"/>
                </a:solidFill>
                <a:latin typeface="Calibri"/>
              </a:rPr>
              <a:t>[15] C.-K. Wen, W.-T. Shih, S. Jin, "Deep learning for massive MIMO CSI feedback," IEEE Wireless Commun. Lett., vol. 7, no. 5, pp. 748–751, 2018. (full text)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References (2/2) — checked sources, see docs/research_review.md</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References</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17</a:t>
            </a:r>
          </a:p>
        </p:txBody>
      </p:sp>
      <p:sp>
        <p:nvSpPr>
          <p:cNvPr id="7" name="TextBox 6"/>
          <p:cNvSpPr txBox="1"/>
          <p:nvPr/>
        </p:nvSpPr>
        <p:spPr>
          <a:xfrm>
            <a:off x="365760" y="1097280"/>
            <a:ext cx="11430000" cy="5394960"/>
          </a:xfrm>
          <a:prstGeom prst="rect">
            <a:avLst/>
          </a:prstGeom>
          <a:noFill/>
        </p:spPr>
        <p:txBody>
          <a:bodyPr wrap="square" anchor="t" lIns="73152" rIns="73152" tIns="36576" bIns="36576">
            <a:spAutoFit/>
          </a:bodyPr>
          <a:lstStyle/>
          <a:p>
            <a:pPr algn="l">
              <a:lnSpc>
                <a:spcPct val="105000"/>
              </a:lnSpc>
              <a:spcAft>
                <a:spcPts val="200"/>
              </a:spcAft>
            </a:pPr>
            <a:r>
              <a:rPr sz="1000" b="0">
                <a:solidFill>
                  <a:srgbClr val="1B1B1B"/>
                </a:solidFill>
                <a:latin typeface="Calibri"/>
              </a:rPr>
              <a:t>[16] F. W. Murti, S. Ali, G. Iosifidis, M. Latva-aho, "Learning-based orchestration for dynamic functional split and resource allocation in vRANs," Proc. EuCNC/6G Summit 2022. (full text)</a:t>
            </a:r>
          </a:p>
          <a:p>
            <a:pPr algn="l">
              <a:lnSpc>
                <a:spcPct val="105000"/>
              </a:lnSpc>
              <a:spcAft>
                <a:spcPts val="200"/>
              </a:spcAft>
            </a:pPr>
            <a:r>
              <a:rPr sz="1000" b="0">
                <a:solidFill>
                  <a:srgbClr val="1B1B1B"/>
                </a:solidFill>
                <a:latin typeface="Calibri"/>
              </a:rPr>
              <a:t>[17] F. W. Murti, S. Ali, G. Iosifidis, M. Latva-aho, "Deep reinforcement learning for orchestrating cost-aware reconfigurations of vRANs," IEEE Trans. Netw. Service Manag., vol. 21, no. 1, pp. 200–216, 2024. doi:10.1109/TNSM.2023.3292713 (full text)</a:t>
            </a:r>
          </a:p>
          <a:p>
            <a:pPr algn="l">
              <a:lnSpc>
                <a:spcPct val="105000"/>
              </a:lnSpc>
              <a:spcAft>
                <a:spcPts val="200"/>
              </a:spcAft>
            </a:pPr>
            <a:r>
              <a:rPr sz="1000" b="0">
                <a:solidFill>
                  <a:srgbClr val="1B1B1B"/>
                </a:solidFill>
                <a:latin typeface="Calibri"/>
              </a:rPr>
              <a:t>[18] F. W. Murti, S. Ali, M. Latva-aho, "Constrained deep reinforcement based functional split optimization in virtualized RANs," arXiv:2106.00011, 2021. (abstract)</a:t>
            </a:r>
          </a:p>
          <a:p>
            <a:pPr algn="l">
              <a:lnSpc>
                <a:spcPct val="105000"/>
              </a:lnSpc>
              <a:spcAft>
                <a:spcPts val="200"/>
              </a:spcAft>
            </a:pPr>
            <a:r>
              <a:rPr sz="1000" b="0">
                <a:solidFill>
                  <a:srgbClr val="1B1B1B"/>
                </a:solidFill>
                <a:latin typeface="Calibri"/>
              </a:rPr>
              <a:t>[19] N. Halko, P.-G. Martinsson, J. A. Tropp, "Finding structure with randomness," SIAM Rev., vol. 53, no. 2, pp. 217–288, 2011. doi:10.1137/090771806 (full text)</a:t>
            </a:r>
          </a:p>
          <a:p>
            <a:pPr algn="l">
              <a:lnSpc>
                <a:spcPct val="105000"/>
              </a:lnSpc>
              <a:spcAft>
                <a:spcPts val="200"/>
              </a:spcAft>
            </a:pPr>
            <a:r>
              <a:rPr sz="1000" b="0">
                <a:solidFill>
                  <a:srgbClr val="1B1B1B"/>
                </a:solidFill>
                <a:latin typeface="Calibri"/>
              </a:rPr>
              <a:t>[20] J. A. Tropp, "Improved analysis of the subsampled randomized Hadamard transform," Adv. Adapt. Data Anal., vol. 3, no. 1–2, pp. 115–126, 2011. (full text, preprint)</a:t>
            </a:r>
          </a:p>
          <a:p>
            <a:pPr algn="l">
              <a:lnSpc>
                <a:spcPct val="105000"/>
              </a:lnSpc>
              <a:spcAft>
                <a:spcPts val="200"/>
              </a:spcAft>
            </a:pPr>
            <a:r>
              <a:rPr sz="1000" b="0">
                <a:solidFill>
                  <a:srgbClr val="1B1B1B"/>
                </a:solidFill>
                <a:latin typeface="Calibri"/>
              </a:rPr>
              <a:t>[21] Y. Shoham, A. Gersho, "Efficient bit allocation for an arbitrary set of quantizers," IEEE Trans. Acoust., Speech, Signal Process., vol. 36, no. 9, pp. 1445–1453, 1988. doi:10.1109/29.90373 (abstract)</a:t>
            </a:r>
          </a:p>
          <a:p>
            <a:pPr algn="l">
              <a:lnSpc>
                <a:spcPct val="105000"/>
              </a:lnSpc>
              <a:spcAft>
                <a:spcPts val="200"/>
              </a:spcAft>
            </a:pPr>
            <a:r>
              <a:rPr sz="1000" b="0">
                <a:solidFill>
                  <a:srgbClr val="1B1B1B"/>
                </a:solidFill>
                <a:latin typeface="Calibri"/>
              </a:rPr>
              <a:t>[22] Aswathylakshmi P, R. K. Ganti, "Fronthaul compression for uplink massive MIMO using matrix decomposition," Proc. IEEE WCNC 2022, pp. 2524–2529. doi:10.1109/WCNC51071.2022.9771783 (full text)</a:t>
            </a:r>
          </a:p>
          <a:p>
            <a:pPr algn="l">
              <a:lnSpc>
                <a:spcPct val="105000"/>
              </a:lnSpc>
              <a:spcAft>
                <a:spcPts val="200"/>
              </a:spcAft>
            </a:pPr>
            <a:r>
              <a:rPr sz="1000" b="0">
                <a:solidFill>
                  <a:srgbClr val="1B1B1B"/>
                </a:solidFill>
                <a:latin typeface="Calibri"/>
              </a:rPr>
              <a:t>[23] F. Wiffen, W. H. Chin, A. Doufexi, "Distributed dimension reduction for distributed massive MIMO C-RAN with finite fronthaul capacity," Proc. Asilomar 2021, pp. 1228–1236. doi:10.1109/IEEECONF53345.2021.9723180 (full text)</a:t>
            </a:r>
          </a:p>
          <a:p>
            <a:pPr algn="l">
              <a:lnSpc>
                <a:spcPct val="105000"/>
              </a:lnSpc>
              <a:spcAft>
                <a:spcPts val="200"/>
              </a:spcAft>
            </a:pPr>
            <a:r>
              <a:rPr sz="1000" b="0">
                <a:solidFill>
                  <a:srgbClr val="1B1B1B"/>
                </a:solidFill>
                <a:latin typeface="Calibri"/>
              </a:rPr>
              <a:t>[24] L. Li et al., "Enabling flexible link capacity for eCPRI-based fronthaul with load-adaptive quantization resolution," IEEE Access, vol. 7, pp. 102174–102185, 2019. doi:10.1109/ACCESS.2019.2930214 (full text)</a:t>
            </a:r>
          </a:p>
          <a:p>
            <a:pPr algn="l">
              <a:lnSpc>
                <a:spcPct val="105000"/>
              </a:lnSpc>
              <a:spcAft>
                <a:spcPts val="200"/>
              </a:spcAft>
            </a:pPr>
            <a:r>
              <a:rPr sz="1000" b="0">
                <a:solidFill>
                  <a:srgbClr val="1B1B1B"/>
                </a:solidFill>
                <a:latin typeface="Calibri"/>
              </a:rPr>
              <a:t>[25] I. Kanno et al., "Adaptive bit allocation for SVD based hybrid processing of uplink cell-free massive MIMO under limited fronthaul capacity," Proc. IEEE VTC2023-Spring. doi:10.1109/VTC2023-Spring57618.2023.10201009 (abstract)</a:t>
            </a:r>
          </a:p>
          <a:p>
            <a:pPr algn="l">
              <a:lnSpc>
                <a:spcPct val="105000"/>
              </a:lnSpc>
              <a:spcAft>
                <a:spcPts val="200"/>
              </a:spcAft>
            </a:pPr>
            <a:r>
              <a:rPr sz="1000" b="0">
                <a:solidFill>
                  <a:srgbClr val="1B1B1B"/>
                </a:solidFill>
                <a:latin typeface="Calibri"/>
              </a:rPr>
              <a:t>[26] L. Liu, R. Zhang, "Optimized uplink transmission in multi-antenna C-RAN with spatial compression and forward," IEEE Trans. Signal Process., vol. 63, no. 19, pp. 5083–5095, 2015. (abstract)</a:t>
            </a:r>
          </a:p>
          <a:p>
            <a:pPr algn="l">
              <a:lnSpc>
                <a:spcPct val="105000"/>
              </a:lnSpc>
              <a:spcAft>
                <a:spcPts val="200"/>
              </a:spcAft>
            </a:pPr>
            <a:r>
              <a:rPr sz="1000" b="0">
                <a:solidFill>
                  <a:srgbClr val="1B1B1B"/>
                </a:solidFill>
                <a:latin typeface="Calibri"/>
              </a:rPr>
              <a:t>[27] A. Martínez Alba, W. Kellerer, "Dynamic functional split adaptation in next-generation radio access networks," IEEE Trans. Netw. Service Manag., vol. 19, no. 3, pp. 3239–3263, 2022. (abstract)</a:t>
            </a:r>
          </a:p>
          <a:p>
            <a:pPr algn="l">
              <a:lnSpc>
                <a:spcPct val="105000"/>
              </a:lnSpc>
              <a:spcAft>
                <a:spcPts val="200"/>
              </a:spcAft>
            </a:pPr>
            <a:r>
              <a:rPr sz="1000" b="0">
                <a:solidFill>
                  <a:srgbClr val="1B1B1B"/>
                </a:solidFill>
                <a:latin typeface="Calibri"/>
              </a:rPr>
              <a:t>[28] L. Wang, S. Zhou, "On the fronthaul statistical multiplexing gain," IEEE Commun. Lett., vol. 21, no. 5, pp. 1099–1102, 2017. (abstract)</a:t>
            </a:r>
          </a:p>
          <a:p>
            <a:pPr algn="l">
              <a:lnSpc>
                <a:spcPct val="105000"/>
              </a:lnSpc>
              <a:spcAft>
                <a:spcPts val="200"/>
              </a:spcAft>
            </a:pPr>
            <a:r>
              <a:rPr sz="1000" b="0">
                <a:solidFill>
                  <a:srgbClr val="1B1B1B"/>
                </a:solidFill>
                <a:latin typeface="Calibri"/>
              </a:rPr>
              <a:t>[29] 3GPP TR 38.901 V19.4.0, "Study on channel model for frequencies from 0.5 to 100 GHz," cl. 7.7.2–7.7.5 (TDL-A, delay scaling, correlation extension).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Backup — audit: problems found in the original material</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Backup</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18</a:t>
            </a:r>
          </a:p>
        </p:txBody>
      </p:sp>
      <p:sp>
        <p:nvSpPr>
          <p:cNvPr id="7" name="TextBox 6"/>
          <p:cNvSpPr txBox="1"/>
          <p:nvPr/>
        </p:nvSpPr>
        <p:spPr>
          <a:xfrm>
            <a:off x="365760" y="1188720"/>
            <a:ext cx="11430000" cy="4937760"/>
          </a:xfrm>
          <a:prstGeom prst="rect">
            <a:avLst/>
          </a:prstGeom>
          <a:noFill/>
        </p:spPr>
        <p:txBody>
          <a:bodyPr wrap="square" anchor="t" lIns="73152" rIns="73152" tIns="36576" bIns="36576">
            <a:spAutoFit/>
          </a:bodyPr>
          <a:lstStyle/>
          <a:p>
            <a:pPr algn="l">
              <a:lnSpc>
                <a:spcPct val="105000"/>
              </a:lnSpc>
              <a:spcAft>
                <a:spcPts val="400"/>
              </a:spcAft>
            </a:pPr>
            <a:r>
              <a:rPr sz="1300" b="0">
                <a:solidFill>
                  <a:srgbClr val="1B1B1B"/>
                </a:solidFill>
                <a:latin typeface="Calibri"/>
              </a:rPr>
              <a:t>• `src/` absent from every commit and branch; Exp1-4 and the notebook import it → nothing ran</a:t>
            </a:r>
          </a:p>
          <a:p>
            <a:pPr algn="l">
              <a:lnSpc>
                <a:spcPct val="105000"/>
              </a:lnSpc>
              <a:spcAft>
                <a:spcPts val="400"/>
              </a:spcAft>
            </a:pPr>
            <a:r>
              <a:rPr sz="1300" b="0">
                <a:solidFill>
                  <a:srgbClr val="1B1B1B"/>
                </a:solidFill>
                <a:latin typeface="Calibri"/>
              </a:rPr>
              <a:t>• Exp2 SVD baseline: committed figure ~1.7 s at M=64 vs 13 ms for the thin SVD; O(MN) reference line plotted in seconds on a millisecond axis</a:t>
            </a:r>
          </a:p>
          <a:p>
            <a:pPr algn="l">
              <a:lnSpc>
                <a:spcPct val="105000"/>
              </a:lnSpc>
              <a:spcAft>
                <a:spcPts val="400"/>
              </a:spcAft>
            </a:pPr>
            <a:r>
              <a:rPr sz="1300" b="0">
                <a:solidFill>
                  <a:srgbClr val="1B1B1B"/>
                </a:solidFill>
                <a:latin typeface="Calibri"/>
              </a:rPr>
              <a:t>• Exp3: 'fast rank estimate' = exact rank + random {−1,0,1}; 'Theorem 5 bound' lay below the simulated curve → not a bound</a:t>
            </a:r>
          </a:p>
          <a:p>
            <a:pPr algn="l">
              <a:lnSpc>
                <a:spcPct val="105000"/>
              </a:lnSpc>
              <a:spcAft>
                <a:spcPts val="400"/>
              </a:spcAft>
            </a:pPr>
            <a:r>
              <a:rPr sz="1300" b="0">
                <a:solidFill>
                  <a:srgbClr val="1B1B1B"/>
                </a:solidFill>
                <a:latin typeface="Calibri"/>
              </a:rPr>
              <a:t>• ACAFS: split 6 treated as the most expensive split; TR 38.801 ordering is R_6 ≪ R_7.2x-beam ≤ R_7.x-antenna</a:t>
            </a:r>
          </a:p>
          <a:p>
            <a:pPr algn="l">
              <a:lnSpc>
                <a:spcPct val="105000"/>
              </a:lnSpc>
              <a:spcAft>
                <a:spcPts val="400"/>
              </a:spcAft>
            </a:pPr>
            <a:r>
              <a:rPr sz="1300" b="0">
                <a:solidFill>
                  <a:srgbClr val="1B1B1B"/>
                </a:solidFill>
                <a:latin typeface="Calibri"/>
              </a:rPr>
              <a:t>• Exp4: 'stable across SNR' claimed while the figure shows NMSE ≈ −SNR</a:t>
            </a:r>
          </a:p>
          <a:p>
            <a:pPr algn="l">
              <a:lnSpc>
                <a:spcPct val="105000"/>
              </a:lnSpc>
              <a:spcAft>
                <a:spcPts val="400"/>
              </a:spcAft>
            </a:pPr>
            <a:r>
              <a:rPr sz="1300" b="0">
                <a:solidFill>
                  <a:srgbClr val="1B1B1B"/>
                </a:solidFill>
                <a:latin typeface="Calibri"/>
              </a:rPr>
              <a:t>• CSEE input: constant pilot ⇒ delay sparsity; with random QPSK per subcarrier CSEE gives ≈ −0.5 dB</a:t>
            </a:r>
          </a:p>
          <a:p>
            <a:pPr algn="l">
              <a:lnSpc>
                <a:spcPct val="105000"/>
              </a:lnSpc>
              <a:spcAft>
                <a:spcPts val="400"/>
              </a:spcAft>
            </a:pPr>
            <a:r>
              <a:rPr sz="1300" b="0">
                <a:solidFill>
                  <a:srgbClr val="1B1B1B"/>
                </a:solidFill>
                <a:latin typeface="Calibri"/>
              </a:rPr>
              <a:t>• CR reference 32-bit components ⇒ all CRs inflated 2x (BFP b=8: 3.9x quoted vs 2.0x against 16-bit)</a:t>
            </a:r>
          </a:p>
          <a:p>
            <a:pPr algn="l">
              <a:lnSpc>
                <a:spcPct val="105000"/>
              </a:lnSpc>
              <a:spcAft>
                <a:spcPts val="400"/>
              </a:spcAft>
            </a:pPr>
            <a:r>
              <a:rPr sz="1300" b="0">
                <a:solidFill>
                  <a:srgbClr val="1B1B1B"/>
                </a:solidFill>
                <a:latin typeface="Calibri"/>
              </a:rPr>
              <a:t>• Docs: 'Theorems 1-5' without statements or proofs; '100 MHz at 15 kHz' with N=1200 (= 18 MHz); journal targets and hardware roadmap not backed by code</a:t>
            </a:r>
          </a:p>
          <a:p>
            <a:pPr algn="l">
              <a:lnSpc>
                <a:spcPct val="105000"/>
              </a:lnSpc>
              <a:spcAft>
                <a:spcPts val="400"/>
              </a:spcAft>
            </a:pPr>
            <a:r>
              <a:rPr sz="1300" b="0">
                <a:solidFill>
                  <a:srgbClr val="1B1B1B"/>
                </a:solidFill>
                <a:latin typeface="Calibri"/>
              </a:rPr>
              <a:t>• matinv_bench: ReLU vs GELU in the NumPy engine; docstring claiming 1e-7 error and LU-beating latency</a:t>
            </a:r>
          </a:p>
          <a:p>
            <a:pPr algn="l">
              <a:lnSpc>
                <a:spcPct val="105000"/>
              </a:lnSpc>
              <a:spcAft>
                <a:spcPts val="400"/>
              </a:spcAft>
            </a:pPr>
            <a:r>
              <a:rPr sz="1300" b="0">
                <a:solidFill>
                  <a:srgbClr val="5D6D7E"/>
                </a:solidFill>
                <a:latin typeface="Calibri"/>
              </a:rPr>
              <a:t>• Original figures and tables preserved in results/original_snapshot/ for comparison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Backup — Proposition 1 step by step, and the noise-aware form</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Backup</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19</a:t>
            </a:r>
          </a:p>
        </p:txBody>
      </p:sp>
      <p:sp>
        <p:nvSpPr>
          <p:cNvPr id="7" name="TextBox 6"/>
          <p:cNvSpPr txBox="1"/>
          <p:nvPr/>
        </p:nvSpPr>
        <p:spPr>
          <a:xfrm>
            <a:off x="365760" y="1188720"/>
            <a:ext cx="11430000" cy="4937760"/>
          </a:xfrm>
          <a:prstGeom prst="rect">
            <a:avLst/>
          </a:prstGeom>
          <a:noFill/>
        </p:spPr>
        <p:txBody>
          <a:bodyPr wrap="square" anchor="t" lIns="73152" rIns="73152" tIns="36576" bIns="36576">
            <a:spAutoFit/>
          </a:bodyPr>
          <a:lstStyle/>
          <a:p>
            <a:pPr algn="l">
              <a:lnSpc>
                <a:spcPct val="105000"/>
              </a:lnSpc>
              <a:spcAft>
                <a:spcPts val="400"/>
              </a:spcAft>
            </a:pPr>
            <a:r>
              <a:rPr sz="1300" b="0">
                <a:solidFill>
                  <a:srgbClr val="1B1B1B"/>
                </a:solidFill>
                <a:latin typeface="Calibri"/>
              </a:rPr>
              <a:t>• Set-up: Y is M×N. Y_d = IFFT along each row (numpy convention: Y = FFT(Y_d), so ‖Y‖²_F = N‖Y_d‖²_F). Encoder keeps columns S (|S| = K) and BFP-quantises them: Ŷ_d = Q(Y_d[:,S]) on S, 0 elsewhere. Decoder: Ŷ = FFT(Ŷ_d).</a:t>
            </a:r>
          </a:p>
          <a:p>
            <a:pPr algn="l">
              <a:lnSpc>
                <a:spcPct val="105000"/>
              </a:lnSpc>
              <a:spcAft>
                <a:spcPts val="400"/>
              </a:spcAft>
            </a:pPr>
            <a:r>
              <a:rPr sz="1300" b="0">
                <a:solidFill>
                  <a:srgbClr val="1B1B1B"/>
                </a:solidFill>
                <a:latin typeface="Calibri"/>
              </a:rPr>
              <a:t>• ‖Y − Ŷ‖²_F = N‖Y_d − Ŷ_d‖²_F = N( Σ_{n∉S}‖Y_d[:,n]‖² + ‖Y_d[:,S] − Q(Y_d[:,S])‖²_F ) = N(T_S + E_q).</a:t>
            </a:r>
          </a:p>
          <a:p>
            <a:pPr algn="l">
              <a:lnSpc>
                <a:spcPct val="105000"/>
              </a:lnSpc>
              <a:spcAft>
                <a:spcPts val="400"/>
              </a:spcAft>
            </a:pPr>
            <a:r>
              <a:rPr sz="1300" b="0">
                <a:solidFill>
                  <a:srgbClr val="1B1B1B"/>
                </a:solidFill>
                <a:latin typeface="Calibri"/>
              </a:rPr>
              <a:t>• NMSE = (T_S + E_q) / ‖Y_d‖²_F.  T_S (dropped taps) is exact; E_q (quantisation) depends on the quantiser.</a:t>
            </a:r>
          </a:p>
          <a:p>
            <a:pPr algn="l">
              <a:lnSpc>
                <a:spcPct val="105000"/>
              </a:lnSpc>
              <a:spcAft>
                <a:spcPts val="400"/>
              </a:spcAft>
            </a:pPr>
            <a:r>
              <a:rPr sz="1300" b="0">
                <a:solidFill>
                  <a:srgbClr val="1B1B1B"/>
                </a:solidFill>
                <a:latin typeface="Calibri"/>
              </a:rPr>
              <a:t>• BFP block with exponent e_b, step Δ_b = 2^{e_b}: per real component |error| ≤ Δ_b/2, variance ≈ Δ_b²/12. Per complex sample: ≤ Δ_b²/2 worst case, ≈ Δ_b²/6 expected. Sum over the non-zero samples of each block. Zero samples quantise exactly.</a:t>
            </a:r>
          </a:p>
          <a:p>
            <a:pPr algn="l">
              <a:lnSpc>
                <a:spcPct val="105000"/>
              </a:lnSpc>
              <a:spcAft>
                <a:spcPts val="400"/>
              </a:spcAft>
            </a:pPr>
            <a:r>
              <a:rPr sz="1300" b="0">
                <a:solidFill>
                  <a:srgbClr val="1B1B1B"/>
                </a:solidFill>
                <a:latin typeface="Calibri"/>
              </a:rPr>
              <a:t>• Top-K sets are nested in K, so one sort of the N tap energies gives T_S for all K; block maxima per K give Δ_b for all b by a shift of log₂(2^{b−1}−1). The whole 66-setting menu costs about one encoder pass.</a:t>
            </a:r>
          </a:p>
          <a:p>
            <a:pPr algn="l">
              <a:lnSpc>
                <a:spcPct val="105000"/>
              </a:lnSpc>
              <a:spcAft>
                <a:spcPts val="400"/>
              </a:spcAft>
            </a:pPr>
            <a:r>
              <a:rPr sz="1300" b="0">
                <a:solidFill>
                  <a:srgbClr val="1B1B1B"/>
                </a:solidFill>
                <a:latin typeface="Calibri"/>
              </a:rPr>
              <a:t>• Noise-aware form (RU knows σ²): white noise has total delay-domain energy Mσ² spread evenly over the N taps. Signal error ≈ [max(T_S − Mσ²(N−K)/N, 0) + Mσ²K/N + E_q] / (‖Y_d‖² − Mσ²). Measured within 0.1 dB at 20 dB SNR and ≈1.7 dB at 0 dB SNR.</a:t>
            </a:r>
          </a:p>
          <a:p>
            <a:pPr algn="l">
              <a:lnSpc>
                <a:spcPct val="105000"/>
              </a:lnSpc>
              <a:spcAft>
                <a:spcPts val="400"/>
              </a:spcAft>
            </a:pPr>
            <a:r>
              <a:rPr sz="1300" b="0">
                <a:solidFill>
                  <a:srgbClr val="1F7A8C"/>
                </a:solidFill>
                <a:latin typeface="Calibri"/>
              </a:rPr>
              <a:t>• Why it matters: with the plain form the allocator upgrades low-SNR RUs to reproduce noise; with the noise-aware form extra bits stop paying once the dropped taps are only noise, so capacity is released.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Backup — RAS-BFP algorithm and Theorem 2</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Backup</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20</a:t>
            </a:r>
          </a:p>
        </p:txBody>
      </p:sp>
      <p:sp>
        <p:nvSpPr>
          <p:cNvPr id="7" name="TextBox 6"/>
          <p:cNvSpPr txBox="1"/>
          <p:nvPr/>
        </p:nvSpPr>
        <p:spPr>
          <a:xfrm>
            <a:off x="365760" y="1188720"/>
            <a:ext cx="11430000" cy="4937760"/>
          </a:xfrm>
          <a:prstGeom prst="rect">
            <a:avLst/>
          </a:prstGeom>
          <a:noFill/>
        </p:spPr>
        <p:txBody>
          <a:bodyPr wrap="square" anchor="t" lIns="73152" rIns="73152" tIns="36576" bIns="36576">
            <a:spAutoFit/>
          </a:bodyPr>
          <a:lstStyle/>
          <a:p>
            <a:pPr algn="l">
              <a:lnSpc>
                <a:spcPct val="105000"/>
              </a:lnSpc>
              <a:spcAft>
                <a:spcPts val="400"/>
              </a:spcAft>
            </a:pPr>
            <a:r>
              <a:rPr sz="1300" b="0">
                <a:solidFill>
                  <a:srgbClr val="1B1B1B"/>
                </a:solidFill>
                <a:latin typeface="Calibri"/>
              </a:rPr>
              <a:t>• 1. Sketch the antenna dimension: Z = Ω Y, size (r+p)×N. Ω = √(M/(r+p)) · S · H_M · D (SRHT: random signs D, Walsh–Hadamard H_M by fast transform, row sampler S) or a Gaussian matrix.</a:t>
            </a:r>
          </a:p>
          <a:p>
            <a:pPr algn="l">
              <a:lnSpc>
                <a:spcPct val="105000"/>
              </a:lnSpc>
              <a:spcAft>
                <a:spcPts val="400"/>
              </a:spcAft>
            </a:pPr>
            <a:r>
              <a:rPr sz="1300" b="0">
                <a:solidFill>
                  <a:srgbClr val="1B1B1B"/>
                </a:solidFill>
                <a:latin typeface="Calibri"/>
              </a:rPr>
              <a:t>• 2. Thin QR: Zᴴ = Q R. Q (N×(r+p)) spans an approximate dominant right singular subspace of Y.</a:t>
            </a:r>
          </a:p>
          <a:p>
            <a:pPr algn="l">
              <a:lnSpc>
                <a:spcPct val="105000"/>
              </a:lnSpc>
              <a:spcAft>
                <a:spcPts val="400"/>
              </a:spcAft>
            </a:pPr>
            <a:r>
              <a:rPr sz="1300" b="0">
                <a:solidFill>
                  <a:srgbClr val="1B1B1B"/>
                </a:solidFill>
                <a:latin typeface="Calibri"/>
              </a:rPr>
              <a:t>• 3. Project: L = Y Q (M×(r+p)); small SVD of L; keep rank r: L_r = U_rΣ_r, Q_r = Q V_r. Ŷ = L_r Q_rᴴ (HMT Algorithms 4.1 + 5.1).</a:t>
            </a:r>
          </a:p>
          <a:p>
            <a:pPr algn="l">
              <a:lnSpc>
                <a:spcPct val="105000"/>
              </a:lnSpc>
              <a:spcAft>
                <a:spcPts val="400"/>
              </a:spcAft>
            </a:pPr>
            <a:r>
              <a:rPr sz="1300" b="0">
                <a:solidFill>
                  <a:srgbClr val="1B1B1B"/>
                </a:solidFill>
                <a:latin typeface="Calibri"/>
              </a:rPr>
              <a:t>• 4. Send BFP(L_r) and BFP(Q_r) — the same payload shape as truncated SVD at rank r ⇒ equal CR, fair comparison.</a:t>
            </a:r>
          </a:p>
          <a:p>
            <a:pPr algn="l">
              <a:lnSpc>
                <a:spcPct val="105000"/>
              </a:lnSpc>
              <a:spcAft>
                <a:spcPts val="400"/>
              </a:spcAft>
            </a:pPr>
            <a:r>
              <a:rPr sz="1300" b="0">
                <a:solidFill>
                  <a:srgbClr val="1B1B1B"/>
                </a:solidFill>
                <a:latin typeface="Calibri"/>
              </a:rPr>
              <a:t>• Cost: O(MN log M) sketch (SRHT) or O(MN(r+p)) (Gaussian) + O(N(r+p)²) QR + O(MN(r+p)) projection, against O(MN·M) for the thin SVD.</a:t>
            </a:r>
          </a:p>
          <a:p>
            <a:pPr algn="l">
              <a:lnSpc>
                <a:spcPct val="105000"/>
              </a:lnSpc>
              <a:spcAft>
                <a:spcPts val="400"/>
              </a:spcAft>
            </a:pPr>
            <a:r>
              <a:rPr sz="1300" b="0">
                <a:solidFill>
                  <a:srgbClr val="1B1B1B"/>
                </a:solidFill>
                <a:latin typeface="Calibri"/>
              </a:rPr>
              <a:t>• Theorem 2 (HMT 2011, Thm 10.5, Gaussian Ω, p ≥ 2): E‖Y − YQQᴴ‖²_F ≤ (1 + r/(p−1)) Σ_{i&gt;r}σ_i². Truncating to rank r adds at most an Eckart–Young term (‖Y − Q[QᴴY]_r‖ ≤ ‖Y − QQᴴY‖ + ‖Y − Y_r‖), so E‖Y − Ŷ‖²_F ≤ (4 + 2r/(p−1)) Σ_{i&gt;r}σ_i². Quantisation comes on top.</a:t>
            </a:r>
          </a:p>
          <a:p>
            <a:pPr algn="l">
              <a:lnSpc>
                <a:spcPct val="105000"/>
              </a:lnSpc>
              <a:spcAft>
                <a:spcPts val="400"/>
              </a:spcAft>
            </a:pPr>
            <a:r>
              <a:rPr sz="1300" b="0">
                <a:solidFill>
                  <a:srgbClr val="5D6D7E"/>
                </a:solidFill>
                <a:latin typeface="Calibri"/>
              </a:rPr>
              <a:t>• Caveats: proven for Gaussian sketches; the SRHT (Tropp 2011) needs larger oversampling for a proof — with p = 4 the bound holds empirically with 6–10 dB slack in Exp1. For p &lt; 2 the code returns ∞ rather than an invalid bound. SRHT falls back to Gaussian when M is not a power of two or r+p ≥ 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Backup — ACAFS cost model and allocator pseudo-code</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Backup</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21</a:t>
            </a:r>
          </a:p>
        </p:txBody>
      </p:sp>
      <p:sp>
        <p:nvSpPr>
          <p:cNvPr id="7" name="TextBox 6"/>
          <p:cNvSpPr txBox="1"/>
          <p:nvPr/>
        </p:nvSpPr>
        <p:spPr>
          <a:xfrm>
            <a:off x="365760" y="1188720"/>
            <a:ext cx="5577840" cy="4937760"/>
          </a:xfrm>
          <a:prstGeom prst="rect">
            <a:avLst/>
          </a:prstGeom>
          <a:noFill/>
        </p:spPr>
        <p:txBody>
          <a:bodyPr wrap="square" anchor="t" lIns="73152" rIns="73152" tIns="36576" bIns="36576">
            <a:spAutoFit/>
          </a:bodyPr>
          <a:lstStyle/>
          <a:p>
            <a:pPr algn="l">
              <a:lnSpc>
                <a:spcPct val="105000"/>
              </a:lnSpc>
              <a:spcAft>
                <a:spcPts val="400"/>
              </a:spcAft>
            </a:pPr>
            <a:r>
              <a:rPr sz="1400" b="1">
                <a:solidFill>
                  <a:srgbClr val="142B45"/>
                </a:solidFill>
                <a:latin typeface="Calibri"/>
              </a:rPr>
              <a:t>• Bits per OFDM symbol per RU (M=64, N=1200, b=16, η=6, T_c=14)</a:t>
            </a:r>
          </a:p>
          <a:p>
            <a:pPr algn="l">
              <a:lnSpc>
                <a:spcPct val="105000"/>
              </a:lnSpc>
              <a:spcAft>
                <a:spcPts val="400"/>
              </a:spcAft>
            </a:pPr>
            <a:r>
              <a:rPr sz="1300" b="0">
                <a:solidFill>
                  <a:srgbClr val="1B1B1B"/>
                </a:solidFill>
                <a:latin typeface="Calibri"/>
              </a:rPr>
              <a:t>• all antennas: 2MNb = 2 457 600</a:t>
            </a:r>
          </a:p>
          <a:p>
            <a:pPr algn="l">
              <a:lnSpc>
                <a:spcPct val="105000"/>
              </a:lnSpc>
              <a:spcAft>
                <a:spcPts val="400"/>
              </a:spcAft>
            </a:pPr>
            <a:r>
              <a:rPr sz="1300" b="0">
                <a:solidFill>
                  <a:srgbClr val="1B1B1B"/>
                </a:solidFill>
                <a:latin typeface="Calibri"/>
              </a:rPr>
              <a:t>• r streams: 2rNb + 2Mrb/T_c  (r=10: 385 463; r=32: 1 233 481)</a:t>
            </a:r>
          </a:p>
          <a:p>
            <a:pPr algn="l">
              <a:lnSpc>
                <a:spcPct val="105000"/>
              </a:lnSpc>
              <a:spcAft>
                <a:spcPts val="400"/>
              </a:spcAft>
            </a:pPr>
            <a:r>
              <a:rPr sz="1300" b="0">
                <a:solidFill>
                  <a:srgbClr val="1B1B1B"/>
                </a:solidFill>
                <a:latin typeface="Calibri"/>
              </a:rPr>
              <a:t>• split 6, r layers: rNη  (r=10: 72 000; r=64: 460 800)</a:t>
            </a:r>
          </a:p>
          <a:p>
            <a:pPr algn="l">
              <a:lnSpc>
                <a:spcPct val="105000"/>
              </a:lnSpc>
              <a:spcAft>
                <a:spcPts val="400"/>
              </a:spcAft>
            </a:pPr>
            <a:r>
              <a:rPr sz="1300" b="0">
                <a:solidFill>
                  <a:srgbClr val="1B1B1B"/>
                </a:solidFill>
                <a:latin typeface="Calibri"/>
              </a:rPr>
              <a:t>• rule: ρ = r/M; ρ &lt; τ_high = 0.55 → streams = max(r, ⌈0.15·M⌉ = 10); else split 6 if allowed, else all antennas</a:t>
            </a:r>
          </a:p>
          <a:p>
            <a:pPr algn="l">
              <a:lnSpc>
                <a:spcPct val="105000"/>
              </a:lnSpc>
              <a:spcAft>
                <a:spcPts val="400"/>
              </a:spcAft>
            </a:pPr>
            <a:r>
              <a:rPr sz="1300" b="0">
                <a:solidFill>
                  <a:srgbClr val="1B1B1B"/>
                </a:solidFill>
                <a:latin typeface="Calibri"/>
              </a:rPr>
              <a:t>• Prop. 5 = average over r ∈ {1..M} of the saving under the rule (a prediction; the simulated saving can exceed it when ranks concentrate low)</a:t>
            </a:r>
          </a:p>
        </p:txBody>
      </p:sp>
      <p:sp>
        <p:nvSpPr>
          <p:cNvPr id="8" name="TextBox 7"/>
          <p:cNvSpPr txBox="1"/>
          <p:nvPr/>
        </p:nvSpPr>
        <p:spPr>
          <a:xfrm>
            <a:off x="6126480" y="1188720"/>
            <a:ext cx="5760720" cy="4937760"/>
          </a:xfrm>
          <a:prstGeom prst="rect">
            <a:avLst/>
          </a:prstGeom>
          <a:noFill/>
        </p:spPr>
        <p:txBody>
          <a:bodyPr wrap="square" anchor="t" lIns="73152" rIns="73152" tIns="36576" bIns="36576">
            <a:spAutoFit/>
          </a:bodyPr>
          <a:lstStyle/>
          <a:p>
            <a:pPr algn="l">
              <a:lnSpc>
                <a:spcPct val="105000"/>
              </a:lnSpc>
              <a:spcAft>
                <a:spcPts val="400"/>
              </a:spcAft>
            </a:pPr>
            <a:r>
              <a:rPr sz="1400" b="1">
                <a:solidFill>
                  <a:srgbClr val="142B45"/>
                </a:solidFill>
                <a:latin typeface="Calibri"/>
              </a:rPr>
              <a:t>• greedy_allocate(rates, errors, C, objective)</a:t>
            </a:r>
          </a:p>
          <a:p>
            <a:pPr algn="l">
              <a:lnSpc>
                <a:spcPct val="105000"/>
              </a:lnSpc>
              <a:spcAft>
                <a:spcPts val="400"/>
              </a:spcAft>
            </a:pPr>
            <a:r>
              <a:rPr sz="1300" b="0">
                <a:solidFill>
                  <a:srgbClr val="1B1B1B"/>
                </a:solidFill>
                <a:latin typeface="Calibri"/>
              </a:rPr>
              <a:t>• for each RU: keep only the (R, D) points on the lower convex hull (dominated points never help)</a:t>
            </a:r>
          </a:p>
          <a:p>
            <a:pPr algn="l">
              <a:lnSpc>
                <a:spcPct val="105000"/>
              </a:lnSpc>
              <a:spcAft>
                <a:spcPts val="400"/>
              </a:spcAft>
            </a:pPr>
            <a:r>
              <a:rPr sz="1300" b="0">
                <a:solidFill>
                  <a:srgbClr val="1B1B1B"/>
                </a:solidFill>
                <a:latin typeface="Calibri"/>
              </a:rPr>
              <a:t>• start every RU at its cheapest point; if Σ R &gt; C: drop the RUs with the largest predicted error at that point until it fits</a:t>
            </a:r>
          </a:p>
          <a:p>
            <a:pPr algn="l">
              <a:lnSpc>
                <a:spcPct val="105000"/>
              </a:lnSpc>
              <a:spcAft>
                <a:spcPts val="400"/>
              </a:spcAft>
            </a:pPr>
            <a:r>
              <a:rPr sz="1300" b="0">
                <a:solidFill>
                  <a:srgbClr val="1B1B1B"/>
                </a:solidFill>
                <a:latin typeface="Calibri"/>
              </a:rPr>
              <a:t>• repeat: among feasible next-hull upgrades pick the largest ΔD/ΔR (sum objective) or the RU with the current largest D (max objective); stop when nothing fits</a:t>
            </a:r>
          </a:p>
          <a:p>
            <a:pPr algn="l">
              <a:lnSpc>
                <a:spcPct val="105000"/>
              </a:lnSpc>
              <a:spcAft>
                <a:spcPts val="400"/>
              </a:spcAft>
            </a:pPr>
            <a:r>
              <a:rPr sz="1300" b="0">
                <a:solidFill>
                  <a:srgbClr val="1B1B1B"/>
                </a:solidFill>
                <a:latin typeface="Calibri"/>
              </a:rPr>
              <a:t>• guarantee: Lagrangian optimum up to one fractional upgrade (standard for the multiple-choice knapsack greedy on convex hulls; Shoham–Gersho 1988)</a:t>
            </a:r>
          </a:p>
          <a:p>
            <a:pPr algn="l">
              <a:lnSpc>
                <a:spcPct val="105000"/>
              </a:lnSpc>
              <a:spcAft>
                <a:spcPts val="400"/>
              </a:spcAft>
            </a:pPr>
            <a:r>
              <a:rPr sz="1300" b="0">
                <a:solidFill>
                  <a:srgbClr val="1B1B1B"/>
                </a:solidFill>
                <a:latin typeface="Calibri"/>
              </a:rPr>
              <a:t>• uniform_allocate: best single point that fits for all RUs — the static-configuration baseline</a:t>
            </a:r>
          </a:p>
          <a:p>
            <a:pPr algn="l">
              <a:lnSpc>
                <a:spcPct val="105000"/>
              </a:lnSpc>
              <a:spcAft>
                <a:spcPts val="400"/>
              </a:spcAft>
            </a:pPr>
            <a:r>
              <a:rPr sz="1300" b="0">
                <a:solidFill>
                  <a:srgbClr val="5D6D7E"/>
                </a:solidFill>
                <a:latin typeface="Calibri"/>
              </a:rPr>
              <a:t>• tests: capacity respected, greedy ≥ uniform on its objective, low load → best point, overload → drops, zero-traffic RU, invalid inputs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Backup — how to reproduce everything</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Backup</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22</a:t>
            </a:r>
          </a:p>
        </p:txBody>
      </p:sp>
      <p:sp>
        <p:nvSpPr>
          <p:cNvPr id="7" name="TextBox 6"/>
          <p:cNvSpPr txBox="1"/>
          <p:nvPr/>
        </p:nvSpPr>
        <p:spPr>
          <a:xfrm>
            <a:off x="365760" y="1188720"/>
            <a:ext cx="11430000" cy="4937760"/>
          </a:xfrm>
          <a:prstGeom prst="rect">
            <a:avLst/>
          </a:prstGeom>
          <a:noFill/>
        </p:spPr>
        <p:txBody>
          <a:bodyPr wrap="square" anchor="t" lIns="73152" rIns="73152" tIns="36576" bIns="36576">
            <a:spAutoFit/>
          </a:bodyPr>
          <a:lstStyle/>
          <a:p>
            <a:pPr algn="l">
              <a:lnSpc>
                <a:spcPct val="105000"/>
              </a:lnSpc>
              <a:spcAft>
                <a:spcPts val="400"/>
              </a:spcAft>
            </a:pPr>
            <a:r>
              <a:rPr sz="1300" b="0">
                <a:solidFill>
                  <a:srgbClr val="1B1B1B"/>
                </a:solidFill>
                <a:latin typeface="Calibri"/>
              </a:rPr>
              <a:t>• pip install -r requirements.txt   (numpy, scipy, pandas, matplotlib, tqdm, pytest; torch only for matinv_bench)</a:t>
            </a:r>
          </a:p>
          <a:p>
            <a:pPr algn="l">
              <a:lnSpc>
                <a:spcPct val="105000"/>
              </a:lnSpc>
              <a:spcAft>
                <a:spcPts val="400"/>
              </a:spcAft>
            </a:pPr>
            <a:r>
              <a:rPr sz="1300" b="0">
                <a:solidFill>
                  <a:srgbClr val="1B1B1B"/>
                </a:solidFill>
                <a:latin typeface="Calibri"/>
              </a:rPr>
              <a:t>• python -m pytest tests -q                       → 42 passed (~1 s)</a:t>
            </a:r>
          </a:p>
          <a:p>
            <a:pPr algn="l">
              <a:lnSpc>
                <a:spcPct val="105000"/>
              </a:lnSpc>
              <a:spcAft>
                <a:spcPts val="400"/>
              </a:spcAft>
            </a:pPr>
            <a:r>
              <a:rPr sz="1300" b="0">
                <a:solidFill>
                  <a:srgbClr val="1B1B1B"/>
                </a:solidFill>
                <a:latin typeface="Calibri"/>
              </a:rPr>
              <a:t>• python experiments/exp1_nmse_vs_cr.py            → results/figures/exp1_*.png|pdf, results/data/exp1_nmse_vs_cr.json  (~10 s)</a:t>
            </a:r>
          </a:p>
          <a:p>
            <a:pPr algn="l">
              <a:lnSpc>
                <a:spcPct val="105000"/>
              </a:lnSpc>
              <a:spcAft>
                <a:spcPts val="400"/>
              </a:spcAft>
            </a:pPr>
            <a:r>
              <a:rPr sz="1300" b="0">
                <a:solidFill>
                  <a:srgbClr val="1B1B1B"/>
                </a:solidFill>
                <a:latin typeface="Calibri"/>
              </a:rPr>
              <a:t>• python experiments/exp2_complexity.py            → exp2_*  (~2 s)</a:t>
            </a:r>
          </a:p>
          <a:p>
            <a:pPr algn="l">
              <a:lnSpc>
                <a:spcPct val="105000"/>
              </a:lnSpc>
              <a:spcAft>
                <a:spcPts val="400"/>
              </a:spcAft>
            </a:pPr>
            <a:r>
              <a:rPr sz="1300" b="0">
                <a:solidFill>
                  <a:srgbClr val="1B1B1B"/>
                </a:solidFill>
                <a:latin typeface="Calibri"/>
              </a:rPr>
              <a:t>• python experiments/exp3_acafs_gain.py            → exp3_*  (~3 s)</a:t>
            </a:r>
          </a:p>
          <a:p>
            <a:pPr algn="l">
              <a:lnSpc>
                <a:spcPct val="105000"/>
              </a:lnSpc>
              <a:spcAft>
                <a:spcPts val="400"/>
              </a:spcAft>
            </a:pPr>
            <a:r>
              <a:rPr sz="1300" b="0">
                <a:solidFill>
                  <a:srgbClr val="1B1B1B"/>
                </a:solidFill>
                <a:latin typeface="Calibri"/>
              </a:rPr>
              <a:t>• python experiments/exp4_snr_sweep.py             → exp4_*  (~5 s)</a:t>
            </a:r>
          </a:p>
          <a:p>
            <a:pPr algn="l">
              <a:lnSpc>
                <a:spcPct val="105000"/>
              </a:lnSpc>
              <a:spcAft>
                <a:spcPts val="400"/>
              </a:spcAft>
            </a:pPr>
            <a:r>
              <a:rPr sz="1300" b="0">
                <a:solidFill>
                  <a:srgbClr val="1B1B1B"/>
                </a:solidFill>
                <a:latin typeface="Calibri"/>
              </a:rPr>
              <a:t>• python experiments/exp5_fronthaul_allocation.py  → exp5_allocation.png, exp5_allocation_runs.csv (every run), exp5_allocation_summary.csv  (~8 s)</a:t>
            </a:r>
          </a:p>
          <a:p>
            <a:pPr algn="l">
              <a:lnSpc>
                <a:spcPct val="105000"/>
              </a:lnSpc>
              <a:spcAft>
                <a:spcPts val="400"/>
              </a:spcAft>
            </a:pPr>
            <a:r>
              <a:rPr sz="1300" b="0">
                <a:solidFill>
                  <a:srgbClr val="1B1B1B"/>
                </a:solidFill>
                <a:latin typeface="Calibri"/>
              </a:rPr>
              <a:t>• jupyter nbconvert --execute --inplace notebooks/mid_evaluation_demo.ipynb   (run from notebooks/)</a:t>
            </a:r>
          </a:p>
          <a:p>
            <a:pPr algn="l">
              <a:lnSpc>
                <a:spcPct val="105000"/>
              </a:lnSpc>
              <a:spcAft>
                <a:spcPts val="400"/>
              </a:spcAft>
            </a:pPr>
            <a:r>
              <a:rPr sz="1300" b="0">
                <a:solidFill>
                  <a:srgbClr val="1B1B1B"/>
                </a:solidFill>
                <a:latin typeface="Calibri"/>
              </a:rPr>
              <a:t>• python -m matinv_bench.generate_dataset --dims 10 100 --num-samples 1000; python -m matinv_bench.benchmark --dims 10 100   (checkpoints are committed; training is optional)</a:t>
            </a:r>
          </a:p>
          <a:p>
            <a:pPr algn="l">
              <a:lnSpc>
                <a:spcPct val="105000"/>
              </a:lnSpc>
              <a:spcAft>
                <a:spcPts val="400"/>
              </a:spcAft>
            </a:pPr>
            <a:r>
              <a:rPr sz="1300" b="0">
                <a:solidFill>
                  <a:srgbClr val="5D6D7E"/>
                </a:solidFill>
                <a:latin typeface="Calibri"/>
              </a:rPr>
              <a:t>• Every results/data file records generation time, Python/numpy version, host and CPU count; results/logs/ has the console output of the runs shown here.</a:t>
            </a:r>
          </a:p>
          <a:p>
            <a:pPr algn="l">
              <a:lnSpc>
                <a:spcPct val="105000"/>
              </a:lnSpc>
              <a:spcAft>
                <a:spcPts val="400"/>
              </a:spcAft>
            </a:pPr>
            <a:r>
              <a:rPr sz="1300" b="0">
                <a:solidFill>
                  <a:srgbClr val="5D6D7E"/>
                </a:solidFill>
                <a:latin typeface="Calibri"/>
              </a:rPr>
              <a:t>• Host used for the numbers in this deck: 4-core x86_64, Python 3.12, numpy 2.x, no GPU.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