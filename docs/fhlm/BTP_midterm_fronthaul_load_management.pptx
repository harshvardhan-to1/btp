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(60-90 s): Good morning. My project is about fronthaul load management in Open RAN. The fronthaul is the link between the radio unit on the tower and the processing unit. It carries raw radio samples, so it is one of the most loaded links in the network. There are two ways to manage that load. The first is to make the data smaller: compress it. In the first part of my project I studied compression methods based on matrix decomposition, and I benchmarked how fast the matrix operations behind them (inversion, SVD, QR, learned iterations) actually run. The second way is to share one link well between several cells. In the second part I built a simulator of a shared link, five reference controllers, and a new allocation rule that uses a forecast of each cell's need, including how uncertain that forecast is. On five test scenarios the rule reduces priority-weighted deadline violations by 10 to 50 percent compared with the same controller using a plain forecast, and it beats the reactive controller on every test seed. I will also show where it does not help. Everything I show is produced by code in the repository.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Open RAN the radio unit does only the lowest layer of processing and sends frequency-domain radio samples to the distributed unit. This is the 7-2x split. The data rate is large, but it depends on how many resource blocks are scheduled, so it goes up and down with traffic. Operators use that: several radio units share one Ethernet link that is smaller than their total peak; in our setup 2.4 times smaller. That works most of the time. When several cells burst at once, someone has to wait, and low-latency traffic can only wait about two milliseconds. So there are two questions: how do we make the data smaller, and how do we share the link when it is full?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has two parts. Part A, done earlier, is about making the data smaller. I compared the standard O-RAN block-floating-point compression with methods that use matrix structure: truncated SVD, a randomised sketch-plus-QR low-rank encoder, and a delay-domain sparsity encoder. Because all of these rely on matrix decomposition or inversion, I also benchmarked how fast those operations run on a CPU, including learned iterative inverters. Part B, the main work of this term, is about sharing the link. Compression sets how much load reaches the link; the allocation rule decides who loses data when bursts coincide. At the end I show an experiment that connects the two.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radio unit sees a matrix Y of 64 antennas by 1200 subcarriers every slot. Standard O-RAN compression, block floating point, just shortens the numbers: about 4 times smaller, very fast, almost lossless. To go further you have to use the structure of the matrix. Truncated SVD keeps the strongest directions and reaches 16 times, but the SVD is slow. RAS-BFP gets the same rank with a random sketch and a QR factorisation, 3 to 4 times faster. CSEE uses a different structure: the channel has few strong delay taps, so an inverse FFT along the subcarriers, keep the top K taps, quantise. It reaches 13 to 60 times with about 4 to 6 times less compute than SVD. The figure shows error versus compression ratio at 20 dB SNR on a 3GPP TDL-A channel. These are from the earlier report and figure files; the compression source package is not in the repository, so I could not re-run them this term.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of these compression methods, and also MIMO equalisation and precoding, need matrix decompositions or inversions every slot. So I measured them. Left: encoder time versus number of antennas: SVD grows fastest, the sketch and delay-domain encoders stay one to two orders of magnitude below it. Right: inversion benchmark on well-conditioned random matrices, 200 held-out matrices per size. LU through LAPACK is the fastest accurate method. QR and SVD cost several times more with no accuracy gain here. A direct neural network that outputs the inverse fails: 50 percent error. A learned iteration that keeps the Newton-Schulz structure works, with errors around one in a million at n=100, and has a fixed, predictable cost, which matters for slot deadlines. Two lessons carry into Part B: a 500 microsecond slot leaves room for n=100 but not n=500 matrices, and predictable cost matters as much as speed.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sharing problem. Time runs in slots of half a millisecond. Each cell has a queue in the processing unit. User bits are turned into resource blocks using the cell's spectral efficiency, and each resource block costs a fixed number of fronthaul bits, so fronthaul load is not the same as user traffic. A bit that waits in the queue longer than its class deadline is thrown away and counted as a violation. Every 20 slots, that is 10 milliseconds, the controller gives each cell a budget in bits per slot. The budgets must add up to the link capacity and are held for the whole interval. The controller sees the state with a 2-slot delay and never sees the future. Why decide in advance? Because the budget is a reservation that is held for 10 ms and telemetry is late; the next interval's traffic is unknown when the decision is made.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groups of work. First, the standards and surveys that define the fronthaul model. Second, work that forecasts traffic and then plans capacity, mostly with neural networks and a single predicted number, with uncertainty handled by a fixed safety margin if at all. Third, work on forecasts with uncertainty, such as conformal prediction, applied to one traffic stream or to network slices. What I did not find is a method that turns a forecast distribution of deadline-sensitive demand into per-cell budgets under one shared link constraint, and tests it fairly against strong reactive and point-forecast controllers. The full list with DOIs is in the literature review file.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controller picks budgets that add up to the link capacity. Our main score, fixed before any tuning, is the priority-weighted violation ratio: dropped bits divided by arrived bits, with low-latency bits counting three times. The key modelling idea is the deadline-feasible rate, r-star. Given the arrivals of the next interval and a deadline D, r-star is the smallest constant service rate at which no bit waits longer than D. For eMBB with a 10 ms deadline it is close to the average rate; for low-latency cells with a 2 ms deadline it is basically the peak 2 ms burst rate, which is much harder to predict. We forecast r-star, not the volume. Its distribution is skewed: the typical value is low but occasionally very high. A single predicted number under-reserves; a fixed margin over-reserves everywhere.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references. Static equal share ignores everything. Reactive proportional is the classic: current backlog plus a running average of demand, split proportionally, spare capacity redistributed. MaxWeight is the textbook queue-based controller: fill cells greedily by priority times queue length. The deadline-aware reactive controller knows the deadlines: it uses the r-star of the last observed interval as its estimate, plus priority weights and the same water-filling split. The point-forecast controller is our ablation: identical to the proposed method except it uses the forecast median instead of the whole range. The fixed-quantile controller reserves the same tuned forecast percentile for every cell, the simplest way of using the whole range. The oracle knows the real arrivals of the next interval. Every tunable knob was chosen on validation seeds, never on test seeds. The chosen safety margins were all zero: inflating a single predicted number made things worse.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parts. First, a forecaster: six gradient-boosted models, one per quantile, predict the 5th to 95th percentile of each cell's r-star for the next interval, from 28 features built only from the past. Second, the allocation rule. We want to maximise the weighted expected amount of demand that is served, under the forecast distribution, subject to the link constraint. This is a concave problem, and the KKT conditions give a closed form: each cell gets its backlog rate plus the inverse CDF of its forecast at one minus lambda over its weight. Lambda is a single number found by bisection so that the budgets add up to the link. In words: every cell is cut at the same weighted probability of needing one more bit. A cell with a wide forecast or high priority automatically gets more margin; a cell with a confident forecast gets about its median. A single-number forecast is the special case, which is why the median water-fill is the fair comparison.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traffic is synthetic: a smooth part plus heavy-tailed on-off bursts per cell, slow load changes about every second, and drifting spectral efficiency. Five scenarios differ in average load and burstiness. 'Shift' uses heavier and longer bursts than anything the model saw in training; the held-out test. Training, validation and test seeds are separate ranges. Every controller sees exactly the same traffic, seed by seed, so we can compare them pairwise. Absolute violation numbers are high because the traffic is deliberately bursty at 80 percent load; the differences between controllers are the result.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Lower is better. Black is the oracle. The proposed rule, in red, is the best real controller in every scenario. Against the point-forecast controller (same model, same information) it cuts the score by 18 percent at high load and 11 percent under the held-out shift. Against the deadline-aware reactive controller by 27 and 20 percent. Against the plain proportional controller the margin is 13 percent at high load but only 4 percent under flash crowds, where it wins 16 of 20 seeds; still significant after correction, but a small gain. The tuned MaxWeight and fixed-quantile controllers are beaten in every scenario. The error bars are wide because seeds differ in when the bursts happen; the next slide compares seed by seed.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bar is how much the proposed rule lowers the score compared with one baseline, computed seed by seed on the very same traffic; the whiskers are the best and worst seed, and the text says how many of the 20 seeds it won. Stars mark Holm-corrected Wilcoxon significance. Against the point-forecast and the deadline-aware reactive controllers it wins every seed in every scenario. Against the plain proportional controller it wins every seed except under flash crowds. Green is the machine-learning ablation: the same rule fed with simple empirical quantiles instead of the trained model. The model helps a lot on normal traffic but almost not at all under the held-out shift. Purple: online calibration gives nothing and hurts under shift.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low-latency violations; middle: eMBB; right: link utilisation. The proportional controller keeps eMBB almost clean but lets low-latency cells lose 15 percent of their bits because it does not know about deadlines. All deadline-aware controllers protect the low-latency cells and pay with eMBB. Within that group the proposed rule has the lowest eMBB loss and the highest utilisation, because it adds margin only where the forecast is uncertain instead of everywhere. Even the oracle loses 13 percent of eMBB bits here: budgets fixed for 10 ms simply cannot follow heavy bursts, which is why the control interval matters; see the ablation slide.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experiment connects the two parts. Same user traffic, same seeds; only the compression setting changes: 6, 9, 12 or 14 mantissa bits, which changes how many fronthaul bits each resource block costs and therefore the load on the link. At 6 bits the load is 43 percent and almost nothing is lost, whatever the allocation rule; compression alone solves it, at the price of quantisation noise, which this experiment does not model. At 9 bits, the O-RAN default, the allocation rule matters most: the proposed rule loses about half as much as the reactive controllers. At 12 bits the link is at 83 percent and the proposed rule ties with the proportional one. At 14 bits the link is essentially full and no allocation rule helps; the proposed rule is even the worst, because protecting the low-latency cells costs too many eMBB bits. Message: compression decides which regime you are in; allocation helps most in the 50 to 80 percent regime.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forecast quantiles are well calibrated on validation data (the 5 percent quantile is exceeded 5.6 percent of the time, the 95 percent quantile 5.1 percent) and the median error is lower than simple persistence. Right: the control-interval sweep, forecasters retrained per interval. Two honest findings. At 2 ms the proposed rule is far ahead of every reactive controller and even of the oracle water-fill, which has a perfect single-number forecast, so the allocation rule itself does real work. At 20 ms, five times the low-latency deadline, reserving the low-latency peak rate for the whole interval wastes capacity and the plain proportional controller becomes better. So the method is for control intervals up to a few times the shortest deadline; our default of 10 ms is inside that range.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this is not. Part A: the compression results are quoted from the earlier report and figures; the source package is missing from the repository, so they were not re-run this term; the inversion benchmark is re-runnable. Part B: traffic is synthetic; the oracle is only interval-level; the gain over the simplest proportional controller vanishes under flash crowds and at long intervals; the learned model adds little under shift; online calibration hurt; the margin over proportional sharing also shrinks when telemetry is older than the low-latency deadline; the link is a budget-enforced pipe with no switch queue; decision time is Python-level, about 3 ms per 10 ms epoch.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column is done and checked by tests and experiments; right column is the plan in priority order. For Part A, restore the compression source package into the repository and re-run the four figure suites, then make the compression setting a second lever inside the allocation rule. For Part B, real or public traffic traces; a skill-weighted mix of the trained and the simple quantiles as the fallback; a switch queue; more seeds; and a compiled version of the decision.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demand of one low-latency cell in grey and the budget each controller gave it. The reactive controller reacts one interval late to each burst; the point forecast tracks the median; the proposed rule raises the budget when the forecast range is wide. Bottom: cumulative dropped bits. Live demo: python -m fhlm.run_experiments demo, then python -m fhlm.make_figures.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fhlm package: config holds units and 7-2x constants; traffic generates arrivals; demand implements r-star; simulator is the slot loop; controllers the baselines; forecast the features and quantile model; proposed the KKT rule; scenarios the seed splits; train, run_experiments, make_figures and make_slides reproduce everything. matinv_bench holds the Part A inversion benchmark.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of the main score per scenario and method, from results/fhlm/main_runs.csv.</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questions. The objective is concave and separable. Its derivative in r_i is w_i times the probability that the cell needs more than r_i, minus lambda. Setting it to zero gives the inverse-CDF form. Because the forecast CDF is zero below zero, the derivative equals w_i for budgets below the backlog: backlog is always funded before uncertain demand of a lower-weight cell. The sum of budgets decreases as lambda grows, so bisection finds the single lambda at which the link is exactly full.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mean decision time per control epoch per method. Right: violation versus utilisation per scenario.</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list with DOIs/links in docs/fhlm/literature_review.md; Part A report in REPORT.md and docs/mid_evaluation_report.md.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0.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92640" cy="640080"/>
          </a:xfrm>
          <a:prstGeom prst="rect">
            <a:avLst/>
          </a:prstGeom>
          <a:noFill/>
        </p:spPr>
        <p:txBody>
          <a:bodyPr wrap="square">
            <a:spAutoFit/>
          </a:bodyPr>
          <a:lstStyle/>
          <a:p>
            <a:pPr>
              <a:defRPr sz="2400" b="1">
                <a:solidFill>
                  <a:srgbClr val="FFFFFF"/>
                </a:solidFill>
              </a:defRPr>
            </a:pPr>
          </a:p>
        </p:txBody>
      </p:sp>
      <p:sp>
        <p:nvSpPr>
          <p:cNvPr id="4" name="TextBox 3"/>
          <p:cNvSpPr txBox="1"/>
          <p:nvPr/>
        </p:nvSpPr>
        <p:spPr>
          <a:xfrm>
            <a:off x="365760" y="6446520"/>
            <a:ext cx="11430000" cy="320040"/>
          </a:xfrm>
          <a:prstGeom prst="rect">
            <a:avLst/>
          </a:prstGeom>
          <a:noFill/>
        </p:spPr>
        <p:txBody>
          <a:bodyPr wrap="none">
            <a:spAutoFit/>
          </a:bodyPr>
          <a:lstStyle/>
          <a:p>
            <a:pPr algn="r">
              <a:defRPr sz="900">
                <a:solidFill>
                  <a:srgbClr val="555555"/>
                </a:solidFill>
              </a:defRPr>
            </a:pPr>
            <a:r>
              <a:t>BTP mid-evaluation  |  Fronthaul load management  |  1</a:t>
            </a:r>
          </a:p>
        </p:txBody>
      </p:sp>
      <p:sp>
        <p:nvSpPr>
          <p:cNvPr id="5" name="TextBox 4"/>
          <p:cNvSpPr txBox="1"/>
          <p:nvPr/>
        </p:nvSpPr>
        <p:spPr>
          <a:xfrm>
            <a:off x="731520" y="1371600"/>
            <a:ext cx="10698480" cy="822960"/>
          </a:xfrm>
          <a:prstGeom prst="rect">
            <a:avLst/>
          </a:prstGeom>
          <a:noFill/>
        </p:spPr>
        <p:txBody>
          <a:bodyPr wrap="square">
            <a:spAutoFit/>
          </a:bodyPr>
          <a:lstStyle/>
          <a:p>
            <a:pPr algn="l">
              <a:defRPr sz="3600" b="1" i="0">
                <a:solidFill>
                  <a:srgbClr val="FFFFFF"/>
                </a:solidFill>
              </a:defRPr>
            </a:pPr>
            <a:r>
              <a:t>Fronthaul Load Management in Open RAN</a:t>
            </a:r>
          </a:p>
        </p:txBody>
      </p:sp>
      <p:sp>
        <p:nvSpPr>
          <p:cNvPr id="6" name="TextBox 5"/>
          <p:cNvSpPr txBox="1"/>
          <p:nvPr/>
        </p:nvSpPr>
        <p:spPr>
          <a:xfrm>
            <a:off x="731520" y="2240280"/>
            <a:ext cx="10698480" cy="1097280"/>
          </a:xfrm>
          <a:prstGeom prst="rect">
            <a:avLst/>
          </a:prstGeom>
          <a:noFill/>
        </p:spPr>
        <p:txBody>
          <a:bodyPr wrap="square">
            <a:spAutoFit/>
          </a:bodyPr>
          <a:lstStyle/>
          <a:p>
            <a:pPr algn="l">
              <a:defRPr sz="2000" b="0" i="0">
                <a:solidFill>
                  <a:srgbClr val="CFD8E3"/>
                </a:solidFill>
              </a:defRPr>
            </a:pPr>
            <a:r>
              <a:t>Part A: shrinking the load with matrix-decomposition compression</a:t>
            </a:r>
          </a:p>
          <a:p>
            <a:pPr algn="l">
              <a:defRPr sz="2000" b="0" i="0">
                <a:solidFill>
                  <a:srgbClr val="CFD8E3"/>
                </a:solidFill>
              </a:defRPr>
            </a:pPr>
            <a:r>
              <a:t>Part B: sharing one fronthaul link between cells with forecast-aware budgets</a:t>
            </a:r>
          </a:p>
        </p:txBody>
      </p:sp>
      <p:sp>
        <p:nvSpPr>
          <p:cNvPr id="7" name="TextBox 6"/>
          <p:cNvSpPr txBox="1"/>
          <p:nvPr/>
        </p:nvSpPr>
        <p:spPr>
          <a:xfrm>
            <a:off x="731520" y="3566160"/>
            <a:ext cx="10698480" cy="457200"/>
          </a:xfrm>
          <a:prstGeom prst="rect">
            <a:avLst/>
          </a:prstGeom>
          <a:noFill/>
        </p:spPr>
        <p:txBody>
          <a:bodyPr wrap="square">
            <a:spAutoFit/>
          </a:bodyPr>
          <a:lstStyle/>
          <a:p>
            <a:pPr algn="l">
              <a:defRPr sz="1800" b="0" i="0">
                <a:solidFill>
                  <a:srgbClr val="FFFFFF"/>
                </a:solidFill>
              </a:defRPr>
            </a:pPr>
            <a:r>
              <a:t>B.Tech. Project, mid-term evaluation</a:t>
            </a:r>
          </a:p>
        </p:txBody>
      </p:sp>
      <p:sp>
        <p:nvSpPr>
          <p:cNvPr id="8" name="TextBox 7"/>
          <p:cNvSpPr txBox="1"/>
          <p:nvPr/>
        </p:nvSpPr>
        <p:spPr>
          <a:xfrm>
            <a:off x="731520" y="4114800"/>
            <a:ext cx="10698480" cy="457200"/>
          </a:xfrm>
          <a:prstGeom prst="rect">
            <a:avLst/>
          </a:prstGeom>
          <a:noFill/>
        </p:spPr>
        <p:txBody>
          <a:bodyPr wrap="square">
            <a:spAutoFit/>
          </a:bodyPr>
          <a:lstStyle/>
          <a:p>
            <a:pPr algn="l">
              <a:defRPr sz="1400" b="0" i="0">
                <a:solidFill>
                  <a:srgbClr val="CFD8E3"/>
                </a:solidFill>
              </a:defRPr>
            </a:pPr>
            <a:r>
              <a:t>Student: &lt;name&gt;   |   Supervisor: &lt;name&gt;   |   Department of &lt;dept&gt;</a:t>
            </a:r>
          </a:p>
        </p:txBody>
      </p:sp>
      <p:sp>
        <p:nvSpPr>
          <p:cNvPr id="9" name="TextBox 8"/>
          <p:cNvSpPr txBox="1"/>
          <p:nvPr/>
        </p:nvSpPr>
        <p:spPr>
          <a:xfrm>
            <a:off x="731520" y="5029200"/>
            <a:ext cx="10698480" cy="822960"/>
          </a:xfrm>
          <a:prstGeom prst="rect">
            <a:avLst/>
          </a:prstGeom>
          <a:noFill/>
        </p:spPr>
        <p:txBody>
          <a:bodyPr wrap="square">
            <a:spAutoFit/>
          </a:bodyPr>
          <a:lstStyle/>
          <a:p>
            <a:pPr algn="l">
              <a:defRPr sz="1300" b="0" i="1">
                <a:solidFill>
                  <a:srgbClr val="FFFFFF"/>
                </a:solidFill>
              </a:defRPr>
            </a:pPr>
            <a:r>
              <a:t>What exists today: compression study + matrix-maths benchmark (Part A); working simulator, 7 controllers, trained forecaster, 300+ experiment runs, tests and this deck (Part B). All generated from the repository.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92640" cy="640080"/>
          </a:xfrm>
          <a:prstGeom prst="rect">
            <a:avLst/>
          </a:prstGeom>
          <a:noFill/>
        </p:spPr>
        <p:txBody>
          <a:bodyPr wrap="square">
            <a:spAutoFit/>
          </a:bodyPr>
          <a:lstStyle/>
          <a:p>
            <a:pPr>
              <a:defRPr sz="2400" b="1">
                <a:solidFill>
                  <a:srgbClr val="FFFFFF"/>
                </a:solidFill>
              </a:defRPr>
            </a:pPr>
            <a:r>
              <a:t>The problem: the fronthaul carries a lot of data</a:t>
            </a:r>
          </a:p>
        </p:txBody>
      </p:sp>
      <p:sp>
        <p:nvSpPr>
          <p:cNvPr id="4" name="TextBox 3"/>
          <p:cNvSpPr txBox="1"/>
          <p:nvPr/>
        </p:nvSpPr>
        <p:spPr>
          <a:xfrm>
            <a:off x="9966960" y="256032"/>
            <a:ext cx="2103120" cy="365760"/>
          </a:xfrm>
          <a:prstGeom prst="rect">
            <a:avLst/>
          </a:prstGeom>
          <a:noFill/>
        </p:spPr>
        <p:txBody>
          <a:bodyPr wrap="none">
            <a:spAutoFit/>
          </a:bodyPr>
          <a:lstStyle/>
          <a:p>
            <a:pPr algn="r">
              <a:defRPr sz="1100">
                <a:solidFill>
                  <a:srgbClr val="CFD8E3"/>
                </a:solidFill>
              </a:defRPr>
            </a:pPr>
            <a:r>
              <a:t>1 Motivation</a:t>
            </a:r>
          </a:p>
        </p:txBody>
      </p:sp>
      <p:sp>
        <p:nvSpPr>
          <p:cNvPr id="5" name="TextBox 4"/>
          <p:cNvSpPr txBox="1"/>
          <p:nvPr/>
        </p:nvSpPr>
        <p:spPr>
          <a:xfrm>
            <a:off x="365760" y="6446520"/>
            <a:ext cx="11430000" cy="320040"/>
          </a:xfrm>
          <a:prstGeom prst="rect">
            <a:avLst/>
          </a:prstGeom>
          <a:noFill/>
        </p:spPr>
        <p:txBody>
          <a:bodyPr wrap="none">
            <a:spAutoFit/>
          </a:bodyPr>
          <a:lstStyle/>
          <a:p>
            <a:pPr algn="r">
              <a:defRPr sz="900">
                <a:solidFill>
                  <a:srgbClr val="555555"/>
                </a:solidFill>
              </a:defRPr>
            </a:pPr>
            <a:r>
              <a:t>BTP mid-evaluation  |  Fronthaul load management  |  2</a:t>
            </a:r>
          </a:p>
        </p:txBody>
      </p:sp>
      <p:sp>
        <p:nvSpPr>
          <p:cNvPr id="6" name="TextBox 5"/>
          <p:cNvSpPr txBox="1"/>
          <p:nvPr/>
        </p:nvSpPr>
        <p:spPr>
          <a:xfrm>
            <a:off x="457200" y="1005840"/>
            <a:ext cx="6949440" cy="5212080"/>
          </a:xfrm>
          <a:prstGeom prst="rect">
            <a:avLst/>
          </a:prstGeom>
          <a:noFill/>
        </p:spPr>
        <p:txBody>
          <a:bodyPr wrap="square">
            <a:spAutoFit/>
          </a:bodyPr>
          <a:lstStyle/>
          <a:p>
            <a:pPr>
              <a:spcAft>
                <a:spcPts val="600"/>
              </a:spcAft>
              <a:defRPr sz="1600" b="0">
                <a:solidFill>
                  <a:srgbClr val="222222"/>
                </a:solidFill>
              </a:defRPr>
            </a:pPr>
            <a:r>
              <a:t>• In the 7-2x split, the radio unit (O-RU) sends radio samples (IQ data) to the processing unit (O-DU)</a:t>
            </a:r>
          </a:p>
          <a:p>
            <a:pPr lvl="1">
              <a:spcAft>
                <a:spcPts val="600"/>
              </a:spcAft>
              <a:defRPr sz="1400" b="0">
                <a:solidFill>
                  <a:srgbClr val="222222"/>
                </a:solidFill>
              </a:defRPr>
            </a:pPr>
            <a:r>
              <a:t>– Every scheduled resource block costs about 3,387 bits on the link (9-bit compression, 8% packet overhead)</a:t>
            </a:r>
          </a:p>
          <a:p>
            <a:pPr lvl="1">
              <a:spcAft>
                <a:spcPts val="600"/>
              </a:spcAft>
              <a:defRPr sz="1400" b="0">
                <a:solidFill>
                  <a:srgbClr val="222222"/>
                </a:solidFill>
              </a:defRPr>
            </a:pPr>
            <a:r>
              <a:t>– One 100 MHz cell with 4 antenna layers can need up to 7.4 Gbit/s</a:t>
            </a:r>
          </a:p>
          <a:p>
            <a:pPr>
              <a:spcAft>
                <a:spcPts val="600"/>
              </a:spcAft>
              <a:defRPr sz="1600" b="0">
                <a:solidFill>
                  <a:srgbClr val="222222"/>
                </a:solidFill>
              </a:defRPr>
            </a:pPr>
            <a:r>
              <a:t>• Several cells share one link that is smaller than their total peak, on purpose (statistical multiplexing)</a:t>
            </a:r>
          </a:p>
          <a:p>
            <a:pPr lvl="1">
              <a:spcAft>
                <a:spcPts val="600"/>
              </a:spcAft>
              <a:defRPr sz="1400" b="0">
                <a:solidFill>
                  <a:srgbClr val="222222"/>
                </a:solidFill>
              </a:defRPr>
            </a:pPr>
            <a:r>
              <a:t>– Our setup: 8 cells on a 25 Gbit/s link; total peak = 2.4 × the link</a:t>
            </a:r>
          </a:p>
          <a:p>
            <a:pPr>
              <a:spcAft>
                <a:spcPts val="600"/>
              </a:spcAft>
              <a:defRPr sz="1600" b="0">
                <a:solidFill>
                  <a:srgbClr val="222222"/>
                </a:solidFill>
              </a:defRPr>
            </a:pPr>
            <a:r>
              <a:t>• When bursts coincide, some data must wait or be dropped. Low-latency cells can wait ~2 ms at most</a:t>
            </a:r>
          </a:p>
          <a:p>
            <a:pPr>
              <a:spcAft>
                <a:spcPts val="600"/>
              </a:spcAft>
              <a:defRPr sz="1600" b="1">
                <a:solidFill>
                  <a:srgbClr val="222222"/>
                </a:solidFill>
              </a:defRPr>
            </a:pPr>
            <a:r>
              <a:t>• Two ways to manage the load:</a:t>
            </a:r>
          </a:p>
          <a:p>
            <a:pPr lvl="1">
              <a:spcAft>
                <a:spcPts val="600"/>
              </a:spcAft>
              <a:defRPr sz="1400" b="0">
                <a:solidFill>
                  <a:srgbClr val="222222"/>
                </a:solidFill>
              </a:defRPr>
            </a:pPr>
            <a:r>
              <a:t>– A. Make the data smaller: compression (matrix decomposition, quantisation)</a:t>
            </a:r>
          </a:p>
          <a:p>
            <a:pPr lvl="1">
              <a:spcAft>
                <a:spcPts val="600"/>
              </a:spcAft>
              <a:defRPr sz="1400" b="0">
                <a:solidFill>
                  <a:srgbClr val="222222"/>
                </a:solidFill>
              </a:defRPr>
            </a:pPr>
            <a:r>
              <a:t>– B. Share the link well: decide every few milliseconds how much each cell may send</a:t>
            </a:r>
          </a:p>
        </p:txBody>
      </p:sp>
      <p:sp>
        <p:nvSpPr>
          <p:cNvPr id="7" name="Rounded Rectangle 6"/>
          <p:cNvSpPr/>
          <p:nvPr/>
        </p:nvSpPr>
        <p:spPr>
          <a:xfrm>
            <a:off x="7589520" y="1280160"/>
            <a:ext cx="1005840" cy="685800"/>
          </a:xfrm>
          <a:prstGeom prst="roundRect">
            <a:avLst/>
          </a:prstGeom>
          <a:solidFill>
            <a:srgbClr val="E3F2FD"/>
          </a:solidFill>
          <a:ln w="9525">
            <a:solidFill>
              <a:srgbClr val="B0B8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222222"/>
                </a:solidFill>
              </a:defRPr>
            </a:pPr>
            <a:r>
              <a:t>O-RU 1</a:t>
            </a:r>
          </a:p>
          <a:p>
            <a:pPr algn="ctr">
              <a:defRPr sz="1000" b="0">
                <a:solidFill>
                  <a:srgbClr val="222222"/>
                </a:solidFill>
              </a:defRPr>
            </a:pPr>
            <a:r>
              <a:t>low-latency</a:t>
            </a:r>
          </a:p>
        </p:txBody>
      </p:sp>
      <p:cxnSp>
        <p:nvCxnSpPr>
          <p:cNvPr id="8" name="Connector 7"/>
          <p:cNvCxnSpPr/>
          <p:nvPr/>
        </p:nvCxnSpPr>
        <p:spPr>
          <a:xfrm>
            <a:off x="8595360" y="1623060"/>
            <a:ext cx="640080" cy="1760220"/>
          </a:xfrm>
          <a:prstGeom prst="line">
            <a:avLst/>
          </a:prstGeom>
          <a:ln w="1905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589520" y="2240280"/>
            <a:ext cx="1005840" cy="685800"/>
          </a:xfrm>
          <a:prstGeom prst="roundRect">
            <a:avLst/>
          </a:prstGeom>
          <a:solidFill>
            <a:srgbClr val="E3F2FD"/>
          </a:solidFill>
          <a:ln w="9525">
            <a:solidFill>
              <a:srgbClr val="B0B8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222222"/>
                </a:solidFill>
              </a:defRPr>
            </a:pPr>
            <a:r>
              <a:t>O-RU 2</a:t>
            </a:r>
          </a:p>
          <a:p>
            <a:pPr algn="ctr">
              <a:defRPr sz="1000" b="0">
                <a:solidFill>
                  <a:srgbClr val="222222"/>
                </a:solidFill>
              </a:defRPr>
            </a:pPr>
            <a:r>
              <a:t>low-latency</a:t>
            </a:r>
          </a:p>
        </p:txBody>
      </p:sp>
      <p:cxnSp>
        <p:nvCxnSpPr>
          <p:cNvPr id="10" name="Connector 9"/>
          <p:cNvCxnSpPr/>
          <p:nvPr/>
        </p:nvCxnSpPr>
        <p:spPr>
          <a:xfrm>
            <a:off x="8595360" y="2583180"/>
            <a:ext cx="640080" cy="800100"/>
          </a:xfrm>
          <a:prstGeom prst="line">
            <a:avLst/>
          </a:prstGeom>
          <a:ln w="1905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589520" y="3200400"/>
            <a:ext cx="1005840" cy="685800"/>
          </a:xfrm>
          <a:prstGeom prst="roundRect">
            <a:avLst/>
          </a:prstGeom>
          <a:solidFill>
            <a:srgbClr val="F2F4F7"/>
          </a:solidFill>
          <a:ln w="9525">
            <a:solidFill>
              <a:srgbClr val="B0B8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222222"/>
                </a:solidFill>
              </a:defRPr>
            </a:pPr>
            <a:r>
              <a:t>O-RU 3</a:t>
            </a:r>
          </a:p>
          <a:p>
            <a:pPr algn="ctr">
              <a:defRPr sz="1000" b="0">
                <a:solidFill>
                  <a:srgbClr val="222222"/>
                </a:solidFill>
              </a:defRPr>
            </a:pPr>
            <a:r>
              <a:t>eMBB</a:t>
            </a:r>
          </a:p>
        </p:txBody>
      </p:sp>
      <p:cxnSp>
        <p:nvCxnSpPr>
          <p:cNvPr id="12" name="Connector 11"/>
          <p:cNvCxnSpPr/>
          <p:nvPr/>
        </p:nvCxnSpPr>
        <p:spPr>
          <a:xfrm flipV="1">
            <a:off x="8595360" y="3383280"/>
            <a:ext cx="640080" cy="160020"/>
          </a:xfrm>
          <a:prstGeom prst="line">
            <a:avLst/>
          </a:prstGeom>
          <a:ln w="1905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589520" y="4160520"/>
            <a:ext cx="1005840" cy="685800"/>
          </a:xfrm>
          <a:prstGeom prst="roundRect">
            <a:avLst/>
          </a:prstGeom>
          <a:solidFill>
            <a:srgbClr val="F2F4F7"/>
          </a:solidFill>
          <a:ln w="9525">
            <a:solidFill>
              <a:srgbClr val="B0B8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222222"/>
                </a:solidFill>
              </a:defRPr>
            </a:pPr>
            <a:r>
              <a:t>O-RU 4</a:t>
            </a:r>
          </a:p>
          <a:p>
            <a:pPr algn="ctr">
              <a:defRPr sz="1000" b="0">
                <a:solidFill>
                  <a:srgbClr val="222222"/>
                </a:solidFill>
              </a:defRPr>
            </a:pPr>
            <a:r>
              <a:t>eMBB</a:t>
            </a:r>
          </a:p>
        </p:txBody>
      </p:sp>
      <p:cxnSp>
        <p:nvCxnSpPr>
          <p:cNvPr id="14" name="Connector 13"/>
          <p:cNvCxnSpPr/>
          <p:nvPr/>
        </p:nvCxnSpPr>
        <p:spPr>
          <a:xfrm flipV="1">
            <a:off x="8595360" y="3383280"/>
            <a:ext cx="640080" cy="1120140"/>
          </a:xfrm>
          <a:prstGeom prst="line">
            <a:avLst/>
          </a:prstGeom>
          <a:ln w="1905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235440" y="3017520"/>
            <a:ext cx="822960" cy="731520"/>
          </a:xfrm>
          <a:prstGeom prst="roundRect">
            <a:avLst/>
          </a:prstGeom>
          <a:solidFill>
            <a:srgbClr val="F2F4F7"/>
          </a:solidFill>
          <a:ln w="9525">
            <a:solidFill>
              <a:srgbClr val="B0B8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222222"/>
                </a:solidFill>
              </a:defRPr>
            </a:pPr>
            <a:r>
              <a:t>switch</a:t>
            </a:r>
          </a:p>
        </p:txBody>
      </p:sp>
      <p:cxnSp>
        <p:nvCxnSpPr>
          <p:cNvPr id="16" name="Connector 15"/>
          <p:cNvCxnSpPr/>
          <p:nvPr/>
        </p:nvCxnSpPr>
        <p:spPr>
          <a:xfrm>
            <a:off x="10058400" y="3383280"/>
            <a:ext cx="822960" cy="0"/>
          </a:xfrm>
          <a:prstGeom prst="line">
            <a:avLst/>
          </a:prstGeom>
          <a:ln w="38100">
            <a:solidFill>
              <a:srgbClr val="C6282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875520" y="3520440"/>
            <a:ext cx="1188720" cy="548640"/>
          </a:xfrm>
          <a:prstGeom prst="rect">
            <a:avLst/>
          </a:prstGeom>
          <a:noFill/>
        </p:spPr>
        <p:txBody>
          <a:bodyPr wrap="square">
            <a:spAutoFit/>
          </a:bodyPr>
          <a:lstStyle/>
          <a:p>
            <a:pPr algn="ctr">
              <a:defRPr sz="900" b="0" i="0">
                <a:solidFill>
                  <a:srgbClr val="C62828"/>
                </a:solidFill>
              </a:defRPr>
            </a:pPr>
            <a:r>
              <a:t>shared 25 Gbit/s</a:t>
            </a:r>
          </a:p>
          <a:p>
            <a:pPr algn="ctr">
              <a:defRPr sz="900" b="0" i="0">
                <a:solidFill>
                  <a:srgbClr val="C62828"/>
                </a:solidFill>
              </a:defRPr>
            </a:pPr>
            <a:r>
              <a:t>link (bottleneck)</a:t>
            </a:r>
          </a:p>
        </p:txBody>
      </p:sp>
      <p:sp>
        <p:nvSpPr>
          <p:cNvPr id="18" name="Rounded Rectangle 17"/>
          <p:cNvSpPr/>
          <p:nvPr/>
        </p:nvSpPr>
        <p:spPr>
          <a:xfrm>
            <a:off x="10881360" y="2834640"/>
            <a:ext cx="1188720" cy="1097280"/>
          </a:xfrm>
          <a:prstGeom prst="roundRect">
            <a:avLst/>
          </a:prstGeom>
          <a:solidFill>
            <a:srgbClr val="FFF3E0"/>
          </a:solidFill>
          <a:ln w="9525">
            <a:solidFill>
              <a:srgbClr val="B0B8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222222"/>
                </a:solidFill>
              </a:defRPr>
            </a:pPr>
            <a:r>
              <a:t>O-DU</a:t>
            </a:r>
          </a:p>
          <a:p>
            <a:pPr algn="ctr">
              <a:defRPr sz="1000" b="0">
                <a:solidFill>
                  <a:srgbClr val="222222"/>
                </a:solidFill>
              </a:defRPr>
            </a:pPr>
            <a:r>
              <a:t>scheduler +</a:t>
            </a:r>
          </a:p>
          <a:p>
            <a:pPr algn="ctr">
              <a:defRPr sz="1000" b="0">
                <a:solidFill>
                  <a:srgbClr val="222222"/>
                </a:solidFill>
              </a:defRPr>
            </a:pPr>
            <a:r>
              <a:t>budget controller</a:t>
            </a:r>
          </a:p>
        </p:txBody>
      </p:sp>
      <p:sp>
        <p:nvSpPr>
          <p:cNvPr id="19" name="TextBox 18"/>
          <p:cNvSpPr txBox="1"/>
          <p:nvPr/>
        </p:nvSpPr>
        <p:spPr>
          <a:xfrm>
            <a:off x="7955280" y="5074920"/>
            <a:ext cx="457200" cy="274320"/>
          </a:xfrm>
          <a:prstGeom prst="rect">
            <a:avLst/>
          </a:prstGeom>
          <a:noFill/>
        </p:spPr>
        <p:txBody>
          <a:bodyPr wrap="square">
            <a:spAutoFit/>
          </a:bodyPr>
          <a:lstStyle/>
          <a:p>
            <a:pPr algn="l">
              <a:defRPr sz="1400" b="0" i="0">
                <a:solidFill>
                  <a:srgbClr val="222222"/>
                </a:solidFill>
              </a:defRPr>
            </a:pP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92640" cy="640080"/>
          </a:xfrm>
          <a:prstGeom prst="rect">
            <a:avLst/>
          </a:prstGeom>
          <a:noFill/>
        </p:spPr>
        <p:txBody>
          <a:bodyPr wrap="square">
            <a:spAutoFit/>
          </a:bodyPr>
          <a:lstStyle/>
          <a:p>
            <a:pPr>
              <a:defRPr sz="2400" b="1">
                <a:solidFill>
                  <a:srgbClr val="FFFFFF"/>
                </a:solidFill>
              </a:defRPr>
            </a:pPr>
            <a:r>
              <a:t>Project overview: two parts, two levers</a:t>
            </a:r>
          </a:p>
        </p:txBody>
      </p:sp>
      <p:sp>
        <p:nvSpPr>
          <p:cNvPr id="4" name="TextBox 3"/>
          <p:cNvSpPr txBox="1"/>
          <p:nvPr/>
        </p:nvSpPr>
        <p:spPr>
          <a:xfrm>
            <a:off x="9966960" y="256032"/>
            <a:ext cx="2103120" cy="365760"/>
          </a:xfrm>
          <a:prstGeom prst="rect">
            <a:avLst/>
          </a:prstGeom>
          <a:noFill/>
        </p:spPr>
        <p:txBody>
          <a:bodyPr wrap="none">
            <a:spAutoFit/>
          </a:bodyPr>
          <a:lstStyle/>
          <a:p>
            <a:pPr algn="r">
              <a:defRPr sz="1100">
                <a:solidFill>
                  <a:srgbClr val="CFD8E3"/>
                </a:solidFill>
              </a:defRPr>
            </a:pPr>
            <a:r>
              <a:t>Overview</a:t>
            </a:r>
          </a:p>
        </p:txBody>
      </p:sp>
      <p:sp>
        <p:nvSpPr>
          <p:cNvPr id="5" name="TextBox 4"/>
          <p:cNvSpPr txBox="1"/>
          <p:nvPr/>
        </p:nvSpPr>
        <p:spPr>
          <a:xfrm>
            <a:off x="365760" y="6446520"/>
            <a:ext cx="11430000" cy="320040"/>
          </a:xfrm>
          <a:prstGeom prst="rect">
            <a:avLst/>
          </a:prstGeom>
          <a:noFill/>
        </p:spPr>
        <p:txBody>
          <a:bodyPr wrap="none">
            <a:spAutoFit/>
          </a:bodyPr>
          <a:lstStyle/>
          <a:p>
            <a:pPr algn="r">
              <a:defRPr sz="900">
                <a:solidFill>
                  <a:srgbClr val="555555"/>
                </a:solidFill>
              </a:defRPr>
            </a:pPr>
            <a:r>
              <a:t>BTP mid-evaluation  |  Fronthaul load management  |  3</a:t>
            </a:r>
          </a:p>
        </p:txBody>
      </p:sp>
      <p:sp>
        <p:nvSpPr>
          <p:cNvPr id="6" name="Rounded Rectangle 5"/>
          <p:cNvSpPr/>
          <p:nvPr/>
        </p:nvSpPr>
        <p:spPr>
          <a:xfrm>
            <a:off x="457200" y="1097280"/>
            <a:ext cx="5486400" cy="502920"/>
          </a:xfrm>
          <a:prstGeom prst="roundRect">
            <a:avLst/>
          </a:prstGeom>
          <a:solidFill>
            <a:srgbClr val="007C91"/>
          </a:solidFill>
          <a:ln w="9525">
            <a:solidFill>
              <a:srgbClr val="B0B8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defRPr>
            </a:pPr>
            <a:r>
              <a:t>Part A: make the data smaller (earlier work)</a:t>
            </a:r>
          </a:p>
        </p:txBody>
      </p:sp>
      <p:sp>
        <p:nvSpPr>
          <p:cNvPr id="7" name="TextBox 6"/>
          <p:cNvSpPr txBox="1"/>
          <p:nvPr/>
        </p:nvSpPr>
        <p:spPr>
          <a:xfrm>
            <a:off x="457200" y="1691640"/>
            <a:ext cx="5486400" cy="3291840"/>
          </a:xfrm>
          <a:prstGeom prst="rect">
            <a:avLst/>
          </a:prstGeom>
          <a:noFill/>
        </p:spPr>
        <p:txBody>
          <a:bodyPr wrap="square">
            <a:spAutoFit/>
          </a:bodyPr>
          <a:lstStyle/>
          <a:p>
            <a:pPr>
              <a:spcAft>
                <a:spcPts val="600"/>
              </a:spcAft>
              <a:defRPr sz="1300" b="0">
                <a:solidFill>
                  <a:srgbClr val="222222"/>
                </a:solidFill>
              </a:defRPr>
            </a:pPr>
            <a:r>
              <a:t>• Compression of the IQ matrix Y (64 antennas × 1200 subcarriers) per slot</a:t>
            </a:r>
          </a:p>
          <a:p>
            <a:pPr>
              <a:spcAft>
                <a:spcPts val="600"/>
              </a:spcAft>
              <a:defRPr sz="1300" b="0">
                <a:solidFill>
                  <a:srgbClr val="222222"/>
                </a:solidFill>
              </a:defRPr>
            </a:pPr>
            <a:r>
              <a:t>• Baselines: O-RAN block floating point (BFP), truncated SVD</a:t>
            </a:r>
          </a:p>
          <a:p>
            <a:pPr>
              <a:spcAft>
                <a:spcPts val="600"/>
              </a:spcAft>
              <a:defRPr sz="1300" b="0">
                <a:solidFill>
                  <a:srgbClr val="222222"/>
                </a:solidFill>
              </a:defRPr>
            </a:pPr>
            <a:r>
              <a:t>• Studied: RAS-BFP (random sketch + QR → low rank), CSEE (keep the strongest delay taps)</a:t>
            </a:r>
          </a:p>
          <a:p>
            <a:pPr>
              <a:spcAft>
                <a:spcPts val="600"/>
              </a:spcAft>
              <a:defRPr sz="1300" b="0">
                <a:solidFill>
                  <a:srgbClr val="222222"/>
                </a:solidFill>
              </a:defRPr>
            </a:pPr>
            <a:r>
              <a:t>• ACAFS: pick the functional split per user from the channel rank</a:t>
            </a:r>
          </a:p>
          <a:p>
            <a:pPr>
              <a:spcAft>
                <a:spcPts val="600"/>
              </a:spcAft>
              <a:defRPr sz="1300" b="0">
                <a:solidFill>
                  <a:srgbClr val="222222"/>
                </a:solidFill>
              </a:defRPr>
            </a:pPr>
            <a:r>
              <a:t>• Benchmark of the matrix maths behind it: LU, QR, SVD, Newton-Schulz, learned inverters (n = 10 … 500)</a:t>
            </a:r>
          </a:p>
          <a:p>
            <a:pPr>
              <a:spcAft>
                <a:spcPts val="600"/>
              </a:spcAft>
              <a:defRPr sz="1300" b="0">
                <a:solidFill>
                  <a:srgbClr val="222222"/>
                </a:solidFill>
              </a:defRPr>
            </a:pPr>
            <a:r>
              <a:t>• Output: 4 figure suites, benchmark CSV, report. Compression source package is not in this repo (see status)</a:t>
            </a:r>
          </a:p>
        </p:txBody>
      </p:sp>
      <p:sp>
        <p:nvSpPr>
          <p:cNvPr id="8" name="Rounded Rectangle 7"/>
          <p:cNvSpPr/>
          <p:nvPr/>
        </p:nvSpPr>
        <p:spPr>
          <a:xfrm>
            <a:off x="6309360" y="1097280"/>
            <a:ext cx="5486400" cy="502920"/>
          </a:xfrm>
          <a:prstGeom prst="roundRect">
            <a:avLst/>
          </a:prstGeom>
          <a:solidFill>
            <a:srgbClr val="1F3A5F"/>
          </a:solidFill>
          <a:ln w="9525">
            <a:solidFill>
              <a:srgbClr val="B0B8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defRPr>
            </a:pPr>
            <a:r>
              <a:t>Part B: share the link well (this term)</a:t>
            </a:r>
          </a:p>
        </p:txBody>
      </p:sp>
      <p:sp>
        <p:nvSpPr>
          <p:cNvPr id="9" name="TextBox 8"/>
          <p:cNvSpPr txBox="1"/>
          <p:nvPr/>
        </p:nvSpPr>
        <p:spPr>
          <a:xfrm>
            <a:off x="6309360" y="1691640"/>
            <a:ext cx="5486400" cy="3291840"/>
          </a:xfrm>
          <a:prstGeom prst="rect">
            <a:avLst/>
          </a:prstGeom>
          <a:noFill/>
        </p:spPr>
        <p:txBody>
          <a:bodyPr wrap="square">
            <a:spAutoFit/>
          </a:bodyPr>
          <a:lstStyle/>
          <a:p>
            <a:pPr>
              <a:spcAft>
                <a:spcPts val="600"/>
              </a:spcAft>
              <a:defRPr sz="1300" b="0">
                <a:solidFill>
                  <a:srgbClr val="222222"/>
                </a:solidFill>
              </a:defRPr>
            </a:pPr>
            <a:r>
              <a:t>• Slot-level simulator of 8 cells on one 25 Gbit/s link, with queues, deadlines and priorities</a:t>
            </a:r>
          </a:p>
          <a:p>
            <a:pPr>
              <a:spcAft>
                <a:spcPts val="600"/>
              </a:spcAft>
              <a:defRPr sz="1300" b="0">
                <a:solidFill>
                  <a:srgbClr val="222222"/>
                </a:solidFill>
              </a:defRPr>
            </a:pPr>
            <a:r>
              <a:t>• Every 10 ms a controller sets how many bits per slot each cell may send</a:t>
            </a:r>
          </a:p>
          <a:p>
            <a:pPr>
              <a:spcAft>
                <a:spcPts val="600"/>
              </a:spcAft>
              <a:defRPr sz="1300" b="0">
                <a:solidFill>
                  <a:srgbClr val="222222"/>
                </a:solidFill>
              </a:defRPr>
            </a:pPr>
            <a:r>
              <a:t>• 5 reference controllers, from 'equal share' to 'knows the future'</a:t>
            </a:r>
          </a:p>
          <a:p>
            <a:pPr>
              <a:spcAft>
                <a:spcPts val="600"/>
              </a:spcAft>
              <a:defRPr sz="1300" b="0">
                <a:solidFill>
                  <a:srgbClr val="222222"/>
                </a:solidFill>
              </a:defRPr>
            </a:pPr>
            <a:r>
              <a:t>• Proposed: forecast each cell's need as a range (quantiles), then split the link so that every cell is cut at the same weighted risk</a:t>
            </a:r>
          </a:p>
          <a:p>
            <a:pPr>
              <a:spcAft>
                <a:spcPts val="600"/>
              </a:spcAft>
              <a:defRPr sz="1300" b="0">
                <a:solidFill>
                  <a:srgbClr val="222222"/>
                </a:solidFill>
              </a:defRPr>
            </a:pPr>
            <a:r>
              <a:t>• 200 test runs on 5 traffic scenarios, ablations, 14 unit tests</a:t>
            </a:r>
          </a:p>
          <a:p>
            <a:pPr>
              <a:spcAft>
                <a:spcPts val="600"/>
              </a:spcAft>
              <a:defRPr sz="1300" b="0">
                <a:solidFill>
                  <a:srgbClr val="222222"/>
                </a:solidFill>
              </a:defRPr>
            </a:pPr>
            <a:r>
              <a:t>• Output: raw metrics, figures, this deck; all regenerated by scripts</a:t>
            </a:r>
          </a:p>
        </p:txBody>
      </p:sp>
      <p:sp>
        <p:nvSpPr>
          <p:cNvPr id="10" name="Rounded Rectangle 9"/>
          <p:cNvSpPr/>
          <p:nvPr/>
        </p:nvSpPr>
        <p:spPr>
          <a:xfrm>
            <a:off x="457200" y="4892040"/>
            <a:ext cx="11338560" cy="1005840"/>
          </a:xfrm>
          <a:prstGeom prst="roundRect">
            <a:avLst/>
          </a:prstGeom>
          <a:solidFill>
            <a:srgbClr val="F2F4F7"/>
          </a:solidFill>
          <a:ln w="9525">
            <a:solidFill>
              <a:srgbClr val="B0B8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222222"/>
                </a:solidFill>
              </a:defRPr>
            </a:pPr>
            <a:r>
              <a:t>How they connect: compression decides how much load reaches the link (Part A lever). Allocation decides how the loss is shared when bursts coincide (Part B lever). Slide 15 shows both levers on the same traffic.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92640" cy="640080"/>
          </a:xfrm>
          <a:prstGeom prst="rect">
            <a:avLst/>
          </a:prstGeom>
          <a:noFill/>
        </p:spPr>
        <p:txBody>
          <a:bodyPr wrap="square">
            <a:spAutoFit/>
          </a:bodyPr>
          <a:lstStyle/>
          <a:p>
            <a:pPr>
              <a:defRPr sz="2400" b="1">
                <a:solidFill>
                  <a:srgbClr val="FFFFFF"/>
                </a:solidFill>
              </a:defRPr>
            </a:pPr>
            <a:r>
              <a:t>Part A: compressing IQ data with matrix decomposition</a:t>
            </a:r>
          </a:p>
        </p:txBody>
      </p:sp>
      <p:sp>
        <p:nvSpPr>
          <p:cNvPr id="4" name="TextBox 3"/>
          <p:cNvSpPr txBox="1"/>
          <p:nvPr/>
        </p:nvSpPr>
        <p:spPr>
          <a:xfrm>
            <a:off x="9966960" y="256032"/>
            <a:ext cx="2103120" cy="365760"/>
          </a:xfrm>
          <a:prstGeom prst="rect">
            <a:avLst/>
          </a:prstGeom>
          <a:noFill/>
        </p:spPr>
        <p:txBody>
          <a:bodyPr wrap="none">
            <a:spAutoFit/>
          </a:bodyPr>
          <a:lstStyle/>
          <a:p>
            <a:pPr algn="r">
              <a:defRPr sz="1100">
                <a:solidFill>
                  <a:srgbClr val="CFD8E3"/>
                </a:solidFill>
              </a:defRPr>
            </a:pPr>
            <a:r>
              <a:t>Part A</a:t>
            </a:r>
          </a:p>
        </p:txBody>
      </p:sp>
      <p:sp>
        <p:nvSpPr>
          <p:cNvPr id="5" name="TextBox 4"/>
          <p:cNvSpPr txBox="1"/>
          <p:nvPr/>
        </p:nvSpPr>
        <p:spPr>
          <a:xfrm>
            <a:off x="365760" y="6446520"/>
            <a:ext cx="11430000" cy="320040"/>
          </a:xfrm>
          <a:prstGeom prst="rect">
            <a:avLst/>
          </a:prstGeom>
          <a:noFill/>
        </p:spPr>
        <p:txBody>
          <a:bodyPr wrap="none">
            <a:spAutoFit/>
          </a:bodyPr>
          <a:lstStyle/>
          <a:p>
            <a:pPr algn="r">
              <a:defRPr sz="900">
                <a:solidFill>
                  <a:srgbClr val="555555"/>
                </a:solidFill>
              </a:defRPr>
            </a:pPr>
            <a:r>
              <a:t>BTP mid-evaluation  |  Fronthaul load management  |  4</a:t>
            </a:r>
          </a:p>
        </p:txBody>
      </p:sp>
      <p:pic>
        <p:nvPicPr>
          <p:cNvPr id="6" name="Picture 5" descr="exp1_nmse_vs_cr.png"/>
          <p:cNvPicPr>
            <a:picLocks noChangeAspect="1"/>
          </p:cNvPicPr>
          <p:nvPr/>
        </p:nvPicPr>
        <p:blipFill>
          <a:blip r:embed="rId3"/>
          <a:stretch>
            <a:fillRect/>
          </a:stretch>
        </p:blipFill>
        <p:spPr>
          <a:xfrm>
            <a:off x="365760" y="1005840"/>
            <a:ext cx="5760720" cy="4086092"/>
          </a:xfrm>
          <a:prstGeom prst="rect">
            <a:avLst/>
          </a:prstGeom>
        </p:spPr>
      </p:pic>
      <p:sp>
        <p:nvSpPr>
          <p:cNvPr id="7" name="TextBox 6"/>
          <p:cNvSpPr txBox="1"/>
          <p:nvPr/>
        </p:nvSpPr>
        <p:spPr>
          <a:xfrm>
            <a:off x="6309360" y="1051560"/>
            <a:ext cx="5577840" cy="5212080"/>
          </a:xfrm>
          <a:prstGeom prst="rect">
            <a:avLst/>
          </a:prstGeom>
          <a:noFill/>
        </p:spPr>
        <p:txBody>
          <a:bodyPr wrap="square">
            <a:spAutoFit/>
          </a:bodyPr>
          <a:lstStyle/>
          <a:p>
            <a:pPr>
              <a:spcAft>
                <a:spcPts val="500"/>
              </a:spcAft>
              <a:defRPr sz="1200" b="0">
                <a:solidFill>
                  <a:srgbClr val="222222"/>
                </a:solidFill>
              </a:defRPr>
            </a:pPr>
            <a:r>
              <a:t>• Setup: Y ∈ C^(64 × 1200) per slot, 3GPP TDL-A channel, SNR 20 dB (simulated)</a:t>
            </a:r>
          </a:p>
          <a:p>
            <a:pPr>
              <a:spcAft>
                <a:spcPts val="500"/>
              </a:spcAft>
              <a:defRPr sz="1200" b="0">
                <a:solidFill>
                  <a:srgbClr val="222222"/>
                </a:solidFill>
              </a:defRPr>
            </a:pPr>
            <a:r>
              <a:t>• BFP (O-RAN standard): shared exponent + short mantissa. ~4× smaller, −46 dB error, ~3 ms</a:t>
            </a:r>
          </a:p>
          <a:p>
            <a:pPr>
              <a:spcAft>
                <a:spcPts val="500"/>
              </a:spcAft>
              <a:defRPr sz="1200" b="0">
                <a:solidFill>
                  <a:srgbClr val="222222"/>
                </a:solidFill>
              </a:defRPr>
            </a:pPr>
            <a:r>
              <a:t>• Truncated SVD: keep the r strongest directions. ~16× at −21 dB, but 18-30 ms per slot</a:t>
            </a:r>
          </a:p>
          <a:p>
            <a:pPr>
              <a:spcAft>
                <a:spcPts val="500"/>
              </a:spcAft>
              <a:defRPr sz="1200" b="0">
                <a:solidFill>
                  <a:srgbClr val="222222"/>
                </a:solidFill>
              </a:defRPr>
            </a:pPr>
            <a:r>
              <a:t>• RAS-BFP: random sketch Ω·Y → thin QR → Y ≈ L·Qᴴ, then BFP. ~16× at −18 dB, ~7 ms (3-4× faster than SVD)</a:t>
            </a:r>
          </a:p>
          <a:p>
            <a:pPr>
              <a:spcAft>
                <a:spcPts val="500"/>
              </a:spcAft>
              <a:defRPr sz="1200" b="0">
                <a:solidFill>
                  <a:srgbClr val="222222"/>
                </a:solidFill>
              </a:defRPr>
            </a:pPr>
            <a:r>
              <a:t>• CSEE: IFFT along subcarriers → keep top-K delay taps → BFP. ~13× at −21 dB (~5 ms); ~63× at −19 dB with K = 60</a:t>
            </a:r>
          </a:p>
          <a:p>
            <a:pPr>
              <a:spcAft>
                <a:spcPts val="500"/>
              </a:spcAft>
              <a:defRPr sz="1200" b="0">
                <a:solidFill>
                  <a:srgbClr val="222222"/>
                </a:solidFill>
              </a:defRPr>
            </a:pPr>
            <a:r>
              <a:t>• ACAFS: choose split 7.2x / 7.1 / 6 per user from the channel rank → in simulation 0 % saving below ~15 dB SNR, 55-75 % above (vs fixed split 6)</a:t>
            </a:r>
          </a:p>
          <a:p>
            <a:pPr>
              <a:spcAft>
                <a:spcPts val="500"/>
              </a:spcAft>
              <a:defRPr sz="1200" b="1">
                <a:solidFill>
                  <a:srgbClr val="222222"/>
                </a:solidFill>
              </a:defRPr>
            </a:pPr>
            <a:r>
              <a:t>• Status: figures and report exist (results/figures, docs/mid_evaluation_report.md); the src/ package is missing from the repo, so these numbers are quoted, not re-run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92640" cy="640080"/>
          </a:xfrm>
          <a:prstGeom prst="rect">
            <a:avLst/>
          </a:prstGeom>
          <a:noFill/>
        </p:spPr>
        <p:txBody>
          <a:bodyPr wrap="square">
            <a:spAutoFit/>
          </a:bodyPr>
          <a:lstStyle/>
          <a:p>
            <a:pPr>
              <a:defRPr sz="2400" b="1">
                <a:solidFill>
                  <a:srgbClr val="FFFFFF"/>
                </a:solidFill>
              </a:defRPr>
            </a:pPr>
            <a:r>
              <a:t>Part A: how fast is the matrix maths? (measured on CPU)</a:t>
            </a:r>
          </a:p>
        </p:txBody>
      </p:sp>
      <p:sp>
        <p:nvSpPr>
          <p:cNvPr id="4" name="TextBox 3"/>
          <p:cNvSpPr txBox="1"/>
          <p:nvPr/>
        </p:nvSpPr>
        <p:spPr>
          <a:xfrm>
            <a:off x="9966960" y="256032"/>
            <a:ext cx="2103120" cy="365760"/>
          </a:xfrm>
          <a:prstGeom prst="rect">
            <a:avLst/>
          </a:prstGeom>
          <a:noFill/>
        </p:spPr>
        <p:txBody>
          <a:bodyPr wrap="none">
            <a:spAutoFit/>
          </a:bodyPr>
          <a:lstStyle/>
          <a:p>
            <a:pPr algn="r">
              <a:defRPr sz="1100">
                <a:solidFill>
                  <a:srgbClr val="CFD8E3"/>
                </a:solidFill>
              </a:defRPr>
            </a:pPr>
            <a:r>
              <a:t>Part A</a:t>
            </a:r>
          </a:p>
        </p:txBody>
      </p:sp>
      <p:sp>
        <p:nvSpPr>
          <p:cNvPr id="5" name="TextBox 4"/>
          <p:cNvSpPr txBox="1"/>
          <p:nvPr/>
        </p:nvSpPr>
        <p:spPr>
          <a:xfrm>
            <a:off x="365760" y="6446520"/>
            <a:ext cx="11430000" cy="320040"/>
          </a:xfrm>
          <a:prstGeom prst="rect">
            <a:avLst/>
          </a:prstGeom>
          <a:noFill/>
        </p:spPr>
        <p:txBody>
          <a:bodyPr wrap="none">
            <a:spAutoFit/>
          </a:bodyPr>
          <a:lstStyle/>
          <a:p>
            <a:pPr algn="r">
              <a:defRPr sz="900">
                <a:solidFill>
                  <a:srgbClr val="555555"/>
                </a:solidFill>
              </a:defRPr>
            </a:pPr>
            <a:r>
              <a:t>BTP mid-evaluation  |  Fronthaul load management  |  5</a:t>
            </a:r>
          </a:p>
        </p:txBody>
      </p:sp>
      <p:pic>
        <p:nvPicPr>
          <p:cNvPr id="6" name="Picture 5" descr="exp2_complexity.png"/>
          <p:cNvPicPr>
            <a:picLocks noChangeAspect="1"/>
          </p:cNvPicPr>
          <p:nvPr/>
        </p:nvPicPr>
        <p:blipFill>
          <a:blip r:embed="rId3"/>
          <a:stretch>
            <a:fillRect/>
          </a:stretch>
        </p:blipFill>
        <p:spPr>
          <a:xfrm>
            <a:off x="365760" y="1005840"/>
            <a:ext cx="4572000" cy="3246076"/>
          </a:xfrm>
          <a:prstGeom prst="rect">
            <a:avLst/>
          </a:prstGeom>
        </p:spPr>
      </p:pic>
      <p:graphicFrame>
        <p:nvGraphicFramePr>
          <p:cNvPr id="7" name="Table 6"/>
          <p:cNvGraphicFramePr>
            <a:graphicFrameLocks noGrp="1"/>
          </p:cNvGraphicFramePr>
          <p:nvPr/>
        </p:nvGraphicFramePr>
        <p:xfrm>
          <a:off x="5120640" y="1051560"/>
          <a:ext cx="6766560" cy="2560320"/>
        </p:xfrm>
        <a:graphic>
          <a:graphicData uri="http://schemas.openxmlformats.org/drawingml/2006/table">
            <a:tbl>
              <a:tblPr firstRow="1" bandRow="1">
                <a:tableStyleId>{5C22544A-7EE6-4342-B048-85BDC9FD1C3A}</a:tableStyleId>
              </a:tblPr>
              <a:tblGrid>
                <a:gridCol w="2377440"/>
                <a:gridCol w="1097280"/>
                <a:gridCol w="1097280"/>
                <a:gridCol w="1097280"/>
                <a:gridCol w="1097280"/>
              </a:tblGrid>
              <a:tr h="320040">
                <a:tc>
                  <a:txBody>
                    <a:bodyPr/>
                    <a:lstStyle/>
                    <a:p>
                      <a:pPr>
                        <a:defRPr sz="900" b="1">
                          <a:solidFill>
                            <a:srgbClr val="FFFFFF"/>
                          </a:solidFill>
                        </a:defRPr>
                      </a:pPr>
                      <a:r>
                        <a:t>Method</a:t>
                      </a:r>
                    </a:p>
                  </a:txBody>
                  <a:tcPr>
                    <a:solidFill>
                      <a:srgbClr val="1F3A5F"/>
                    </a:solidFill>
                  </a:tcPr>
                </a:tc>
                <a:tc>
                  <a:txBody>
                    <a:bodyPr/>
                    <a:lstStyle/>
                    <a:p>
                      <a:pPr>
                        <a:defRPr sz="900" b="1">
                          <a:solidFill>
                            <a:srgbClr val="FFFFFF"/>
                          </a:solidFill>
                        </a:defRPr>
                      </a:pPr>
                      <a:r>
                        <a:t>n=100: median ms</a:t>
                      </a:r>
                    </a:p>
                  </a:txBody>
                  <a:tcPr>
                    <a:solidFill>
                      <a:srgbClr val="1F3A5F"/>
                    </a:solidFill>
                  </a:tcPr>
                </a:tc>
                <a:tc>
                  <a:txBody>
                    <a:bodyPr/>
                    <a:lstStyle/>
                    <a:p>
                      <a:pPr>
                        <a:defRPr sz="900" b="1">
                          <a:solidFill>
                            <a:srgbClr val="FFFFFF"/>
                          </a:solidFill>
                        </a:defRPr>
                      </a:pPr>
                      <a:r>
                        <a:t>n=100: rel. error</a:t>
                      </a:r>
                    </a:p>
                  </a:txBody>
                  <a:tcPr>
                    <a:solidFill>
                      <a:srgbClr val="1F3A5F"/>
                    </a:solidFill>
                  </a:tcPr>
                </a:tc>
                <a:tc>
                  <a:txBody>
                    <a:bodyPr/>
                    <a:lstStyle/>
                    <a:p>
                      <a:pPr>
                        <a:defRPr sz="900" b="1">
                          <a:solidFill>
                            <a:srgbClr val="FFFFFF"/>
                          </a:solidFill>
                        </a:defRPr>
                      </a:pPr>
                      <a:r>
                        <a:t>n=500: median ms</a:t>
                      </a:r>
                    </a:p>
                  </a:txBody>
                  <a:tcPr>
                    <a:solidFill>
                      <a:srgbClr val="1F3A5F"/>
                    </a:solidFill>
                  </a:tcPr>
                </a:tc>
                <a:tc>
                  <a:txBody>
                    <a:bodyPr/>
                    <a:lstStyle/>
                    <a:p>
                      <a:pPr>
                        <a:defRPr sz="900" b="1">
                          <a:solidFill>
                            <a:srgbClr val="FFFFFF"/>
                          </a:solidFill>
                        </a:defRPr>
                      </a:pPr>
                      <a:r>
                        <a:t>n=500: rel. error</a:t>
                      </a:r>
                    </a:p>
                  </a:txBody>
                  <a:tcPr>
                    <a:solidFill>
                      <a:srgbClr val="1F3A5F"/>
                    </a:solidFill>
                  </a:tcPr>
                </a:tc>
              </a:tr>
              <a:tr h="320040">
                <a:tc>
                  <a:txBody>
                    <a:bodyPr/>
                    <a:lstStyle/>
                    <a:p>
                      <a:pPr>
                        <a:defRPr sz="900"/>
                      </a:pPr>
                      <a:r>
                        <a:t>LU via LAPACK (numpy.linalg.inv)</a:t>
                      </a:r>
                    </a:p>
                  </a:txBody>
                  <a:tcPr>
                    <a:solidFill>
                      <a:srgbClr val="F2F4F7"/>
                    </a:solidFill>
                  </a:tcPr>
                </a:tc>
                <a:tc>
                  <a:txBody>
                    <a:bodyPr/>
                    <a:lstStyle/>
                    <a:p>
                      <a:pPr>
                        <a:defRPr sz="900"/>
                      </a:pPr>
                      <a:r>
                        <a:t>0.17</a:t>
                      </a:r>
                    </a:p>
                  </a:txBody>
                  <a:tcPr>
                    <a:solidFill>
                      <a:srgbClr val="F2F4F7"/>
                    </a:solidFill>
                  </a:tcPr>
                </a:tc>
                <a:tc>
                  <a:txBody>
                    <a:bodyPr/>
                    <a:lstStyle/>
                    <a:p>
                      <a:pPr>
                        <a:defRPr sz="900"/>
                      </a:pPr>
                      <a:r>
                        <a:t>5e-08</a:t>
                      </a:r>
                    </a:p>
                  </a:txBody>
                  <a:tcPr>
                    <a:solidFill>
                      <a:srgbClr val="F2F4F7"/>
                    </a:solidFill>
                  </a:tcPr>
                </a:tc>
                <a:tc>
                  <a:txBody>
                    <a:bodyPr/>
                    <a:lstStyle/>
                    <a:p>
                      <a:pPr>
                        <a:defRPr sz="900"/>
                      </a:pPr>
                      <a:r>
                        <a:t>18.00</a:t>
                      </a:r>
                    </a:p>
                  </a:txBody>
                  <a:tcPr>
                    <a:solidFill>
                      <a:srgbClr val="F2F4F7"/>
                    </a:solidFill>
                  </a:tcPr>
                </a:tc>
                <a:tc>
                  <a:txBody>
                    <a:bodyPr/>
                    <a:lstStyle/>
                    <a:p>
                      <a:pPr>
                        <a:defRPr sz="900"/>
                      </a:pPr>
                      <a:r>
                        <a:t>5e-08</a:t>
                      </a:r>
                    </a:p>
                  </a:txBody>
                  <a:tcPr>
                    <a:solidFill>
                      <a:srgbClr val="F2F4F7"/>
                    </a:solidFill>
                  </a:tcPr>
                </a:tc>
              </a:tr>
              <a:tr h="320040">
                <a:tc>
                  <a:txBody>
                    <a:bodyPr/>
                    <a:lstStyle/>
                    <a:p>
                      <a:pPr>
                        <a:defRPr sz="900"/>
                      </a:pPr>
                      <a:r>
                        <a:t>LU (scipy)</a:t>
                      </a:r>
                    </a:p>
                  </a:txBody>
                  <a:tcPr>
                    <a:solidFill>
                      <a:srgbClr val="FFFFFF"/>
                    </a:solidFill>
                  </a:tcPr>
                </a:tc>
                <a:tc>
                  <a:txBody>
                    <a:bodyPr/>
                    <a:lstStyle/>
                    <a:p>
                      <a:pPr>
                        <a:defRPr sz="900"/>
                      </a:pPr>
                      <a:r>
                        <a:t>2.87</a:t>
                      </a:r>
                    </a:p>
                  </a:txBody>
                  <a:tcPr>
                    <a:solidFill>
                      <a:srgbClr val="FFFFFF"/>
                    </a:solidFill>
                  </a:tcPr>
                </a:tc>
                <a:tc>
                  <a:txBody>
                    <a:bodyPr/>
                    <a:lstStyle/>
                    <a:p>
                      <a:pPr>
                        <a:defRPr sz="900"/>
                      </a:pPr>
                      <a:r>
                        <a:t>1e-07</a:t>
                      </a:r>
                    </a:p>
                  </a:txBody>
                  <a:tcPr>
                    <a:solidFill>
                      <a:srgbClr val="FFFFFF"/>
                    </a:solidFill>
                  </a:tcPr>
                </a:tc>
                <a:tc>
                  <a:txBody>
                    <a:bodyPr/>
                    <a:lstStyle/>
                    <a:p>
                      <a:pPr>
                        <a:defRPr sz="900"/>
                      </a:pPr>
                      <a:r>
                        <a:t>56.29</a:t>
                      </a:r>
                    </a:p>
                  </a:txBody>
                  <a:tcPr>
                    <a:solidFill>
                      <a:srgbClr val="FFFFFF"/>
                    </a:solidFill>
                  </a:tcPr>
                </a:tc>
                <a:tc>
                  <a:txBody>
                    <a:bodyPr/>
                    <a:lstStyle/>
                    <a:p>
                      <a:pPr>
                        <a:defRPr sz="900"/>
                      </a:pPr>
                      <a:r>
                        <a:t>2e-07</a:t>
                      </a:r>
                    </a:p>
                  </a:txBody>
                  <a:tcPr>
                    <a:solidFill>
                      <a:srgbClr val="FFFFFF"/>
                    </a:solidFill>
                  </a:tcPr>
                </a:tc>
              </a:tr>
              <a:tr h="320040">
                <a:tc>
                  <a:txBody>
                    <a:bodyPr/>
                    <a:lstStyle/>
                    <a:p>
                      <a:pPr>
                        <a:defRPr sz="900"/>
                      </a:pPr>
                      <a:r>
                        <a:t>QR</a:t>
                      </a:r>
                    </a:p>
                  </a:txBody>
                  <a:tcPr>
                    <a:solidFill>
                      <a:srgbClr val="F2F4F7"/>
                    </a:solidFill>
                  </a:tcPr>
                </a:tc>
                <a:tc>
                  <a:txBody>
                    <a:bodyPr/>
                    <a:lstStyle/>
                    <a:p>
                      <a:pPr>
                        <a:defRPr sz="900"/>
                      </a:pPr>
                      <a:r>
                        <a:t>3.94</a:t>
                      </a:r>
                    </a:p>
                  </a:txBody>
                  <a:tcPr>
                    <a:solidFill>
                      <a:srgbClr val="F2F4F7"/>
                    </a:solidFill>
                  </a:tcPr>
                </a:tc>
                <a:tc>
                  <a:txBody>
                    <a:bodyPr/>
                    <a:lstStyle/>
                    <a:p>
                      <a:pPr>
                        <a:defRPr sz="900"/>
                      </a:pPr>
                      <a:r>
                        <a:t>3e-07</a:t>
                      </a:r>
                    </a:p>
                  </a:txBody>
                  <a:tcPr>
                    <a:solidFill>
                      <a:srgbClr val="F2F4F7"/>
                    </a:solidFill>
                  </a:tcPr>
                </a:tc>
                <a:tc>
                  <a:txBody>
                    <a:bodyPr/>
                    <a:lstStyle/>
                    <a:p>
                      <a:pPr>
                        <a:defRPr sz="900"/>
                      </a:pPr>
                      <a:r>
                        <a:t>102.23</a:t>
                      </a:r>
                    </a:p>
                  </a:txBody>
                  <a:tcPr>
                    <a:solidFill>
                      <a:srgbClr val="F2F4F7"/>
                    </a:solidFill>
                  </a:tcPr>
                </a:tc>
                <a:tc>
                  <a:txBody>
                    <a:bodyPr/>
                    <a:lstStyle/>
                    <a:p>
                      <a:pPr>
                        <a:defRPr sz="900"/>
                      </a:pPr>
                      <a:r>
                        <a:t>3e-07</a:t>
                      </a:r>
                    </a:p>
                  </a:txBody>
                  <a:tcPr>
                    <a:solidFill>
                      <a:srgbClr val="F2F4F7"/>
                    </a:solidFill>
                  </a:tcPr>
                </a:tc>
              </a:tr>
              <a:tr h="320040">
                <a:tc>
                  <a:txBody>
                    <a:bodyPr/>
                    <a:lstStyle/>
                    <a:p>
                      <a:pPr>
                        <a:defRPr sz="900"/>
                      </a:pPr>
                      <a:r>
                        <a:t>SVD</a:t>
                      </a:r>
                    </a:p>
                  </a:txBody>
                  <a:tcPr>
                    <a:solidFill>
                      <a:srgbClr val="FFFFFF"/>
                    </a:solidFill>
                  </a:tcPr>
                </a:tc>
                <a:tc>
                  <a:txBody>
                    <a:bodyPr/>
                    <a:lstStyle/>
                    <a:p>
                      <a:pPr>
                        <a:defRPr sz="900"/>
                      </a:pPr>
                      <a:r>
                        <a:t>2.76</a:t>
                      </a:r>
                    </a:p>
                  </a:txBody>
                  <a:tcPr>
                    <a:solidFill>
                      <a:srgbClr val="FFFFFF"/>
                    </a:solidFill>
                  </a:tcPr>
                </a:tc>
                <a:tc>
                  <a:txBody>
                    <a:bodyPr/>
                    <a:lstStyle/>
                    <a:p>
                      <a:pPr>
                        <a:defRPr sz="900"/>
                      </a:pPr>
                      <a:r>
                        <a:t>1e-07</a:t>
                      </a:r>
                    </a:p>
                  </a:txBody>
                  <a:tcPr>
                    <a:solidFill>
                      <a:srgbClr val="FFFFFF"/>
                    </a:solidFill>
                  </a:tcPr>
                </a:tc>
                <a:tc>
                  <a:txBody>
                    <a:bodyPr/>
                    <a:lstStyle/>
                    <a:p>
                      <a:pPr>
                        <a:defRPr sz="900"/>
                      </a:pPr>
                      <a:r>
                        <a:t>106.92</a:t>
                      </a:r>
                    </a:p>
                  </a:txBody>
                  <a:tcPr>
                    <a:solidFill>
                      <a:srgbClr val="FFFFFF"/>
                    </a:solidFill>
                  </a:tcPr>
                </a:tc>
                <a:tc>
                  <a:txBody>
                    <a:bodyPr/>
                    <a:lstStyle/>
                    <a:p>
                      <a:pPr>
                        <a:defRPr sz="900"/>
                      </a:pPr>
                      <a:r>
                        <a:t>2e-07</a:t>
                      </a:r>
                    </a:p>
                  </a:txBody>
                  <a:tcPr>
                    <a:solidFill>
                      <a:srgbClr val="FFFFFF"/>
                    </a:solidFill>
                  </a:tcPr>
                </a:tc>
              </a:tr>
              <a:tr h="320040">
                <a:tc>
                  <a:txBody>
                    <a:bodyPr/>
                    <a:lstStyle/>
                    <a:p>
                      <a:pPr>
                        <a:defRPr sz="900"/>
                      </a:pPr>
                      <a:r>
                        <a:t>Newton-Schulz iteration</a:t>
                      </a:r>
                    </a:p>
                  </a:txBody>
                  <a:tcPr>
                    <a:solidFill>
                      <a:srgbClr val="F2F4F7"/>
                    </a:solidFill>
                  </a:tcPr>
                </a:tc>
                <a:tc>
                  <a:txBody>
                    <a:bodyPr/>
                    <a:lstStyle/>
                    <a:p>
                      <a:pPr>
                        <a:defRPr sz="900"/>
                      </a:pPr>
                      <a:r>
                        <a:t>1.01</a:t>
                      </a:r>
                    </a:p>
                  </a:txBody>
                  <a:tcPr>
                    <a:solidFill>
                      <a:srgbClr val="F2F4F7"/>
                    </a:solidFill>
                  </a:tcPr>
                </a:tc>
                <a:tc>
                  <a:txBody>
                    <a:bodyPr/>
                    <a:lstStyle/>
                    <a:p>
                      <a:pPr>
                        <a:defRPr sz="900"/>
                      </a:pPr>
                      <a:r>
                        <a:t>2e-07</a:t>
                      </a:r>
                    </a:p>
                  </a:txBody>
                  <a:tcPr>
                    <a:solidFill>
                      <a:srgbClr val="F2F4F7"/>
                    </a:solidFill>
                  </a:tcPr>
                </a:tc>
                <a:tc>
                  <a:txBody>
                    <a:bodyPr/>
                    <a:lstStyle/>
                    <a:p>
                      <a:pPr>
                        <a:defRPr sz="900"/>
                      </a:pPr>
                      <a:r>
                        <a:t>70.30</a:t>
                      </a:r>
                    </a:p>
                  </a:txBody>
                  <a:tcPr>
                    <a:solidFill>
                      <a:srgbClr val="F2F4F7"/>
                    </a:solidFill>
                  </a:tcPr>
                </a:tc>
                <a:tc>
                  <a:txBody>
                    <a:bodyPr/>
                    <a:lstStyle/>
                    <a:p>
                      <a:pPr>
                        <a:defRPr sz="900"/>
                      </a:pPr>
                      <a:r>
                        <a:t>3e-07</a:t>
                      </a:r>
                    </a:p>
                  </a:txBody>
                  <a:tcPr>
                    <a:solidFill>
                      <a:srgbClr val="F2F4F7"/>
                    </a:solidFill>
                  </a:tcPr>
                </a:tc>
              </a:tr>
              <a:tr h="320040">
                <a:tc>
                  <a:txBody>
                    <a:bodyPr/>
                    <a:lstStyle/>
                    <a:p>
                      <a:pPr>
                        <a:defRPr sz="900"/>
                      </a:pPr>
                      <a:r>
                        <a:t>Learned iteration (InverseNet-Ultra)</a:t>
                      </a:r>
                    </a:p>
                  </a:txBody>
                  <a:tcPr>
                    <a:solidFill>
                      <a:srgbClr val="FFFFFF"/>
                    </a:solidFill>
                  </a:tcPr>
                </a:tc>
                <a:tc>
                  <a:txBody>
                    <a:bodyPr/>
                    <a:lstStyle/>
                    <a:p>
                      <a:pPr>
                        <a:defRPr sz="900"/>
                      </a:pPr>
                      <a:r>
                        <a:t>0.46</a:t>
                      </a:r>
                    </a:p>
                  </a:txBody>
                  <a:tcPr>
                    <a:solidFill>
                      <a:srgbClr val="FFFFFF"/>
                    </a:solidFill>
                  </a:tcPr>
                </a:tc>
                <a:tc>
                  <a:txBody>
                    <a:bodyPr/>
                    <a:lstStyle/>
                    <a:p>
                      <a:pPr>
                        <a:defRPr sz="900"/>
                      </a:pPr>
                      <a:r>
                        <a:t>1e-06</a:t>
                      </a:r>
                    </a:p>
                  </a:txBody>
                  <a:tcPr>
                    <a:solidFill>
                      <a:srgbClr val="FFFFFF"/>
                    </a:solidFill>
                  </a:tcPr>
                </a:tc>
                <a:tc>
                  <a:txBody>
                    <a:bodyPr/>
                    <a:lstStyle/>
                    <a:p>
                      <a:pPr>
                        <a:defRPr sz="900"/>
                      </a:pPr>
                      <a:r>
                        <a:t>33.79</a:t>
                      </a:r>
                    </a:p>
                  </a:txBody>
                  <a:tcPr>
                    <a:solidFill>
                      <a:srgbClr val="FFFFFF"/>
                    </a:solidFill>
                  </a:tcPr>
                </a:tc>
                <a:tc>
                  <a:txBody>
                    <a:bodyPr/>
                    <a:lstStyle/>
                    <a:p>
                      <a:pPr>
                        <a:defRPr sz="900"/>
                      </a:pPr>
                      <a:r>
                        <a:t>1e-06</a:t>
                      </a:r>
                    </a:p>
                  </a:txBody>
                  <a:tcPr>
                    <a:solidFill>
                      <a:srgbClr val="FFFFFF"/>
                    </a:solidFill>
                  </a:tcPr>
                </a:tc>
              </a:tr>
              <a:tr h="320040">
                <a:tc>
                  <a:txBody>
                    <a:bodyPr/>
                    <a:lstStyle/>
                    <a:p>
                      <a:pPr>
                        <a:defRPr sz="900"/>
                      </a:pPr>
                      <a:r>
                        <a:t>Direct neural net (InverseNet-MLP)</a:t>
                      </a:r>
                    </a:p>
                  </a:txBody>
                  <a:tcPr>
                    <a:solidFill>
                      <a:srgbClr val="F2F4F7"/>
                    </a:solidFill>
                  </a:tcPr>
                </a:tc>
                <a:tc>
                  <a:txBody>
                    <a:bodyPr/>
                    <a:lstStyle/>
                    <a:p>
                      <a:pPr>
                        <a:defRPr sz="900"/>
                      </a:pPr>
                      <a:r>
                        <a:t>4.58</a:t>
                      </a:r>
                    </a:p>
                  </a:txBody>
                  <a:tcPr>
                    <a:solidFill>
                      <a:srgbClr val="F2F4F7"/>
                    </a:solidFill>
                  </a:tcPr>
                </a:tc>
                <a:tc>
                  <a:txBody>
                    <a:bodyPr/>
                    <a:lstStyle/>
                    <a:p>
                      <a:pPr>
                        <a:defRPr sz="900"/>
                      </a:pPr>
                      <a:r>
                        <a:t>5e-01</a:t>
                      </a:r>
                    </a:p>
                  </a:txBody>
                  <a:tcPr>
                    <a:solidFill>
                      <a:srgbClr val="F2F4F7"/>
                    </a:solidFill>
                  </a:tcPr>
                </a:tc>
                <a:tc>
                  <a:txBody>
                    <a:bodyPr/>
                    <a:lstStyle/>
                    <a:p>
                      <a:pPr>
                        <a:defRPr sz="900"/>
                      </a:pPr>
                      <a:r>
                        <a:t>n/a</a:t>
                      </a:r>
                    </a:p>
                  </a:txBody>
                  <a:tcPr>
                    <a:solidFill>
                      <a:srgbClr val="F2F4F7"/>
                    </a:solidFill>
                  </a:tcPr>
                </a:tc>
                <a:tc>
                  <a:txBody>
                    <a:bodyPr/>
                    <a:lstStyle/>
                    <a:p>
                      <a:pPr>
                        <a:defRPr sz="900"/>
                      </a:pPr>
                      <a:r>
                        <a:t>n/a</a:t>
                      </a:r>
                    </a:p>
                  </a:txBody>
                  <a:tcPr>
                    <a:solidFill>
                      <a:srgbClr val="F2F4F7"/>
                    </a:solidFill>
                  </a:tcPr>
                </a:tc>
              </a:tr>
            </a:tbl>
          </a:graphicData>
        </a:graphic>
      </p:graphicFrame>
      <p:sp>
        <p:nvSpPr>
          <p:cNvPr id="8" name="TextBox 7"/>
          <p:cNvSpPr txBox="1"/>
          <p:nvPr/>
        </p:nvSpPr>
        <p:spPr>
          <a:xfrm>
            <a:off x="365760" y="4343400"/>
            <a:ext cx="11430000" cy="2011680"/>
          </a:xfrm>
          <a:prstGeom prst="rect">
            <a:avLst/>
          </a:prstGeom>
          <a:noFill/>
        </p:spPr>
        <p:txBody>
          <a:bodyPr wrap="square">
            <a:spAutoFit/>
          </a:bodyPr>
          <a:lstStyle/>
          <a:p>
            <a:pPr>
              <a:spcAft>
                <a:spcPts val="300"/>
              </a:spcAft>
              <a:defRPr sz="1200" b="0">
                <a:solidFill>
                  <a:srgbClr val="222222"/>
                </a:solidFill>
              </a:defRPr>
            </a:pPr>
            <a:r>
              <a:t>• Encoder time grows fastest for SVD; sketch (RAS-BFP) and delay-domain (CSEE) encoders stay 10-100× below it</a:t>
            </a:r>
          </a:p>
          <a:p>
            <a:pPr>
              <a:spcAft>
                <a:spcPts val="300"/>
              </a:spcAft>
              <a:defRPr sz="1200" b="0">
                <a:solidFill>
                  <a:srgbClr val="222222"/>
                </a:solidFill>
              </a:defRPr>
            </a:pPr>
            <a:r>
              <a:t>• Inversion benchmark (right, medians, 200 held-out matrices per size, well-conditioned): LU via LAPACK is fastest and exact</a:t>
            </a:r>
          </a:p>
          <a:p>
            <a:pPr>
              <a:spcAft>
                <a:spcPts val="300"/>
              </a:spcAft>
              <a:defRPr sz="1200" b="0">
                <a:solidFill>
                  <a:srgbClr val="222222"/>
                </a:solidFill>
              </a:defRPr>
            </a:pPr>
            <a:r>
              <a:t>• A direct neural net that outputs the inverse does not work (≈ 50 % error). A learned Newton-Schulz iteration does (≈ 1e-6 at n = 100) and has a fixed, predictable cost</a:t>
            </a:r>
          </a:p>
          <a:p>
            <a:pPr>
              <a:spcAft>
                <a:spcPts val="300"/>
              </a:spcAft>
              <a:defRPr sz="1200" b="0">
                <a:solidFill>
                  <a:srgbClr val="222222"/>
                </a:solidFill>
              </a:defRPr>
            </a:pPr>
            <a:r>
              <a:t>• Lesson for slot deadlines (0.5 ms): n ≈ 100 matrices fit per slot on a CPU; n ≈ 500 do not → do them less often, incrementally, or on an accelerator</a:t>
            </a:r>
          </a:p>
          <a:p>
            <a:pPr>
              <a:spcAft>
                <a:spcPts val="300"/>
              </a:spcAft>
              <a:defRPr sz="1200" b="0">
                <a:solidFill>
                  <a:srgbClr val="222222"/>
                </a:solidFill>
              </a:defRPr>
            </a:pPr>
            <a:r>
              <a:t>• Lesson for Part B: predictable compute time matters as much as average speed; the allocation rule below is a closed form plus one scalar search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92640" cy="640080"/>
          </a:xfrm>
          <a:prstGeom prst="rect">
            <a:avLst/>
          </a:prstGeom>
          <a:noFill/>
        </p:spPr>
        <p:txBody>
          <a:bodyPr wrap="square">
            <a:spAutoFit/>
          </a:bodyPr>
          <a:lstStyle/>
          <a:p>
            <a:pPr>
              <a:defRPr sz="2400" b="1">
                <a:solidFill>
                  <a:srgbClr val="FFFFFF"/>
                </a:solidFill>
              </a:defRPr>
            </a:pPr>
            <a:r>
              <a:t>Part B: what is decided, when, and with what information</a:t>
            </a:r>
          </a:p>
        </p:txBody>
      </p:sp>
      <p:sp>
        <p:nvSpPr>
          <p:cNvPr id="4" name="TextBox 3"/>
          <p:cNvSpPr txBox="1"/>
          <p:nvPr/>
        </p:nvSpPr>
        <p:spPr>
          <a:xfrm>
            <a:off x="9966960" y="256032"/>
            <a:ext cx="2103120" cy="365760"/>
          </a:xfrm>
          <a:prstGeom prst="rect">
            <a:avLst/>
          </a:prstGeom>
          <a:noFill/>
        </p:spPr>
        <p:txBody>
          <a:bodyPr wrap="none">
            <a:spAutoFit/>
          </a:bodyPr>
          <a:lstStyle/>
          <a:p>
            <a:pPr algn="r">
              <a:defRPr sz="1100">
                <a:solidFill>
                  <a:srgbClr val="CFD8E3"/>
                </a:solidFill>
              </a:defRPr>
            </a:pPr>
            <a:r>
              <a:t>Part B: model</a:t>
            </a:r>
          </a:p>
        </p:txBody>
      </p:sp>
      <p:sp>
        <p:nvSpPr>
          <p:cNvPr id="5" name="TextBox 4"/>
          <p:cNvSpPr txBox="1"/>
          <p:nvPr/>
        </p:nvSpPr>
        <p:spPr>
          <a:xfrm>
            <a:off x="365760" y="6446520"/>
            <a:ext cx="11430000" cy="320040"/>
          </a:xfrm>
          <a:prstGeom prst="rect">
            <a:avLst/>
          </a:prstGeom>
          <a:noFill/>
        </p:spPr>
        <p:txBody>
          <a:bodyPr wrap="none">
            <a:spAutoFit/>
          </a:bodyPr>
          <a:lstStyle/>
          <a:p>
            <a:pPr algn="r">
              <a:defRPr sz="900">
                <a:solidFill>
                  <a:srgbClr val="555555"/>
                </a:solidFill>
              </a:defRPr>
            </a:pPr>
            <a:r>
              <a:t>BTP mid-evaluation  |  Fronthaul load management  |  6</a:t>
            </a:r>
          </a:p>
        </p:txBody>
      </p:sp>
      <p:sp>
        <p:nvSpPr>
          <p:cNvPr id="6" name="TextBox 5"/>
          <p:cNvSpPr txBox="1"/>
          <p:nvPr/>
        </p:nvSpPr>
        <p:spPr>
          <a:xfrm>
            <a:off x="457200" y="1005840"/>
            <a:ext cx="6766560" cy="5212080"/>
          </a:xfrm>
          <a:prstGeom prst="rect">
            <a:avLst/>
          </a:prstGeom>
          <a:noFill/>
        </p:spPr>
        <p:txBody>
          <a:bodyPr wrap="square">
            <a:spAutoFit/>
          </a:bodyPr>
          <a:lstStyle/>
          <a:p>
            <a:pPr>
              <a:spcAft>
                <a:spcPts val="600"/>
              </a:spcAft>
              <a:defRPr sz="1500" b="0">
                <a:solidFill>
                  <a:srgbClr val="222222"/>
                </a:solidFill>
              </a:defRPr>
            </a:pPr>
            <a:r>
              <a:t>• Time: slots of 0.5 ms. Data: bits. Link: bits per slot</a:t>
            </a:r>
          </a:p>
          <a:p>
            <a:pPr>
              <a:spcAft>
                <a:spcPts val="600"/>
              </a:spcAft>
              <a:defRPr sz="1500" b="0">
                <a:solidFill>
                  <a:srgbClr val="222222"/>
                </a:solidFill>
              </a:defRPr>
            </a:pPr>
            <a:r>
              <a:t>• 8 cells: 3 low-latency (must be served within 4 slots = 2 ms, priority 3) and 5 eMBB (20 slots = 10 ms, priority 1)</a:t>
            </a:r>
          </a:p>
          <a:p>
            <a:pPr>
              <a:spcAft>
                <a:spcPts val="600"/>
              </a:spcAft>
              <a:defRPr sz="1500" b="0">
                <a:solidFill>
                  <a:srgbClr val="222222"/>
                </a:solidFill>
              </a:defRPr>
            </a:pPr>
            <a:r>
              <a:t>• Fronthaul bits = user bits ÷ spectral efficiency × bits per resource block, so fronthaul load ≠ user traffic</a:t>
            </a:r>
          </a:p>
          <a:p>
            <a:pPr>
              <a:spcAft>
                <a:spcPts val="600"/>
              </a:spcAft>
              <a:defRPr sz="1500" b="0">
                <a:solidFill>
                  <a:srgbClr val="222222"/>
                </a:solidFill>
              </a:defRPr>
            </a:pPr>
            <a:r>
              <a:t>• Each cell has a first-in-first-out queue in the O-DU; bits older than the deadline are dropped and counted</a:t>
            </a:r>
          </a:p>
          <a:p>
            <a:pPr>
              <a:spcAft>
                <a:spcPts val="600"/>
              </a:spcAft>
              <a:defRPr sz="1500" b="0">
                <a:solidFill>
                  <a:srgbClr val="222222"/>
                </a:solidFill>
              </a:defRPr>
            </a:pPr>
            <a:r>
              <a:t>• Link rule: budgets add up to at most 97 % of 25 Gbit/s (3 % kept for control traffic); no cell gets more than its own peak</a:t>
            </a:r>
          </a:p>
          <a:p>
            <a:pPr>
              <a:spcAft>
                <a:spcPts val="600"/>
              </a:spcAft>
              <a:defRPr sz="1500" b="0">
                <a:solidFill>
                  <a:srgbClr val="222222"/>
                </a:solidFill>
              </a:defRPr>
            </a:pPr>
            <a:r>
              <a:t>• Every T = 20 slots (10 ms) the controller sets the budgets; they are fixed for the interval</a:t>
            </a:r>
          </a:p>
          <a:p>
            <a:pPr>
              <a:spcAft>
                <a:spcPts val="600"/>
              </a:spcAft>
              <a:defRPr sz="1500" b="0">
                <a:solidFill>
                  <a:srgbClr val="222222"/>
                </a:solidFill>
              </a:defRPr>
            </a:pPr>
            <a:r>
              <a:t>• The controller sees the state 2 slots late; it never sees future arrivals (checked by a unit test)</a:t>
            </a:r>
          </a:p>
          <a:p>
            <a:pPr>
              <a:spcAft>
                <a:spcPts val="600"/>
              </a:spcAft>
              <a:defRPr sz="1500" b="1">
                <a:solidFill>
                  <a:srgbClr val="222222"/>
                </a:solidFill>
              </a:defRPr>
            </a:pPr>
            <a:r>
              <a:t>• Why decide in advance? A budget is a reservation held for 10 ms; the traffic in that window is not known yet</a:t>
            </a:r>
          </a:p>
        </p:txBody>
      </p:sp>
      <p:sp>
        <p:nvSpPr>
          <p:cNvPr id="7" name="Rounded Rectangle 6"/>
          <p:cNvSpPr/>
          <p:nvPr/>
        </p:nvSpPr>
        <p:spPr>
          <a:xfrm>
            <a:off x="7589520" y="1371600"/>
            <a:ext cx="1463040" cy="822960"/>
          </a:xfrm>
          <a:prstGeom prst="roundRect">
            <a:avLst/>
          </a:prstGeom>
          <a:solidFill>
            <a:srgbClr val="E3F2FD"/>
          </a:solidFill>
          <a:ln w="9525">
            <a:solidFill>
              <a:srgbClr val="B0B8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222222"/>
                </a:solidFill>
              </a:defRPr>
            </a:pPr>
            <a:r>
              <a:t>look at the state</a:t>
            </a:r>
          </a:p>
          <a:p>
            <a:pPr algn="ctr">
              <a:defRPr sz="1100" b="0">
                <a:solidFill>
                  <a:srgbClr val="222222"/>
                </a:solidFill>
              </a:defRPr>
            </a:pPr>
            <a:r>
              <a:t>(2 slots old)</a:t>
            </a:r>
          </a:p>
        </p:txBody>
      </p:sp>
      <p:cxnSp>
        <p:nvCxnSpPr>
          <p:cNvPr id="8" name="Connector 7"/>
          <p:cNvCxnSpPr/>
          <p:nvPr/>
        </p:nvCxnSpPr>
        <p:spPr>
          <a:xfrm>
            <a:off x="9052560" y="1783080"/>
            <a:ext cx="365760" cy="0"/>
          </a:xfrm>
          <a:prstGeom prst="line">
            <a:avLst/>
          </a:prstGeom>
          <a:ln w="1905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9418320" y="1371600"/>
            <a:ext cx="1463040" cy="822960"/>
          </a:xfrm>
          <a:prstGeom prst="roundRect">
            <a:avLst/>
          </a:prstGeom>
          <a:solidFill>
            <a:srgbClr val="FFF3E0"/>
          </a:solidFill>
          <a:ln w="9525">
            <a:solidFill>
              <a:srgbClr val="B0B8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222222"/>
                </a:solidFill>
              </a:defRPr>
            </a:pPr>
            <a:r>
              <a:t>set budgets r_i</a:t>
            </a:r>
          </a:p>
          <a:p>
            <a:pPr algn="ctr">
              <a:defRPr sz="1100" b="0">
                <a:solidFill>
                  <a:srgbClr val="222222"/>
                </a:solidFill>
              </a:defRPr>
            </a:pPr>
            <a:r>
              <a:t>Σ r_i ≤ link</a:t>
            </a:r>
          </a:p>
        </p:txBody>
      </p:sp>
      <p:cxnSp>
        <p:nvCxnSpPr>
          <p:cNvPr id="10" name="Connector 9"/>
          <p:cNvCxnSpPr/>
          <p:nvPr/>
        </p:nvCxnSpPr>
        <p:spPr>
          <a:xfrm>
            <a:off x="10149840" y="2194560"/>
            <a:ext cx="0" cy="457200"/>
          </a:xfrm>
          <a:prstGeom prst="line">
            <a:avLst/>
          </a:prstGeom>
          <a:ln w="1905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589520" y="2651760"/>
            <a:ext cx="3291840" cy="1005840"/>
          </a:xfrm>
          <a:prstGeom prst="roundRect">
            <a:avLst/>
          </a:prstGeom>
          <a:solidFill>
            <a:srgbClr val="F2F4F7"/>
          </a:solidFill>
          <a:ln w="9525">
            <a:solidFill>
              <a:srgbClr val="B0B8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222222"/>
                </a:solidFill>
              </a:defRPr>
            </a:pPr>
            <a:r>
              <a:t>hold for 20 slots (10 ms)</a:t>
            </a:r>
          </a:p>
          <a:p>
            <a:pPr algn="ctr">
              <a:defRPr sz="1100" b="0">
                <a:solidFill>
                  <a:srgbClr val="222222"/>
                </a:solidFill>
              </a:defRPr>
            </a:pPr>
            <a:r>
              <a:t>each queue is served up to r_i per slot</a:t>
            </a:r>
          </a:p>
          <a:p>
            <a:pPr algn="ctr">
              <a:defRPr sz="1100" b="0">
                <a:solidFill>
                  <a:srgbClr val="222222"/>
                </a:solidFill>
              </a:defRPr>
            </a:pPr>
            <a:r>
              <a:t>new arrivals are unknown</a:t>
            </a:r>
          </a:p>
        </p:txBody>
      </p:sp>
      <p:cxnSp>
        <p:nvCxnSpPr>
          <p:cNvPr id="12" name="Connector 11"/>
          <p:cNvCxnSpPr/>
          <p:nvPr/>
        </p:nvCxnSpPr>
        <p:spPr>
          <a:xfrm>
            <a:off x="9235440" y="3657600"/>
            <a:ext cx="0" cy="457200"/>
          </a:xfrm>
          <a:prstGeom prst="line">
            <a:avLst/>
          </a:prstGeom>
          <a:ln w="1905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589520" y="4114800"/>
            <a:ext cx="3291840" cy="822960"/>
          </a:xfrm>
          <a:prstGeom prst="roundRect">
            <a:avLst/>
          </a:prstGeom>
          <a:solidFill>
            <a:srgbClr val="FFEBEE"/>
          </a:solidFill>
          <a:ln w="9525">
            <a:solidFill>
              <a:srgbClr val="B0B8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222222"/>
                </a:solidFill>
              </a:defRPr>
            </a:pPr>
            <a:r>
              <a:t>bits older than the deadline</a:t>
            </a:r>
          </a:p>
          <a:p>
            <a:pPr algn="ctr">
              <a:defRPr sz="1100" b="0">
                <a:solidFill>
                  <a:srgbClr val="222222"/>
                </a:solidFill>
              </a:defRPr>
            </a:pPr>
            <a:r>
              <a:t>are dropped = violation</a:t>
            </a:r>
          </a:p>
        </p:txBody>
      </p:sp>
      <p:sp>
        <p:nvSpPr>
          <p:cNvPr id="14" name="TextBox 13"/>
          <p:cNvSpPr txBox="1"/>
          <p:nvPr/>
        </p:nvSpPr>
        <p:spPr>
          <a:xfrm>
            <a:off x="7589520" y="5120639"/>
            <a:ext cx="4114800" cy="1005840"/>
          </a:xfrm>
          <a:prstGeom prst="rect">
            <a:avLst/>
          </a:prstGeom>
          <a:noFill/>
        </p:spPr>
        <p:txBody>
          <a:bodyPr wrap="square">
            <a:spAutoFit/>
          </a:bodyPr>
          <a:lstStyle/>
          <a:p>
            <a:pPr algn="l">
              <a:defRPr sz="1000" b="0" i="1">
                <a:solidFill>
                  <a:srgbClr val="555555"/>
                </a:solidFill>
              </a:defRPr>
            </a:pPr>
            <a:r>
              <a:t>Sources: O-RAN WG4 CUS-plane spec (7-2x, BFP, timing windows); Larsen et al., IEEE COMST 2019 (bit rate depends on load, ~8 % Ethernet overhead); Pérez et al. 2018/2019 (packet-switched aggregation).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92640" cy="640080"/>
          </a:xfrm>
          <a:prstGeom prst="rect">
            <a:avLst/>
          </a:prstGeom>
          <a:noFill/>
        </p:spPr>
        <p:txBody>
          <a:bodyPr wrap="square">
            <a:spAutoFit/>
          </a:bodyPr>
          <a:lstStyle/>
          <a:p>
            <a:pPr>
              <a:defRPr sz="2400" b="1">
                <a:solidFill>
                  <a:srgbClr val="FFFFFF"/>
                </a:solidFill>
              </a:defRPr>
            </a:pPr>
            <a:r>
              <a:t>What others have done, and the gap</a:t>
            </a:r>
          </a:p>
        </p:txBody>
      </p:sp>
      <p:sp>
        <p:nvSpPr>
          <p:cNvPr id="4" name="TextBox 3"/>
          <p:cNvSpPr txBox="1"/>
          <p:nvPr/>
        </p:nvSpPr>
        <p:spPr>
          <a:xfrm>
            <a:off x="9966960" y="256032"/>
            <a:ext cx="2103120" cy="365760"/>
          </a:xfrm>
          <a:prstGeom prst="rect">
            <a:avLst/>
          </a:prstGeom>
          <a:noFill/>
        </p:spPr>
        <p:txBody>
          <a:bodyPr wrap="none">
            <a:spAutoFit/>
          </a:bodyPr>
          <a:lstStyle/>
          <a:p>
            <a:pPr algn="r">
              <a:defRPr sz="1100">
                <a:solidFill>
                  <a:srgbClr val="CFD8E3"/>
                </a:solidFill>
              </a:defRPr>
            </a:pPr>
            <a:r>
              <a:t>Part B: literature</a:t>
            </a:r>
          </a:p>
        </p:txBody>
      </p:sp>
      <p:sp>
        <p:nvSpPr>
          <p:cNvPr id="5" name="TextBox 4"/>
          <p:cNvSpPr txBox="1"/>
          <p:nvPr/>
        </p:nvSpPr>
        <p:spPr>
          <a:xfrm>
            <a:off x="365760" y="6446520"/>
            <a:ext cx="11430000" cy="320040"/>
          </a:xfrm>
          <a:prstGeom prst="rect">
            <a:avLst/>
          </a:prstGeom>
          <a:noFill/>
        </p:spPr>
        <p:txBody>
          <a:bodyPr wrap="none">
            <a:spAutoFit/>
          </a:bodyPr>
          <a:lstStyle/>
          <a:p>
            <a:pPr algn="r">
              <a:defRPr sz="900">
                <a:solidFill>
                  <a:srgbClr val="555555"/>
                </a:solidFill>
              </a:defRPr>
            </a:pPr>
            <a:r>
              <a:t>BTP mid-evaluation  |  Fronthaul load management  |  7</a:t>
            </a:r>
          </a:p>
        </p:txBody>
      </p:sp>
      <p:sp>
        <p:nvSpPr>
          <p:cNvPr id="6" name="TextBox 5"/>
          <p:cNvSpPr txBox="1"/>
          <p:nvPr/>
        </p:nvSpPr>
        <p:spPr>
          <a:xfrm>
            <a:off x="457200" y="1005840"/>
            <a:ext cx="11247120" cy="5303520"/>
          </a:xfrm>
          <a:prstGeom prst="rect">
            <a:avLst/>
          </a:prstGeom>
          <a:noFill/>
        </p:spPr>
        <p:txBody>
          <a:bodyPr wrap="square">
            <a:spAutoFit/>
          </a:bodyPr>
          <a:lstStyle/>
          <a:p>
            <a:pPr>
              <a:spcAft>
                <a:spcPts val="600"/>
              </a:spcAft>
              <a:defRPr sz="1400" b="1">
                <a:solidFill>
                  <a:srgbClr val="222222"/>
                </a:solidFill>
              </a:defRPr>
            </a:pPr>
            <a:r>
              <a:t>• A. The fronthaul itself (standards and surveys)</a:t>
            </a:r>
          </a:p>
          <a:p>
            <a:pPr lvl="1">
              <a:spcAft>
                <a:spcPts val="600"/>
              </a:spcAft>
              <a:defRPr sz="1200" b="0">
                <a:solidFill>
                  <a:srgbClr val="222222"/>
                </a:solidFill>
              </a:defRPr>
            </a:pPr>
            <a:r>
              <a:t>– O-RAN WG4 CUS-plane spec (7-2x, BFP, timing windows) • Larsen et al., IEEE COMST 2019: bit rate varies with load</a:t>
            </a:r>
          </a:p>
          <a:p>
            <a:pPr lvl="1">
              <a:spcAft>
                <a:spcPts val="600"/>
              </a:spcAft>
              <a:defRPr sz="1200" b="0">
                <a:solidFill>
                  <a:srgbClr val="222222"/>
                </a:solidFill>
              </a:defRPr>
            </a:pPr>
            <a:r>
              <a:t>– Pérez et al., JOCN 2018 / IEEE Access 2019 (packet aggregation) • Wang &amp; Zhou, IEEE Commun. Lett. 2017 (multiplexing gain)</a:t>
            </a:r>
          </a:p>
          <a:p>
            <a:pPr lvl="1">
              <a:spcAft>
                <a:spcPts val="600"/>
              </a:spcAft>
              <a:defRPr sz="1200" b="0">
                <a:solidFill>
                  <a:srgbClr val="222222"/>
                </a:solidFill>
              </a:defRPr>
            </a:pPr>
            <a:r>
              <a:t>– Lagén et al., IEEE Commun. Mag. 2022: several 7-2x cells share one link, compression is adjusted per slot; reactive, no forecast</a:t>
            </a:r>
          </a:p>
          <a:p>
            <a:pPr>
              <a:spcAft>
                <a:spcPts val="600"/>
              </a:spcAft>
              <a:defRPr sz="1400" b="1">
                <a:solidFill>
                  <a:srgbClr val="222222"/>
                </a:solidFill>
              </a:defRPr>
            </a:pPr>
            <a:r>
              <a:t>• B. Forecast first, then allocate capacity</a:t>
            </a:r>
          </a:p>
          <a:p>
            <a:pPr lvl="1">
              <a:spcAft>
                <a:spcPts val="600"/>
              </a:spcAft>
              <a:defRPr sz="1200" b="0">
                <a:solidFill>
                  <a:srgbClr val="222222"/>
                </a:solidFill>
              </a:defRPr>
            </a:pPr>
            <a:r>
              <a:t>– Bega et al., DeepCog (INFOCOM 2019 / JSAC 2020), AZTEC (INFOCOM 2020): deep-learning forecasts for network slices</a:t>
            </a:r>
          </a:p>
          <a:p>
            <a:pPr lvl="1">
              <a:spcAft>
                <a:spcPts val="600"/>
              </a:spcAft>
              <a:defRPr sz="1200" b="0">
                <a:solidFill>
                  <a:srgbClr val="222222"/>
                </a:solidFill>
              </a:defRPr>
            </a:pPr>
            <a:r>
              <a:t>– Predictive bandwidth allocation for PON fronthaul (Mikaeil et al. 2018; Zhang et al. 2019); Kavehmadavani et al., TWC 2023</a:t>
            </a:r>
          </a:p>
          <a:p>
            <a:pPr lvl="1">
              <a:spcAft>
                <a:spcPts val="600"/>
              </a:spcAft>
              <a:defRPr sz="1200" b="0">
                <a:solidFill>
                  <a:srgbClr val="222222"/>
                </a:solidFill>
              </a:defRPr>
            </a:pPr>
            <a:r>
              <a:t>– Common pattern: one predicted number + a fixed safety margin; no per-cell deadlines</a:t>
            </a:r>
          </a:p>
          <a:p>
            <a:pPr>
              <a:spcAft>
                <a:spcPts val="600"/>
              </a:spcAft>
              <a:defRPr sz="1400" b="1">
                <a:solidFill>
                  <a:srgbClr val="222222"/>
                </a:solidFill>
              </a:defRPr>
            </a:pPr>
            <a:r>
              <a:t>• C. Forecasts with uncertainty</a:t>
            </a:r>
          </a:p>
          <a:p>
            <a:pPr lvl="1">
              <a:spcAft>
                <a:spcPts val="600"/>
              </a:spcAft>
              <a:defRPr sz="1200" b="0">
                <a:solidFill>
                  <a:srgbClr val="222222"/>
                </a:solidFill>
              </a:defRPr>
            </a:pPr>
            <a:r>
              <a:t>– Cohen et al., IEEE WCL 2023 (conformal prediction for one URLLC stream) • Gibbs &amp; Candès, NeurIPS 2021 (adaptive conformal)</a:t>
            </a:r>
          </a:p>
          <a:p>
            <a:pPr lvl="1">
              <a:spcAft>
                <a:spcPts val="600"/>
              </a:spcAft>
              <a:defRPr sz="1200" b="0">
                <a:solidFill>
                  <a:srgbClr val="222222"/>
                </a:solidFill>
              </a:defRPr>
            </a:pPr>
            <a:r>
              <a:t>– Kasuluru et al. 2024 [preprint]: probabilistic PRB-load forecasts; the percentile is picked globally</a:t>
            </a:r>
          </a:p>
          <a:p>
            <a:pPr>
              <a:spcAft>
                <a:spcPts val="600"/>
              </a:spcAft>
              <a:defRPr sz="1400" b="1">
                <a:solidFill>
                  <a:srgbClr val="222222"/>
                </a:solidFill>
              </a:defRPr>
            </a:pPr>
            <a:r>
              <a:t>• Gap: nobody turns a forecast RANGE of deadline-sensitive demand into per-cell budgets under one shared link, and checks it against strong reactive and point-forecast controllers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92640" cy="640080"/>
          </a:xfrm>
          <a:prstGeom prst="rect">
            <a:avLst/>
          </a:prstGeom>
          <a:noFill/>
        </p:spPr>
        <p:txBody>
          <a:bodyPr wrap="square">
            <a:spAutoFit/>
          </a:bodyPr>
          <a:lstStyle/>
          <a:p>
            <a:pPr>
              <a:defRPr sz="2400" b="1">
                <a:solidFill>
                  <a:srgbClr val="FFFFFF"/>
                </a:solidFill>
              </a:defRPr>
            </a:pPr>
            <a:r>
              <a:t>What we measure, and what 'demand' means here</a:t>
            </a:r>
          </a:p>
        </p:txBody>
      </p:sp>
      <p:sp>
        <p:nvSpPr>
          <p:cNvPr id="4" name="TextBox 3"/>
          <p:cNvSpPr txBox="1"/>
          <p:nvPr/>
        </p:nvSpPr>
        <p:spPr>
          <a:xfrm>
            <a:off x="9966960" y="256032"/>
            <a:ext cx="2103120" cy="365760"/>
          </a:xfrm>
          <a:prstGeom prst="rect">
            <a:avLst/>
          </a:prstGeom>
          <a:noFill/>
        </p:spPr>
        <p:txBody>
          <a:bodyPr wrap="none">
            <a:spAutoFit/>
          </a:bodyPr>
          <a:lstStyle/>
          <a:p>
            <a:pPr algn="r">
              <a:defRPr sz="1100">
                <a:solidFill>
                  <a:srgbClr val="CFD8E3"/>
                </a:solidFill>
              </a:defRPr>
            </a:pPr>
            <a:r>
              <a:t>Part B: formulation</a:t>
            </a:r>
          </a:p>
        </p:txBody>
      </p:sp>
      <p:sp>
        <p:nvSpPr>
          <p:cNvPr id="5" name="TextBox 4"/>
          <p:cNvSpPr txBox="1"/>
          <p:nvPr/>
        </p:nvSpPr>
        <p:spPr>
          <a:xfrm>
            <a:off x="365760" y="6446520"/>
            <a:ext cx="11430000" cy="320040"/>
          </a:xfrm>
          <a:prstGeom prst="rect">
            <a:avLst/>
          </a:prstGeom>
          <a:noFill/>
        </p:spPr>
        <p:txBody>
          <a:bodyPr wrap="none">
            <a:spAutoFit/>
          </a:bodyPr>
          <a:lstStyle/>
          <a:p>
            <a:pPr algn="r">
              <a:defRPr sz="900">
                <a:solidFill>
                  <a:srgbClr val="555555"/>
                </a:solidFill>
              </a:defRPr>
            </a:pPr>
            <a:r>
              <a:t>BTP mid-evaluation  |  Fronthaul load management  |  8</a:t>
            </a:r>
          </a:p>
        </p:txBody>
      </p:sp>
      <p:sp>
        <p:nvSpPr>
          <p:cNvPr id="6" name="TextBox 5"/>
          <p:cNvSpPr txBox="1"/>
          <p:nvPr/>
        </p:nvSpPr>
        <p:spPr>
          <a:xfrm>
            <a:off x="457200" y="1005840"/>
            <a:ext cx="11247120" cy="5303520"/>
          </a:xfrm>
          <a:prstGeom prst="rect">
            <a:avLst/>
          </a:prstGeom>
          <a:noFill/>
        </p:spPr>
        <p:txBody>
          <a:bodyPr wrap="square">
            <a:spAutoFit/>
          </a:bodyPr>
          <a:lstStyle/>
          <a:p>
            <a:pPr>
              <a:spcAft>
                <a:spcPts val="600"/>
              </a:spcAft>
              <a:defRPr sz="1500" b="0">
                <a:solidFill>
                  <a:srgbClr val="222222"/>
                </a:solidFill>
              </a:defRPr>
            </a:pPr>
            <a:r>
              <a:t>• Decision every 10 ms: budgets r_i ≥ 0, Σ r_i ≤ link capacity, r_i ≤ cell peak</a:t>
            </a:r>
          </a:p>
          <a:p>
            <a:pPr>
              <a:spcAft>
                <a:spcPts val="600"/>
              </a:spcAft>
              <a:defRPr sz="1500" b="1">
                <a:solidFill>
                  <a:srgbClr val="222222"/>
                </a:solidFill>
              </a:defRPr>
            </a:pPr>
            <a:r>
              <a:t>• Main score (fixed before tuning): priority-weighted deadline-violation ratio</a:t>
            </a:r>
          </a:p>
          <a:p>
            <a:pPr lvl="1">
              <a:spcAft>
                <a:spcPts val="600"/>
              </a:spcAft>
              <a:defRPr sz="1300" b="0">
                <a:solidFill>
                  <a:srgbClr val="222222"/>
                </a:solidFill>
              </a:defRPr>
            </a:pPr>
            <a:r>
              <a:t>– = (3 × dropped low-latency bits + dropped eMBB bits) / (3 × arrived low-latency bits + arrived eMBB bits)</a:t>
            </a:r>
          </a:p>
          <a:p>
            <a:pPr lvl="1">
              <a:spcAft>
                <a:spcPts val="600"/>
              </a:spcAft>
              <a:defRPr sz="1300" b="0">
                <a:solidFill>
                  <a:srgbClr val="222222"/>
                </a:solidFill>
              </a:defRPr>
            </a:pPr>
            <a:r>
              <a:t>– Also reported: violations per class, link utilisation, queueing delay, fairness (Jain index), decision time</a:t>
            </a:r>
          </a:p>
          <a:p>
            <a:pPr>
              <a:spcAft>
                <a:spcPts val="600"/>
              </a:spcAft>
              <a:defRPr sz="1500" b="1">
                <a:solidFill>
                  <a:srgbClr val="222222"/>
                </a:solidFill>
              </a:defRPr>
            </a:pPr>
            <a:r>
              <a:t>• 'Demand' of a cell = deadline-feasible rate r*: the smallest constant rate that serves the next arrivals with no bit waiting longer than its deadline D</a:t>
            </a:r>
          </a:p>
          <a:p>
            <a:pPr lvl="1">
              <a:spcAft>
                <a:spcPts val="600"/>
              </a:spcAft>
              <a:defRPr sz="1300" b="0">
                <a:solidFill>
                  <a:srgbClr val="222222"/>
                </a:solidFill>
              </a:defRPr>
            </a:pPr>
            <a:r>
              <a:t>– r* = max over time windows of (bits in window) / (window length + D), a standard network-calculus bound</a:t>
            </a:r>
          </a:p>
          <a:p>
            <a:pPr lvl="1">
              <a:spcAft>
                <a:spcPts val="600"/>
              </a:spcAft>
              <a:defRPr sz="1300" b="0">
                <a:solidFill>
                  <a:srgbClr val="222222"/>
                </a:solidFill>
              </a:defRPr>
            </a:pPr>
            <a:r>
              <a:t>– For eMBB (D = 10 ms) r* ≈ average rate. For low-latency cells (D = 2 ms) r* ≈ peak 2-ms burst rate → hard to predict</a:t>
            </a:r>
          </a:p>
          <a:p>
            <a:pPr lvl="1">
              <a:spcAft>
                <a:spcPts val="600"/>
              </a:spcAft>
              <a:defRPr sz="1300" b="0">
                <a:solidFill>
                  <a:srgbClr val="222222"/>
                </a:solidFill>
              </a:defRPr>
            </a:pPr>
            <a:r>
              <a:t>– Budget needed = rate to clear the current backlog in time + r* of the arrivals we have not seen yet</a:t>
            </a:r>
          </a:p>
          <a:p>
            <a:pPr>
              <a:spcAft>
                <a:spcPts val="600"/>
              </a:spcAft>
              <a:defRPr sz="1500" b="0">
                <a:solidFill>
                  <a:srgbClr val="222222"/>
                </a:solidFill>
              </a:defRPr>
            </a:pPr>
            <a:r>
              <a:t>• Why a single predicted number is not enough: r* is skewed (usually low, sometimes very high). The median under-reserves; a fixed margin wastes capacity on every cell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92640" cy="640080"/>
          </a:xfrm>
          <a:prstGeom prst="rect">
            <a:avLst/>
          </a:prstGeom>
          <a:noFill/>
        </p:spPr>
        <p:txBody>
          <a:bodyPr wrap="square">
            <a:spAutoFit/>
          </a:bodyPr>
          <a:lstStyle/>
          <a:p>
            <a:pPr>
              <a:defRPr sz="2400" b="1">
                <a:solidFill>
                  <a:srgbClr val="FFFFFF"/>
                </a:solidFill>
              </a:defRPr>
            </a:pPr>
            <a:r>
              <a:t>Reference controllers (all implemented and tuned on validation)</a:t>
            </a:r>
          </a:p>
        </p:txBody>
      </p:sp>
      <p:sp>
        <p:nvSpPr>
          <p:cNvPr id="4" name="TextBox 3"/>
          <p:cNvSpPr txBox="1"/>
          <p:nvPr/>
        </p:nvSpPr>
        <p:spPr>
          <a:xfrm>
            <a:off x="9966960" y="256032"/>
            <a:ext cx="2103120" cy="365760"/>
          </a:xfrm>
          <a:prstGeom prst="rect">
            <a:avLst/>
          </a:prstGeom>
          <a:noFill/>
        </p:spPr>
        <p:txBody>
          <a:bodyPr wrap="none">
            <a:spAutoFit/>
          </a:bodyPr>
          <a:lstStyle/>
          <a:p>
            <a:pPr algn="r">
              <a:defRPr sz="1100">
                <a:solidFill>
                  <a:srgbClr val="CFD8E3"/>
                </a:solidFill>
              </a:defRPr>
            </a:pPr>
            <a:r>
              <a:t>Part B: baselines</a:t>
            </a:r>
          </a:p>
        </p:txBody>
      </p:sp>
      <p:sp>
        <p:nvSpPr>
          <p:cNvPr id="5" name="TextBox 4"/>
          <p:cNvSpPr txBox="1"/>
          <p:nvPr/>
        </p:nvSpPr>
        <p:spPr>
          <a:xfrm>
            <a:off x="365760" y="6446520"/>
            <a:ext cx="11430000" cy="320040"/>
          </a:xfrm>
          <a:prstGeom prst="rect">
            <a:avLst/>
          </a:prstGeom>
          <a:noFill/>
        </p:spPr>
        <p:txBody>
          <a:bodyPr wrap="none">
            <a:spAutoFit/>
          </a:bodyPr>
          <a:lstStyle/>
          <a:p>
            <a:pPr algn="r">
              <a:defRPr sz="900">
                <a:solidFill>
                  <a:srgbClr val="555555"/>
                </a:solidFill>
              </a:defRPr>
            </a:pPr>
            <a:r>
              <a:t>BTP mid-evaluation  |  Fronthaul load management  |  9</a:t>
            </a:r>
          </a:p>
        </p:txBody>
      </p:sp>
      <p:graphicFrame>
        <p:nvGraphicFramePr>
          <p:cNvPr id="6" name="Table 5"/>
          <p:cNvGraphicFramePr>
            <a:graphicFrameLocks noGrp="1"/>
          </p:cNvGraphicFramePr>
          <p:nvPr/>
        </p:nvGraphicFramePr>
        <p:xfrm>
          <a:off x="457200" y="1051560"/>
          <a:ext cx="11247120" cy="2926080"/>
        </p:xfrm>
        <a:graphic>
          <a:graphicData uri="http://schemas.openxmlformats.org/drawingml/2006/table">
            <a:tbl>
              <a:tblPr firstRow="1" bandRow="1">
                <a:tableStyleId>{5C22544A-7EE6-4342-B048-85BDC9FD1C3A}</a:tableStyleId>
              </a:tblPr>
              <a:tblGrid>
                <a:gridCol w="2377440"/>
                <a:gridCol w="5394960"/>
                <a:gridCol w="1828800"/>
                <a:gridCol w="1645920"/>
              </a:tblGrid>
              <a:tr h="365760">
                <a:tc>
                  <a:txBody>
                    <a:bodyPr/>
                    <a:lstStyle/>
                    <a:p>
                      <a:pPr>
                        <a:defRPr sz="1100" b="1">
                          <a:solidFill>
                            <a:srgbClr val="FFFFFF"/>
                          </a:solidFill>
                        </a:defRPr>
                      </a:pPr>
                      <a:r>
                        <a:t>Controller</a:t>
                      </a:r>
                    </a:p>
                  </a:txBody>
                  <a:tcPr>
                    <a:solidFill>
                      <a:srgbClr val="1F3A5F"/>
                    </a:solidFill>
                  </a:tcPr>
                </a:tc>
                <a:tc>
                  <a:txBody>
                    <a:bodyPr/>
                    <a:lstStyle/>
                    <a:p>
                      <a:pPr>
                        <a:defRPr sz="1100" b="1">
                          <a:solidFill>
                            <a:srgbClr val="FFFFFF"/>
                          </a:solidFill>
                        </a:defRPr>
                      </a:pPr>
                      <a:r>
                        <a:t>How it sets budgets</a:t>
                      </a:r>
                    </a:p>
                  </a:txBody>
                  <a:tcPr>
                    <a:solidFill>
                      <a:srgbClr val="1F3A5F"/>
                    </a:solidFill>
                  </a:tcPr>
                </a:tc>
                <a:tc>
                  <a:txBody>
                    <a:bodyPr/>
                    <a:lstStyle/>
                    <a:p>
                      <a:pPr>
                        <a:defRPr sz="1100" b="1">
                          <a:solidFill>
                            <a:srgbClr val="FFFFFF"/>
                          </a:solidFill>
                        </a:defRPr>
                      </a:pPr>
                      <a:r>
                        <a:t>What it uses</a:t>
                      </a:r>
                    </a:p>
                  </a:txBody>
                  <a:tcPr>
                    <a:solidFill>
                      <a:srgbClr val="1F3A5F"/>
                    </a:solidFill>
                  </a:tcPr>
                </a:tc>
                <a:tc>
                  <a:txBody>
                    <a:bodyPr/>
                    <a:lstStyle/>
                    <a:p>
                      <a:pPr>
                        <a:defRPr sz="1100" b="1">
                          <a:solidFill>
                            <a:srgbClr val="FFFFFF"/>
                          </a:solidFill>
                        </a:defRPr>
                      </a:pPr>
                      <a:r>
                        <a:t>Tuned</a:t>
                      </a:r>
                    </a:p>
                  </a:txBody>
                  <a:tcPr>
                    <a:solidFill>
                      <a:srgbClr val="1F3A5F"/>
                    </a:solidFill>
                  </a:tcPr>
                </a:tc>
              </a:tr>
              <a:tr h="365760">
                <a:tc>
                  <a:txBody>
                    <a:bodyPr/>
                    <a:lstStyle/>
                    <a:p>
                      <a:pPr>
                        <a:defRPr sz="1100"/>
                      </a:pPr>
                      <a:r>
                        <a:t>Static equal share</a:t>
                      </a:r>
                    </a:p>
                  </a:txBody>
                  <a:tcPr>
                    <a:solidFill>
                      <a:srgbClr val="F2F4F7"/>
                    </a:solidFill>
                  </a:tcPr>
                </a:tc>
                <a:tc>
                  <a:txBody>
                    <a:bodyPr/>
                    <a:lstStyle/>
                    <a:p>
                      <a:pPr>
                        <a:defRPr sz="1100"/>
                      </a:pPr>
                      <a:r>
                        <a:t>link ÷ 8 per cell (spare capacity redistributed)</a:t>
                      </a:r>
                    </a:p>
                  </a:txBody>
                  <a:tcPr>
                    <a:solidFill>
                      <a:srgbClr val="F2F4F7"/>
                    </a:solidFill>
                  </a:tcPr>
                </a:tc>
                <a:tc>
                  <a:txBody>
                    <a:bodyPr/>
                    <a:lstStyle/>
                    <a:p>
                      <a:pPr>
                        <a:defRPr sz="1100"/>
                      </a:pPr>
                      <a:r>
                        <a:t>nothing</a:t>
                      </a:r>
                    </a:p>
                  </a:txBody>
                  <a:tcPr>
                    <a:solidFill>
                      <a:srgbClr val="F2F4F7"/>
                    </a:solidFill>
                  </a:tcPr>
                </a:tc>
                <a:tc>
                  <a:txBody>
                    <a:bodyPr/>
                    <a:lstStyle/>
                    <a:p>
                      <a:pPr>
                        <a:defRPr sz="1100"/>
                      </a:pPr>
                      <a:r>
                        <a:t>-</a:t>
                      </a:r>
                    </a:p>
                  </a:txBody>
                  <a:tcPr>
                    <a:solidFill>
                      <a:srgbClr val="F2F4F7"/>
                    </a:solidFill>
                  </a:tcPr>
                </a:tc>
              </a:tr>
              <a:tr h="365760">
                <a:tc>
                  <a:txBody>
                    <a:bodyPr/>
                    <a:lstStyle/>
                    <a:p>
                      <a:pPr>
                        <a:defRPr sz="1100"/>
                      </a:pPr>
                      <a:r>
                        <a:t>Reactive proportional</a:t>
                      </a:r>
                    </a:p>
                  </a:txBody>
                  <a:tcPr>
                    <a:solidFill>
                      <a:srgbClr val="FFFFFF"/>
                    </a:solidFill>
                  </a:tcPr>
                </a:tc>
                <a:tc>
                  <a:txBody>
                    <a:bodyPr/>
                    <a:lstStyle/>
                    <a:p>
                      <a:pPr>
                        <a:defRPr sz="1100"/>
                      </a:pPr>
                      <a:r>
                        <a:t>backlog / T + running average of demand; proportional split; spare redistributed</a:t>
                      </a:r>
                    </a:p>
                  </a:txBody>
                  <a:tcPr>
                    <a:solidFill>
                      <a:srgbClr val="FFFFFF"/>
                    </a:solidFill>
                  </a:tcPr>
                </a:tc>
                <a:tc>
                  <a:txBody>
                    <a:bodyPr/>
                    <a:lstStyle/>
                    <a:p>
                      <a:pPr>
                        <a:defRPr sz="1100"/>
                      </a:pPr>
                      <a:r>
                        <a:t>history</a:t>
                      </a:r>
                    </a:p>
                  </a:txBody>
                  <a:tcPr>
                    <a:solidFill>
                      <a:srgbClr val="FFFFFF"/>
                    </a:solidFill>
                  </a:tcPr>
                </a:tc>
                <a:tc>
                  <a:txBody>
                    <a:bodyPr/>
                    <a:lstStyle/>
                    <a:p>
                      <a:pPr>
                        <a:defRPr sz="1100"/>
                      </a:pPr>
                      <a:r>
                        <a:t>margin, window</a:t>
                      </a:r>
                    </a:p>
                  </a:txBody>
                  <a:tcPr>
                    <a:solidFill>
                      <a:srgbClr val="FFFFFF"/>
                    </a:solidFill>
                  </a:tcPr>
                </a:tc>
              </a:tr>
              <a:tr h="365760">
                <a:tc>
                  <a:txBody>
                    <a:bodyPr/>
                    <a:lstStyle/>
                    <a:p>
                      <a:pPr>
                        <a:defRPr sz="1100"/>
                      </a:pPr>
                      <a:r>
                        <a:t>MaxWeight (queue-weighted)</a:t>
                      </a:r>
                    </a:p>
                  </a:txBody>
                  <a:tcPr>
                    <a:solidFill>
                      <a:srgbClr val="F2F4F7"/>
                    </a:solidFill>
                  </a:tcPr>
                </a:tc>
                <a:tc>
                  <a:txBody>
                    <a:bodyPr/>
                    <a:lstStyle/>
                    <a:p>
                      <a:pPr>
                        <a:defRPr sz="1100"/>
                      </a:pPr>
                      <a:r>
                        <a:t>greedy fill in order of priority × queue length (optional head-of-line-age urgency)</a:t>
                      </a:r>
                    </a:p>
                  </a:txBody>
                  <a:tcPr>
                    <a:solidFill>
                      <a:srgbClr val="F2F4F7"/>
                    </a:solidFill>
                  </a:tcPr>
                </a:tc>
                <a:tc>
                  <a:txBody>
                    <a:bodyPr/>
                    <a:lstStyle/>
                    <a:p>
                      <a:pPr>
                        <a:defRPr sz="1100"/>
                      </a:pPr>
                      <a:r>
                        <a:t>queues, priorities</a:t>
                      </a:r>
                    </a:p>
                  </a:txBody>
                  <a:tcPr>
                    <a:solidFill>
                      <a:srgbClr val="F2F4F7"/>
                    </a:solidFill>
                  </a:tcPr>
                </a:tc>
                <a:tc>
                  <a:txBody>
                    <a:bodyPr/>
                    <a:lstStyle/>
                    <a:p>
                      <a:pPr>
                        <a:defRPr sz="1100"/>
                      </a:pPr>
                      <a:r>
                        <a:t>margin, HOL weight</a:t>
                      </a:r>
                    </a:p>
                  </a:txBody>
                  <a:tcPr>
                    <a:solidFill>
                      <a:srgbClr val="F2F4F7"/>
                    </a:solidFill>
                  </a:tcPr>
                </a:tc>
              </a:tr>
              <a:tr h="365760">
                <a:tc>
                  <a:txBody>
                    <a:bodyPr/>
                    <a:lstStyle/>
                    <a:p>
                      <a:pPr>
                        <a:defRPr sz="1100"/>
                      </a:pPr>
                      <a:r>
                        <a:t>Deadline-aware reactive (strong)</a:t>
                      </a:r>
                    </a:p>
                  </a:txBody>
                  <a:tcPr>
                    <a:solidFill>
                      <a:srgbClr val="FFFFFF"/>
                    </a:solidFill>
                  </a:tcPr>
                </a:tc>
                <a:tc>
                  <a:txBody>
                    <a:bodyPr/>
                    <a:lstStyle/>
                    <a:p>
                      <a:pPr>
                        <a:defRPr sz="1100"/>
                      </a:pPr>
                      <a:r>
                        <a:t>backlog-clearing rate + r* of the last interval; priority weights; water-fill</a:t>
                      </a:r>
                    </a:p>
                  </a:txBody>
                  <a:tcPr>
                    <a:solidFill>
                      <a:srgbClr val="FFFFFF"/>
                    </a:solidFill>
                  </a:tcPr>
                </a:tc>
                <a:tc>
                  <a:txBody>
                    <a:bodyPr/>
                    <a:lstStyle/>
                    <a:p>
                      <a:pPr>
                        <a:defRPr sz="1100"/>
                      </a:pPr>
                      <a:r>
                        <a:t>history, deadlines, priorities</a:t>
                      </a:r>
                    </a:p>
                  </a:txBody>
                  <a:tcPr>
                    <a:solidFill>
                      <a:srgbClr val="FFFFFF"/>
                    </a:solidFill>
                  </a:tcPr>
                </a:tc>
                <a:tc>
                  <a:txBody>
                    <a:bodyPr/>
                    <a:lstStyle/>
                    <a:p>
                      <a:pPr>
                        <a:defRPr sz="1100"/>
                      </a:pPr>
                      <a:r>
                        <a:t>margin, #intervals</a:t>
                      </a:r>
                    </a:p>
                  </a:txBody>
                  <a:tcPr>
                    <a:solidFill>
                      <a:srgbClr val="FFFFFF"/>
                    </a:solidFill>
                  </a:tcPr>
                </a:tc>
              </a:tr>
              <a:tr h="365760">
                <a:tc>
                  <a:txBody>
                    <a:bodyPr/>
                    <a:lstStyle/>
                    <a:p>
                      <a:pPr>
                        <a:defRPr sz="1100"/>
                      </a:pPr>
                      <a:r>
                        <a:t>Point forecast + water-fill (ablation)</a:t>
                      </a:r>
                    </a:p>
                  </a:txBody>
                  <a:tcPr>
                    <a:solidFill>
                      <a:srgbClr val="F2F4F7"/>
                    </a:solidFill>
                  </a:tcPr>
                </a:tc>
                <a:tc>
                  <a:txBody>
                    <a:bodyPr/>
                    <a:lstStyle/>
                    <a:p>
                      <a:pPr>
                        <a:defRPr sz="1100"/>
                      </a:pPr>
                      <a:r>
                        <a:t>same as above, but r* comes from the forecast MEDIAN</a:t>
                      </a:r>
                    </a:p>
                  </a:txBody>
                  <a:tcPr>
                    <a:solidFill>
                      <a:srgbClr val="F2F4F7"/>
                    </a:solidFill>
                  </a:tcPr>
                </a:tc>
                <a:tc>
                  <a:txBody>
                    <a:bodyPr/>
                    <a:lstStyle/>
                    <a:p>
                      <a:pPr>
                        <a:defRPr sz="1100"/>
                      </a:pPr>
                      <a:r>
                        <a:t>+ trained model</a:t>
                      </a:r>
                    </a:p>
                  </a:txBody>
                  <a:tcPr>
                    <a:solidFill>
                      <a:srgbClr val="F2F4F7"/>
                    </a:solidFill>
                  </a:tcPr>
                </a:tc>
                <a:tc>
                  <a:txBody>
                    <a:bodyPr/>
                    <a:lstStyle/>
                    <a:p>
                      <a:pPr>
                        <a:defRPr sz="1100"/>
                      </a:pPr>
                      <a:r>
                        <a:t>margin</a:t>
                      </a:r>
                    </a:p>
                  </a:txBody>
                  <a:tcPr>
                    <a:solidFill>
                      <a:srgbClr val="F2F4F7"/>
                    </a:solidFill>
                  </a:tcPr>
                </a:tc>
              </a:tr>
              <a:tr h="365760">
                <a:tc>
                  <a:txBody>
                    <a:bodyPr/>
                    <a:lstStyle/>
                    <a:p>
                      <a:pPr>
                        <a:defRPr sz="1100"/>
                      </a:pPr>
                      <a:r>
                        <a:t>Fixed global quantile + water-fill</a:t>
                      </a:r>
                    </a:p>
                  </a:txBody>
                  <a:tcPr>
                    <a:solidFill>
                      <a:srgbClr val="FFFFFF"/>
                    </a:solidFill>
                  </a:tcPr>
                </a:tc>
                <a:tc>
                  <a:txBody>
                    <a:bodyPr/>
                    <a:lstStyle/>
                    <a:p>
                      <a:pPr>
                        <a:defRPr sz="1100"/>
                      </a:pPr>
                      <a:r>
                        <a:t>same as above, but r* = one tuned forecast percentile, identical for every cell</a:t>
                      </a:r>
                    </a:p>
                  </a:txBody>
                  <a:tcPr>
                    <a:solidFill>
                      <a:srgbClr val="FFFFFF"/>
                    </a:solidFill>
                  </a:tcPr>
                </a:tc>
                <a:tc>
                  <a:txBody>
                    <a:bodyPr/>
                    <a:lstStyle/>
                    <a:p>
                      <a:pPr>
                        <a:defRPr sz="1100"/>
                      </a:pPr>
                      <a:r>
                        <a:t>+ trained model</a:t>
                      </a:r>
                    </a:p>
                  </a:txBody>
                  <a:tcPr>
                    <a:solidFill>
                      <a:srgbClr val="FFFFFF"/>
                    </a:solidFill>
                  </a:tcPr>
                </a:tc>
                <a:tc>
                  <a:txBody>
                    <a:bodyPr/>
                    <a:lstStyle/>
                    <a:p>
                      <a:pPr>
                        <a:defRPr sz="1100"/>
                      </a:pPr>
                      <a:r>
                        <a:t>level</a:t>
                      </a:r>
                    </a:p>
                  </a:txBody>
                  <a:tcPr>
                    <a:solidFill>
                      <a:srgbClr val="FFFFFF"/>
                    </a:solidFill>
                  </a:tcPr>
                </a:tc>
              </a:tr>
              <a:tr h="365760">
                <a:tc>
                  <a:txBody>
                    <a:bodyPr/>
                    <a:lstStyle/>
                    <a:p>
                      <a:pPr>
                        <a:defRPr sz="1100"/>
                      </a:pPr>
                      <a:r>
                        <a:t>Oracle water-fill (reference)</a:t>
                      </a:r>
                    </a:p>
                  </a:txBody>
                  <a:tcPr>
                    <a:solidFill>
                      <a:srgbClr val="F2F4F7"/>
                    </a:solidFill>
                  </a:tcPr>
                </a:tc>
                <a:tc>
                  <a:txBody>
                    <a:bodyPr/>
                    <a:lstStyle/>
                    <a:p>
                      <a:pPr>
                        <a:defRPr sz="1100"/>
                      </a:pPr>
                      <a:r>
                        <a:t>true r* of the next interval, same water-fill. Perfect point forecast; not a bound on other rules</a:t>
                      </a:r>
                    </a:p>
                  </a:txBody>
                  <a:tcPr>
                    <a:solidFill>
                      <a:srgbClr val="F2F4F7"/>
                    </a:solidFill>
                  </a:tcPr>
                </a:tc>
                <a:tc>
                  <a:txBody>
                    <a:bodyPr/>
                    <a:lstStyle/>
                    <a:p>
                      <a:pPr>
                        <a:defRPr sz="1100"/>
                      </a:pPr>
                      <a:r>
                        <a:t>future arrivals</a:t>
                      </a:r>
                    </a:p>
                  </a:txBody>
                  <a:tcPr>
                    <a:solidFill>
                      <a:srgbClr val="F2F4F7"/>
                    </a:solidFill>
                  </a:tcPr>
                </a:tc>
                <a:tc>
                  <a:txBody>
                    <a:bodyPr/>
                    <a:lstStyle/>
                    <a:p>
                      <a:pPr>
                        <a:defRPr sz="1100"/>
                      </a:pPr>
                      <a:r>
                        <a:t>-</a:t>
                      </a:r>
                    </a:p>
                  </a:txBody>
                  <a:tcPr>
                    <a:solidFill>
                      <a:srgbClr val="F2F4F7"/>
                    </a:solidFill>
                  </a:tcPr>
                </a:tc>
              </a:tr>
            </a:tbl>
          </a:graphicData>
        </a:graphic>
      </p:graphicFrame>
      <p:sp>
        <p:nvSpPr>
          <p:cNvPr id="7" name="TextBox 6"/>
          <p:cNvSpPr txBox="1"/>
          <p:nvPr/>
        </p:nvSpPr>
        <p:spPr>
          <a:xfrm>
            <a:off x="457200" y="4617720"/>
            <a:ext cx="11247120" cy="1828800"/>
          </a:xfrm>
          <a:prstGeom prst="rect">
            <a:avLst/>
          </a:prstGeom>
          <a:noFill/>
        </p:spPr>
        <p:txBody>
          <a:bodyPr wrap="square">
            <a:spAutoFit/>
          </a:bodyPr>
          <a:lstStyle/>
          <a:p>
            <a:pPr>
              <a:spcAft>
                <a:spcPts val="600"/>
              </a:spcAft>
              <a:defRPr sz="1300" b="1">
                <a:solidFill>
                  <a:srgbClr val="222222"/>
                </a:solidFill>
              </a:defRPr>
            </a:pPr>
            <a:r>
              <a:t>• Tuning on validation seeds 2000-2003 (scenarios moderate/high); test seeds were never used:</a:t>
            </a:r>
          </a:p>
          <a:p>
            <a:pPr lvl="1">
              <a:spcAft>
                <a:spcPts val="600"/>
              </a:spcAft>
              <a:defRPr sz="1100" b="0">
                <a:solidFill>
                  <a:srgbClr val="222222"/>
                </a:solidFill>
              </a:defRPr>
            </a:pPr>
            <a:r>
              <a:t>– reactive_prop → {'margin': 0.0, 'ewma_window': 20}  |  queue_aware → {'margin': 0.0, 'num_horizons': 1}  |  point_forecast → {'margin': 0.0}  |  proposed_cal → {'gamma': 0.005}</a:t>
            </a:r>
          </a:p>
          <a:p>
            <a:pPr lvl="1">
              <a:spcAft>
                <a:spcPts val="600"/>
              </a:spcAft>
              <a:defRPr sz="1100" b="0">
                <a:solidFill>
                  <a:srgbClr val="222222"/>
                </a:solidFill>
              </a:defRPr>
            </a:pPr>
            <a:r>
              <a:t>– Finding: every safety margin above 0 was worse. Inflating a single number hurts when the shortage is split proportionally: the cells that over-claim get more</a:t>
            </a:r>
          </a:p>
          <a:p>
            <a:pPr>
              <a:spcAft>
                <a:spcPts val="600"/>
              </a:spcAft>
              <a:defRPr sz="1300" b="0">
                <a:solidFill>
                  <a:srgbClr val="222222"/>
                </a:solidFill>
              </a:defRPr>
            </a:pPr>
            <a:r>
              <a:t>• Same traffic traces, same delayed observations, spare capacity always redistributed, for every controller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92640" cy="640080"/>
          </a:xfrm>
          <a:prstGeom prst="rect">
            <a:avLst/>
          </a:prstGeom>
          <a:noFill/>
        </p:spPr>
        <p:txBody>
          <a:bodyPr wrap="square">
            <a:spAutoFit/>
          </a:bodyPr>
          <a:lstStyle/>
          <a:p>
            <a:pPr>
              <a:defRPr sz="2400" b="1">
                <a:solidFill>
                  <a:srgbClr val="FFFFFF"/>
                </a:solidFill>
              </a:defRPr>
            </a:pPr>
            <a:r>
              <a:t>Proposed method: forecast a range, cut every cell at equal risk</a:t>
            </a:r>
          </a:p>
        </p:txBody>
      </p:sp>
      <p:sp>
        <p:nvSpPr>
          <p:cNvPr id="4" name="TextBox 3"/>
          <p:cNvSpPr txBox="1"/>
          <p:nvPr/>
        </p:nvSpPr>
        <p:spPr>
          <a:xfrm>
            <a:off x="9966960" y="256032"/>
            <a:ext cx="2103120" cy="365760"/>
          </a:xfrm>
          <a:prstGeom prst="rect">
            <a:avLst/>
          </a:prstGeom>
          <a:noFill/>
        </p:spPr>
        <p:txBody>
          <a:bodyPr wrap="none">
            <a:spAutoFit/>
          </a:bodyPr>
          <a:lstStyle/>
          <a:p>
            <a:pPr algn="r">
              <a:defRPr sz="1100">
                <a:solidFill>
                  <a:srgbClr val="CFD8E3"/>
                </a:solidFill>
              </a:defRPr>
            </a:pPr>
            <a:r>
              <a:t>Part B: proposed</a:t>
            </a:r>
          </a:p>
        </p:txBody>
      </p:sp>
      <p:sp>
        <p:nvSpPr>
          <p:cNvPr id="5" name="TextBox 4"/>
          <p:cNvSpPr txBox="1"/>
          <p:nvPr/>
        </p:nvSpPr>
        <p:spPr>
          <a:xfrm>
            <a:off x="365760" y="6446520"/>
            <a:ext cx="11430000" cy="320040"/>
          </a:xfrm>
          <a:prstGeom prst="rect">
            <a:avLst/>
          </a:prstGeom>
          <a:noFill/>
        </p:spPr>
        <p:txBody>
          <a:bodyPr wrap="none">
            <a:spAutoFit/>
          </a:bodyPr>
          <a:lstStyle/>
          <a:p>
            <a:pPr algn="r">
              <a:defRPr sz="900">
                <a:solidFill>
                  <a:srgbClr val="555555"/>
                </a:solidFill>
              </a:defRPr>
            </a:pPr>
            <a:r>
              <a:t>BTP mid-evaluation  |  Fronthaul load management  |  10</a:t>
            </a:r>
          </a:p>
        </p:txBody>
      </p:sp>
      <p:sp>
        <p:nvSpPr>
          <p:cNvPr id="6" name="TextBox 5"/>
          <p:cNvSpPr txBox="1"/>
          <p:nvPr/>
        </p:nvSpPr>
        <p:spPr>
          <a:xfrm>
            <a:off x="457200" y="1005840"/>
            <a:ext cx="7498079" cy="5303520"/>
          </a:xfrm>
          <a:prstGeom prst="rect">
            <a:avLst/>
          </a:prstGeom>
          <a:noFill/>
        </p:spPr>
        <p:txBody>
          <a:bodyPr wrap="square">
            <a:spAutoFit/>
          </a:bodyPr>
          <a:lstStyle/>
          <a:p>
            <a:pPr>
              <a:spcAft>
                <a:spcPts val="600"/>
              </a:spcAft>
              <a:defRPr sz="1400" b="1">
                <a:solidFill>
                  <a:srgbClr val="222222"/>
                </a:solidFill>
              </a:defRPr>
            </a:pPr>
            <a:r>
              <a:t>• 1. Forecaster: six quantiles (5, 25, 50, 75, 90, 95 %) of each cell's r* for the next interval</a:t>
            </a:r>
          </a:p>
          <a:p>
            <a:pPr lvl="1">
              <a:spcAft>
                <a:spcPts val="600"/>
              </a:spcAft>
              <a:defRPr sz="1200" b="0">
                <a:solidFill>
                  <a:srgbClr val="222222"/>
                </a:solidFill>
              </a:defRPr>
            </a:pPr>
            <a:r>
              <a:t>– One gradient-boosted tree model per quantile; 28 features from past slots only; trained on training seeds only</a:t>
            </a:r>
          </a:p>
          <a:p>
            <a:pPr lvl="1">
              <a:spcAft>
                <a:spcPts val="600"/>
              </a:spcAft>
              <a:defRPr sz="1200" b="0">
                <a:solidFill>
                  <a:srgbClr val="222222"/>
                </a:solidFill>
              </a:defRPr>
            </a:pPr>
            <a:r>
              <a:t>– Targets are divided by the cell's fixed peak, so nothing is fitted on test data</a:t>
            </a:r>
          </a:p>
          <a:p>
            <a:pPr>
              <a:spcAft>
                <a:spcPts val="600"/>
              </a:spcAft>
              <a:defRPr sz="1400" b="1">
                <a:solidFill>
                  <a:srgbClr val="222222"/>
                </a:solidFill>
              </a:defRPr>
            </a:pPr>
            <a:r>
              <a:t>• 2. Allocation rule: maximise the weighted expected served demand under the forecast</a:t>
            </a:r>
          </a:p>
          <a:p>
            <a:pPr lvl="1">
              <a:spcAft>
                <a:spcPts val="600"/>
              </a:spcAft>
              <a:defRPr sz="1200" b="0">
                <a:solidFill>
                  <a:srgbClr val="222222"/>
                </a:solidFill>
              </a:defRPr>
            </a:pPr>
            <a:r>
              <a:t>– max Σ_i w_i · E[min(backlog_i + r*_i, r_i)]   subject to   Σ r_i ≤ link,  0 ≤ r_i ≤ peak_i</a:t>
            </a:r>
          </a:p>
          <a:p>
            <a:pPr lvl="1">
              <a:spcAft>
                <a:spcPts val="600"/>
              </a:spcAft>
              <a:defRPr sz="1200" b="0">
                <a:solidFill>
                  <a:srgbClr val="222222"/>
                </a:solidFill>
              </a:defRPr>
            </a:pPr>
            <a:r>
              <a:t>– Solution (KKT):  r_i = backlog_i + F_i⁻¹(1 − λ / w_i), clipped to [0, peak_i];  λ found by bisection so that Σ r_i = link</a:t>
            </a:r>
          </a:p>
          <a:p>
            <a:pPr lvl="1">
              <a:spcAft>
                <a:spcPts val="600"/>
              </a:spcAft>
              <a:defRPr sz="1200" b="0">
                <a:solidFill>
                  <a:srgbClr val="222222"/>
                </a:solidFill>
              </a:defRPr>
            </a:pPr>
            <a:r>
              <a:t>– In words: every cell is cut at the same weighted risk of needing one more bit</a:t>
            </a:r>
          </a:p>
          <a:p>
            <a:pPr lvl="1">
              <a:spcAft>
                <a:spcPts val="600"/>
              </a:spcAft>
              <a:defRPr sz="1200" b="0">
                <a:solidFill>
                  <a:srgbClr val="222222"/>
                </a:solidFill>
              </a:defRPr>
            </a:pPr>
            <a:r>
              <a:t>– → wide forecast or high priority ⇒ more margin; confident forecast ⇒ ≈ median; backlog is always funded first</a:t>
            </a:r>
          </a:p>
          <a:p>
            <a:pPr>
              <a:spcAft>
                <a:spcPts val="600"/>
              </a:spcAft>
              <a:defRPr sz="1400" b="0">
                <a:solidFill>
                  <a:srgbClr val="222222"/>
                </a:solidFill>
              </a:defRPr>
            </a:pPr>
            <a:r>
              <a:t>• Optional: an online calibration step (ACI) that shifts a cell's quantile level after misses; tested as an ablation</a:t>
            </a:r>
          </a:p>
          <a:p>
            <a:pPr>
              <a:spcAft>
                <a:spcPts val="600"/>
              </a:spcAft>
              <a:defRPr sz="1400" b="0">
                <a:solidFill>
                  <a:srgbClr val="222222"/>
                </a:solidFill>
              </a:defRPr>
            </a:pPr>
            <a:r>
              <a:t>• Cost: a few microseconds for 8 cells; budgets always feasible (proofs in docs/fhlm/method.md)</a:t>
            </a:r>
          </a:p>
        </p:txBody>
      </p:sp>
      <p:sp>
        <p:nvSpPr>
          <p:cNvPr id="7" name="Rounded Rectangle 6"/>
          <p:cNvSpPr/>
          <p:nvPr/>
        </p:nvSpPr>
        <p:spPr>
          <a:xfrm>
            <a:off x="8229600" y="1097280"/>
            <a:ext cx="3474720" cy="731520"/>
          </a:xfrm>
          <a:prstGeom prst="roundRect">
            <a:avLst/>
          </a:prstGeom>
          <a:solidFill>
            <a:srgbClr val="E3F2FD"/>
          </a:solidFill>
          <a:ln w="9525">
            <a:solidFill>
              <a:srgbClr val="B0B8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222222"/>
                </a:solidFill>
              </a:defRPr>
            </a:pPr>
            <a:r>
              <a:t>past slots, queue, spectral efficiency</a:t>
            </a:r>
          </a:p>
        </p:txBody>
      </p:sp>
      <p:cxnSp>
        <p:nvCxnSpPr>
          <p:cNvPr id="8" name="Connector 7"/>
          <p:cNvCxnSpPr/>
          <p:nvPr/>
        </p:nvCxnSpPr>
        <p:spPr>
          <a:xfrm>
            <a:off x="9966960" y="1828800"/>
            <a:ext cx="0" cy="274320"/>
          </a:xfrm>
          <a:prstGeom prst="line">
            <a:avLst/>
          </a:prstGeom>
          <a:ln w="1905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8229600" y="2103120"/>
            <a:ext cx="3474720" cy="822960"/>
          </a:xfrm>
          <a:prstGeom prst="roundRect">
            <a:avLst/>
          </a:prstGeom>
          <a:solidFill>
            <a:srgbClr val="FFF3E0"/>
          </a:solidFill>
          <a:ln w="9525">
            <a:solidFill>
              <a:srgbClr val="B0B8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222222"/>
                </a:solidFill>
              </a:defRPr>
            </a:pPr>
            <a:r>
              <a:t>quantile forecaster</a:t>
            </a:r>
          </a:p>
          <a:p>
            <a:pPr algn="ctr">
              <a:defRPr sz="1100" b="0">
                <a:solidFill>
                  <a:srgbClr val="222222"/>
                </a:solidFill>
              </a:defRPr>
            </a:pPr>
            <a:r>
              <a:t>→ range of r*_i (5 % … 95 %)</a:t>
            </a:r>
          </a:p>
        </p:txBody>
      </p:sp>
      <p:cxnSp>
        <p:nvCxnSpPr>
          <p:cNvPr id="10" name="Connector 9"/>
          <p:cNvCxnSpPr/>
          <p:nvPr/>
        </p:nvCxnSpPr>
        <p:spPr>
          <a:xfrm>
            <a:off x="9966960" y="2926080"/>
            <a:ext cx="0" cy="274320"/>
          </a:xfrm>
          <a:prstGeom prst="line">
            <a:avLst/>
          </a:prstGeom>
          <a:ln w="1905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229600" y="3200400"/>
            <a:ext cx="3474720" cy="1097280"/>
          </a:xfrm>
          <a:prstGeom prst="roundRect">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222222"/>
                </a:solidFill>
              </a:defRPr>
            </a:pPr>
            <a:r>
              <a:t>KKT rule</a:t>
            </a:r>
          </a:p>
          <a:p>
            <a:pPr algn="ctr">
              <a:defRPr sz="1100" b="0">
                <a:solidFill>
                  <a:srgbClr val="222222"/>
                </a:solidFill>
              </a:defRPr>
            </a:pPr>
            <a:r>
              <a:t>r_i = backlog_i + F_i⁻¹(1 − λ/w_i)</a:t>
            </a:r>
          </a:p>
          <a:p>
            <a:pPr algn="ctr">
              <a:defRPr sz="1100" b="0">
                <a:solidFill>
                  <a:srgbClr val="222222"/>
                </a:solidFill>
              </a:defRPr>
            </a:pPr>
            <a:r>
              <a:t>one scalar λ: Σ r_i = link</a:t>
            </a:r>
          </a:p>
        </p:txBody>
      </p:sp>
      <p:cxnSp>
        <p:nvCxnSpPr>
          <p:cNvPr id="12" name="Connector 11"/>
          <p:cNvCxnSpPr/>
          <p:nvPr/>
        </p:nvCxnSpPr>
        <p:spPr>
          <a:xfrm>
            <a:off x="9966960" y="4297680"/>
            <a:ext cx="0" cy="274320"/>
          </a:xfrm>
          <a:prstGeom prst="line">
            <a:avLst/>
          </a:prstGeom>
          <a:ln w="1905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229600" y="4572000"/>
            <a:ext cx="3474720" cy="731520"/>
          </a:xfrm>
          <a:prstGeom prst="roundRect">
            <a:avLst/>
          </a:prstGeom>
          <a:solidFill>
            <a:srgbClr val="F2F4F7"/>
          </a:solidFill>
          <a:ln w="9525">
            <a:solidFill>
              <a:srgbClr val="B0B8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222222"/>
                </a:solidFill>
              </a:defRPr>
            </a:pPr>
            <a:r>
              <a:t>budgets r_i, held 10 ms</a:t>
            </a:r>
          </a:p>
          <a:p>
            <a:pPr algn="ctr">
              <a:defRPr sz="1100" b="0">
                <a:solidFill>
                  <a:srgbClr val="222222"/>
                </a:solidFill>
              </a:defRPr>
            </a:pPr>
            <a:r>
              <a:t>O-DU serves each queue ≤ r_i</a:t>
            </a:r>
          </a:p>
        </p:txBody>
      </p:sp>
      <p:sp>
        <p:nvSpPr>
          <p:cNvPr id="14" name="TextBox 13"/>
          <p:cNvSpPr txBox="1"/>
          <p:nvPr/>
        </p:nvSpPr>
        <p:spPr>
          <a:xfrm>
            <a:off x="8229600" y="5394960"/>
            <a:ext cx="3566160" cy="914400"/>
          </a:xfrm>
          <a:prstGeom prst="rect">
            <a:avLst/>
          </a:prstGeom>
          <a:noFill/>
        </p:spPr>
        <p:txBody>
          <a:bodyPr wrap="square">
            <a:spAutoFit/>
          </a:bodyPr>
          <a:lstStyle/>
          <a:p>
            <a:pPr algn="l">
              <a:defRPr sz="1000" b="0" i="1">
                <a:solidFill>
                  <a:srgbClr val="555555"/>
                </a:solidFill>
              </a:defRPr>
            </a:pPr>
            <a:r>
              <a:t>Borrowed: quantile boosting, ACI, water-filling.</a:t>
            </a:r>
          </a:p>
          <a:p>
            <a:pPr algn="l">
              <a:defRPr sz="1000" b="0" i="1">
                <a:solidFill>
                  <a:srgbClr val="555555"/>
                </a:solidFill>
              </a:defRPr>
            </a:pPr>
            <a:r>
              <a:t>Our part: r* as the forecast target + the KKT rule over the forecast range under the link constraint, tested against strong baselines.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92640" cy="640080"/>
          </a:xfrm>
          <a:prstGeom prst="rect">
            <a:avLst/>
          </a:prstGeom>
          <a:noFill/>
        </p:spPr>
        <p:txBody>
          <a:bodyPr wrap="square">
            <a:spAutoFit/>
          </a:bodyPr>
          <a:lstStyle/>
          <a:p>
            <a:pPr>
              <a:defRPr sz="2400" b="1">
                <a:solidFill>
                  <a:srgbClr val="FFFFFF"/>
                </a:solidFill>
              </a:defRPr>
            </a:pPr>
            <a:r>
              <a:t>Experimental setup (synthetic traffic, clearly labelled)</a:t>
            </a:r>
          </a:p>
        </p:txBody>
      </p:sp>
      <p:sp>
        <p:nvSpPr>
          <p:cNvPr id="4" name="TextBox 3"/>
          <p:cNvSpPr txBox="1"/>
          <p:nvPr/>
        </p:nvSpPr>
        <p:spPr>
          <a:xfrm>
            <a:off x="9966960" y="256032"/>
            <a:ext cx="2103120" cy="365760"/>
          </a:xfrm>
          <a:prstGeom prst="rect">
            <a:avLst/>
          </a:prstGeom>
          <a:noFill/>
        </p:spPr>
        <p:txBody>
          <a:bodyPr wrap="none">
            <a:spAutoFit/>
          </a:bodyPr>
          <a:lstStyle/>
          <a:p>
            <a:pPr algn="r">
              <a:defRPr sz="1100">
                <a:solidFill>
                  <a:srgbClr val="CFD8E3"/>
                </a:solidFill>
              </a:defRPr>
            </a:pPr>
            <a:r>
              <a:t>Part B: experiments</a:t>
            </a:r>
          </a:p>
        </p:txBody>
      </p:sp>
      <p:sp>
        <p:nvSpPr>
          <p:cNvPr id="5" name="TextBox 4"/>
          <p:cNvSpPr txBox="1"/>
          <p:nvPr/>
        </p:nvSpPr>
        <p:spPr>
          <a:xfrm>
            <a:off x="365760" y="6446520"/>
            <a:ext cx="11430000" cy="320040"/>
          </a:xfrm>
          <a:prstGeom prst="rect">
            <a:avLst/>
          </a:prstGeom>
          <a:noFill/>
        </p:spPr>
        <p:txBody>
          <a:bodyPr wrap="none">
            <a:spAutoFit/>
          </a:bodyPr>
          <a:lstStyle/>
          <a:p>
            <a:pPr algn="r">
              <a:defRPr sz="900">
                <a:solidFill>
                  <a:srgbClr val="555555"/>
                </a:solidFill>
              </a:defRPr>
            </a:pPr>
            <a:r>
              <a:t>BTP mid-evaluation  |  Fronthaul load management  |  11</a:t>
            </a:r>
          </a:p>
        </p:txBody>
      </p:sp>
      <p:graphicFrame>
        <p:nvGraphicFramePr>
          <p:cNvPr id="6" name="Table 5"/>
          <p:cNvGraphicFramePr>
            <a:graphicFrameLocks noGrp="1"/>
          </p:cNvGraphicFramePr>
          <p:nvPr/>
        </p:nvGraphicFramePr>
        <p:xfrm>
          <a:off x="457200" y="1051560"/>
          <a:ext cx="11247120" cy="2103120"/>
        </p:xfrm>
        <a:graphic>
          <a:graphicData uri="http://schemas.openxmlformats.org/drawingml/2006/table">
            <a:tbl>
              <a:tblPr firstRow="1" bandRow="1">
                <a:tableStyleId>{5C22544A-7EE6-4342-B048-85BDC9FD1C3A}</a:tableStyleId>
              </a:tblPr>
              <a:tblGrid>
                <a:gridCol w="1828800"/>
                <a:gridCol w="1828800"/>
                <a:gridCol w="5760720"/>
                <a:gridCol w="1828800"/>
              </a:tblGrid>
              <a:tr h="350520">
                <a:tc>
                  <a:txBody>
                    <a:bodyPr/>
                    <a:lstStyle/>
                    <a:p>
                      <a:pPr>
                        <a:defRPr sz="1200" b="1">
                          <a:solidFill>
                            <a:srgbClr val="FFFFFF"/>
                          </a:solidFill>
                        </a:defRPr>
                      </a:pPr>
                      <a:r>
                        <a:t>Scenario</a:t>
                      </a:r>
                    </a:p>
                  </a:txBody>
                  <a:tcPr>
                    <a:solidFill>
                      <a:srgbClr val="1F3A5F"/>
                    </a:solidFill>
                  </a:tcPr>
                </a:tc>
                <a:tc>
                  <a:txBody>
                    <a:bodyPr/>
                    <a:lstStyle/>
                    <a:p>
                      <a:pPr>
                        <a:defRPr sz="1200" b="1">
                          <a:solidFill>
                            <a:srgbClr val="FFFFFF"/>
                          </a:solidFill>
                        </a:defRPr>
                      </a:pPr>
                      <a:r>
                        <a:t>Mean load / link</a:t>
                      </a:r>
                    </a:p>
                  </a:txBody>
                  <a:tcPr>
                    <a:solidFill>
                      <a:srgbClr val="1F3A5F"/>
                    </a:solidFill>
                  </a:tcPr>
                </a:tc>
                <a:tc>
                  <a:txBody>
                    <a:bodyPr/>
                    <a:lstStyle/>
                    <a:p>
                      <a:pPr>
                        <a:defRPr sz="1200" b="1">
                          <a:solidFill>
                            <a:srgbClr val="FFFFFF"/>
                          </a:solidFill>
                        </a:defRPr>
                      </a:pPr>
                      <a:r>
                        <a:t>Traffic</a:t>
                      </a:r>
                    </a:p>
                  </a:txBody>
                  <a:tcPr>
                    <a:solidFill>
                      <a:srgbClr val="1F3A5F"/>
                    </a:solidFill>
                  </a:tcPr>
                </a:tc>
                <a:tc>
                  <a:txBody>
                    <a:bodyPr/>
                    <a:lstStyle/>
                    <a:p>
                      <a:pPr>
                        <a:defRPr sz="1200" b="1">
                          <a:solidFill>
                            <a:srgbClr val="FFFFFF"/>
                          </a:solidFill>
                        </a:defRPr>
                      </a:pPr>
                      <a:r>
                        <a:t>Used for tuning?</a:t>
                      </a:r>
                    </a:p>
                  </a:txBody>
                  <a:tcPr>
                    <a:solidFill>
                      <a:srgbClr val="1F3A5F"/>
                    </a:solidFill>
                  </a:tcPr>
                </a:tc>
              </a:tr>
              <a:tr h="350520">
                <a:tc>
                  <a:txBody>
                    <a:bodyPr/>
                    <a:lstStyle/>
                    <a:p>
                      <a:pPr>
                        <a:defRPr sz="1200"/>
                      </a:pPr>
                      <a:r>
                        <a:t>low</a:t>
                      </a:r>
                    </a:p>
                  </a:txBody>
                  <a:tcPr>
                    <a:solidFill>
                      <a:srgbClr val="F2F4F7"/>
                    </a:solidFill>
                  </a:tcPr>
                </a:tc>
                <a:tc>
                  <a:txBody>
                    <a:bodyPr/>
                    <a:lstStyle/>
                    <a:p>
                      <a:pPr>
                        <a:defRPr sz="1200"/>
                      </a:pPr>
                      <a:r>
                        <a:t>0.50</a:t>
                      </a:r>
                    </a:p>
                  </a:txBody>
                  <a:tcPr>
                    <a:solidFill>
                      <a:srgbClr val="F2F4F7"/>
                    </a:solidFill>
                  </a:tcPr>
                </a:tc>
                <a:tc>
                  <a:txBody>
                    <a:bodyPr/>
                    <a:lstStyle/>
                    <a:p>
                      <a:pPr>
                        <a:defRPr sz="1200"/>
                      </a:pPr>
                      <a:r>
                        <a:t>normal</a:t>
                      </a:r>
                    </a:p>
                  </a:txBody>
                  <a:tcPr>
                    <a:solidFill>
                      <a:srgbClr val="F2F4F7"/>
                    </a:solidFill>
                  </a:tcPr>
                </a:tc>
                <a:tc>
                  <a:txBody>
                    <a:bodyPr/>
                    <a:lstStyle/>
                    <a:p>
                      <a:pPr>
                        <a:defRPr sz="1200"/>
                      </a:pPr>
                      <a:r>
                        <a:t>no</a:t>
                      </a:r>
                    </a:p>
                  </a:txBody>
                  <a:tcPr>
                    <a:solidFill>
                      <a:srgbClr val="F2F4F7"/>
                    </a:solidFill>
                  </a:tcPr>
                </a:tc>
              </a:tr>
              <a:tr h="350520">
                <a:tc>
                  <a:txBody>
                    <a:bodyPr/>
                    <a:lstStyle/>
                    <a:p>
                      <a:pPr>
                        <a:defRPr sz="1200"/>
                      </a:pPr>
                      <a:r>
                        <a:t>moderate</a:t>
                      </a:r>
                    </a:p>
                  </a:txBody>
                  <a:tcPr>
                    <a:solidFill>
                      <a:srgbClr val="FFFFFF"/>
                    </a:solidFill>
                  </a:tcPr>
                </a:tc>
                <a:tc>
                  <a:txBody>
                    <a:bodyPr/>
                    <a:lstStyle/>
                    <a:p>
                      <a:pPr>
                        <a:defRPr sz="1200"/>
                      </a:pPr>
                      <a:r>
                        <a:t>0.65</a:t>
                      </a:r>
                    </a:p>
                  </a:txBody>
                  <a:tcPr>
                    <a:solidFill>
                      <a:srgbClr val="FFFFFF"/>
                    </a:solidFill>
                  </a:tcPr>
                </a:tc>
                <a:tc>
                  <a:txBody>
                    <a:bodyPr/>
                    <a:lstStyle/>
                    <a:p>
                      <a:pPr>
                        <a:defRPr sz="1200"/>
                      </a:pPr>
                      <a:r>
                        <a:t>normal</a:t>
                      </a:r>
                    </a:p>
                  </a:txBody>
                  <a:tcPr>
                    <a:solidFill>
                      <a:srgbClr val="FFFFFF"/>
                    </a:solidFill>
                  </a:tcPr>
                </a:tc>
                <a:tc>
                  <a:txBody>
                    <a:bodyPr/>
                    <a:lstStyle/>
                    <a:p>
                      <a:pPr>
                        <a:defRPr sz="1200"/>
                      </a:pPr>
                      <a:r>
                        <a:t>yes (validation seeds)</a:t>
                      </a:r>
                    </a:p>
                  </a:txBody>
                  <a:tcPr>
                    <a:solidFill>
                      <a:srgbClr val="FFFFFF"/>
                    </a:solidFill>
                  </a:tcPr>
                </a:tc>
              </a:tr>
              <a:tr h="350520">
                <a:tc>
                  <a:txBody>
                    <a:bodyPr/>
                    <a:lstStyle/>
                    <a:p>
                      <a:pPr>
                        <a:defRPr sz="1200"/>
                      </a:pPr>
                      <a:r>
                        <a:t>high</a:t>
                      </a:r>
                    </a:p>
                  </a:txBody>
                  <a:tcPr>
                    <a:solidFill>
                      <a:srgbClr val="F2F4F7"/>
                    </a:solidFill>
                  </a:tcPr>
                </a:tc>
                <a:tc>
                  <a:txBody>
                    <a:bodyPr/>
                    <a:lstStyle/>
                    <a:p>
                      <a:pPr>
                        <a:defRPr sz="1200"/>
                      </a:pPr>
                      <a:r>
                        <a:t>0.80</a:t>
                      </a:r>
                    </a:p>
                  </a:txBody>
                  <a:tcPr>
                    <a:solidFill>
                      <a:srgbClr val="F2F4F7"/>
                    </a:solidFill>
                  </a:tcPr>
                </a:tc>
                <a:tc>
                  <a:txBody>
                    <a:bodyPr/>
                    <a:lstStyle/>
                    <a:p>
                      <a:pPr>
                        <a:defRPr sz="1200"/>
                      </a:pPr>
                      <a:r>
                        <a:t>normal</a:t>
                      </a:r>
                    </a:p>
                  </a:txBody>
                  <a:tcPr>
                    <a:solidFill>
                      <a:srgbClr val="F2F4F7"/>
                    </a:solidFill>
                  </a:tcPr>
                </a:tc>
                <a:tc>
                  <a:txBody>
                    <a:bodyPr/>
                    <a:lstStyle/>
                    <a:p>
                      <a:pPr>
                        <a:defRPr sz="1200"/>
                      </a:pPr>
                      <a:r>
                        <a:t>yes (validation seeds)</a:t>
                      </a:r>
                    </a:p>
                  </a:txBody>
                  <a:tcPr>
                    <a:solidFill>
                      <a:srgbClr val="F2F4F7"/>
                    </a:solidFill>
                  </a:tcPr>
                </a:tc>
              </a:tr>
              <a:tr h="350520">
                <a:tc>
                  <a:txBody>
                    <a:bodyPr/>
                    <a:lstStyle/>
                    <a:p>
                      <a:pPr>
                        <a:defRPr sz="1200"/>
                      </a:pPr>
                      <a:r>
                        <a:t>overload_bursts</a:t>
                      </a:r>
                    </a:p>
                  </a:txBody>
                  <a:tcPr>
                    <a:solidFill>
                      <a:srgbClr val="FFFFFF"/>
                    </a:solidFill>
                  </a:tcPr>
                </a:tc>
                <a:tc>
                  <a:txBody>
                    <a:bodyPr/>
                    <a:lstStyle/>
                    <a:p>
                      <a:pPr>
                        <a:defRPr sz="1200"/>
                      </a:pPr>
                      <a:r>
                        <a:t>0.80</a:t>
                      </a:r>
                    </a:p>
                  </a:txBody>
                  <a:tcPr>
                    <a:solidFill>
                      <a:srgbClr val="FFFFFF"/>
                    </a:solidFill>
                  </a:tcPr>
                </a:tc>
                <a:tc>
                  <a:txBody>
                    <a:bodyPr/>
                    <a:lstStyle/>
                    <a:p>
                      <a:pPr>
                        <a:defRPr sz="1200"/>
                      </a:pPr>
                      <a:r>
                        <a:t>flash crowds: load ×1.8 for about 15 % of the time (more than the link can carry)</a:t>
                      </a:r>
                    </a:p>
                  </a:txBody>
                  <a:tcPr>
                    <a:solidFill>
                      <a:srgbClr val="FFFFFF"/>
                    </a:solidFill>
                  </a:tcPr>
                </a:tc>
                <a:tc>
                  <a:txBody>
                    <a:bodyPr/>
                    <a:lstStyle/>
                    <a:p>
                      <a:pPr>
                        <a:defRPr sz="1200"/>
                      </a:pPr>
                      <a:r>
                        <a:t>no</a:t>
                      </a:r>
                    </a:p>
                  </a:txBody>
                  <a:tcPr>
                    <a:solidFill>
                      <a:srgbClr val="FFFFFF"/>
                    </a:solidFill>
                  </a:tcPr>
                </a:tc>
              </a:tr>
              <a:tr h="350520">
                <a:tc>
                  <a:txBody>
                    <a:bodyPr/>
                    <a:lstStyle/>
                    <a:p>
                      <a:pPr>
                        <a:defRPr sz="1200"/>
                      </a:pPr>
                      <a:r>
                        <a:t>shift (held-out)</a:t>
                      </a:r>
                    </a:p>
                  </a:txBody>
                  <a:tcPr>
                    <a:solidFill>
                      <a:srgbClr val="F2F4F7"/>
                    </a:solidFill>
                  </a:tcPr>
                </a:tc>
                <a:tc>
                  <a:txBody>
                    <a:bodyPr/>
                    <a:lstStyle/>
                    <a:p>
                      <a:pPr>
                        <a:defRPr sz="1200"/>
                      </a:pPr>
                      <a:r>
                        <a:t>0.80</a:t>
                      </a:r>
                    </a:p>
                  </a:txBody>
                  <a:tcPr>
                    <a:solidFill>
                      <a:srgbClr val="F2F4F7"/>
                    </a:solidFill>
                  </a:tcPr>
                </a:tc>
                <a:tc>
                  <a:txBody>
                    <a:bodyPr/>
                    <a:lstStyle/>
                    <a:p>
                      <a:pPr>
                        <a:defRPr sz="1200"/>
                      </a:pPr>
                      <a:r>
                        <a:t>bursts 1.5× stronger and 1.5× longer, heavier tail; never seen in training or tuning</a:t>
                      </a:r>
                    </a:p>
                  </a:txBody>
                  <a:tcPr>
                    <a:solidFill>
                      <a:srgbClr val="F2F4F7"/>
                    </a:solidFill>
                  </a:tcPr>
                </a:tc>
                <a:tc>
                  <a:txBody>
                    <a:bodyPr/>
                    <a:lstStyle/>
                    <a:p>
                      <a:pPr>
                        <a:defRPr sz="1200"/>
                      </a:pPr>
                      <a:r>
                        <a:t>no</a:t>
                      </a:r>
                    </a:p>
                  </a:txBody>
                  <a:tcPr>
                    <a:solidFill>
                      <a:srgbClr val="F2F4F7"/>
                    </a:solidFill>
                  </a:tcPr>
                </a:tc>
              </a:tr>
            </a:tbl>
          </a:graphicData>
        </a:graphic>
      </p:graphicFrame>
      <p:sp>
        <p:nvSpPr>
          <p:cNvPr id="7" name="TextBox 6"/>
          <p:cNvSpPr txBox="1"/>
          <p:nvPr/>
        </p:nvSpPr>
        <p:spPr>
          <a:xfrm>
            <a:off x="457200" y="3657600"/>
            <a:ext cx="11247120" cy="2743200"/>
          </a:xfrm>
          <a:prstGeom prst="rect">
            <a:avLst/>
          </a:prstGeom>
          <a:noFill/>
        </p:spPr>
        <p:txBody>
          <a:bodyPr wrap="square">
            <a:spAutoFit/>
          </a:bodyPr>
          <a:lstStyle/>
          <a:p>
            <a:pPr>
              <a:spcAft>
                <a:spcPts val="600"/>
              </a:spcAft>
              <a:defRPr sz="1400" b="0">
                <a:solidFill>
                  <a:srgbClr val="222222"/>
                </a:solidFill>
              </a:defRPr>
            </a:pPr>
            <a:r>
              <a:t>• Traffic (synthetic): smooth Gamma part + heavy-tailed ON/OFF bursts + slow load changes (~1 s) + spectral-efficiency drift</a:t>
            </a:r>
          </a:p>
          <a:p>
            <a:pPr>
              <a:spcAft>
                <a:spcPts val="600"/>
              </a:spcAft>
              <a:defRPr sz="1400" b="0">
                <a:solidFill>
                  <a:srgbClr val="222222"/>
                </a:solidFill>
              </a:defRPr>
            </a:pPr>
            <a:r>
              <a:t>• Seeds: training 1000-1015 (loads 0.5-0.95) | validation 2000-2003 | test 3000-3019; no overlap</a:t>
            </a:r>
          </a:p>
          <a:p>
            <a:pPr>
              <a:spcAft>
                <a:spcPts val="600"/>
              </a:spcAft>
              <a:defRPr sz="1400" b="0">
                <a:solidFill>
                  <a:srgbClr val="222222"/>
                </a:solidFill>
              </a:defRPr>
            </a:pPr>
            <a:r>
              <a:t>• Each run: 20,000 slots = 10 s after a 1,000-slot warm-up; T = 20 slots; 10 controllers × 5 scenarios × 20 seeds = 1000 runs</a:t>
            </a:r>
          </a:p>
          <a:p>
            <a:pPr>
              <a:spcAft>
                <a:spcPts val="600"/>
              </a:spcAft>
              <a:defRPr sz="1400" b="0">
                <a:solidFill>
                  <a:srgbClr val="222222"/>
                </a:solidFill>
              </a:defRPr>
            </a:pPr>
            <a:r>
              <a:t>• Same traffic and same delayed observations for every controller; the forecaster is frozen before testing</a:t>
            </a:r>
          </a:p>
          <a:p>
            <a:pPr>
              <a:spcAft>
                <a:spcPts val="600"/>
              </a:spcAft>
              <a:defRPr sz="1400" b="0">
                <a:solidFill>
                  <a:srgbClr val="222222"/>
                </a:solidFill>
              </a:defRPr>
            </a:pPr>
            <a:r>
              <a:t>• Absolute violation ratios are high on purpose (bursty traffic at 0.8 load); the paired differences between controllers are the result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92640" cy="640080"/>
          </a:xfrm>
          <a:prstGeom prst="rect">
            <a:avLst/>
          </a:prstGeom>
          <a:noFill/>
        </p:spPr>
        <p:txBody>
          <a:bodyPr wrap="square">
            <a:spAutoFit/>
          </a:bodyPr>
          <a:lstStyle/>
          <a:p>
            <a:pPr>
              <a:defRPr sz="2400" b="1">
                <a:solidFill>
                  <a:srgbClr val="FFFFFF"/>
                </a:solidFill>
              </a:defRPr>
            </a:pPr>
            <a:r>
              <a:t>Results: main score per scenario (20 test seeds, mean ± std)</a:t>
            </a:r>
          </a:p>
        </p:txBody>
      </p:sp>
      <p:sp>
        <p:nvSpPr>
          <p:cNvPr id="4" name="TextBox 3"/>
          <p:cNvSpPr txBox="1"/>
          <p:nvPr/>
        </p:nvSpPr>
        <p:spPr>
          <a:xfrm>
            <a:off x="9966960" y="256032"/>
            <a:ext cx="2103120" cy="365760"/>
          </a:xfrm>
          <a:prstGeom prst="rect">
            <a:avLst/>
          </a:prstGeom>
          <a:noFill/>
        </p:spPr>
        <p:txBody>
          <a:bodyPr wrap="none">
            <a:spAutoFit/>
          </a:bodyPr>
          <a:lstStyle/>
          <a:p>
            <a:pPr algn="r">
              <a:defRPr sz="1100">
                <a:solidFill>
                  <a:srgbClr val="CFD8E3"/>
                </a:solidFill>
              </a:defRPr>
            </a:pPr>
            <a:r>
              <a:t>Part B: results</a:t>
            </a:r>
          </a:p>
        </p:txBody>
      </p:sp>
      <p:sp>
        <p:nvSpPr>
          <p:cNvPr id="5" name="TextBox 4"/>
          <p:cNvSpPr txBox="1"/>
          <p:nvPr/>
        </p:nvSpPr>
        <p:spPr>
          <a:xfrm>
            <a:off x="365760" y="6446520"/>
            <a:ext cx="11430000" cy="320040"/>
          </a:xfrm>
          <a:prstGeom prst="rect">
            <a:avLst/>
          </a:prstGeom>
          <a:noFill/>
        </p:spPr>
        <p:txBody>
          <a:bodyPr wrap="none">
            <a:spAutoFit/>
          </a:bodyPr>
          <a:lstStyle/>
          <a:p>
            <a:pPr algn="r">
              <a:defRPr sz="900">
                <a:solidFill>
                  <a:srgbClr val="555555"/>
                </a:solidFill>
              </a:defRPr>
            </a:pPr>
            <a:r>
              <a:t>BTP mid-evaluation  |  Fronthaul load management  |  12</a:t>
            </a:r>
          </a:p>
        </p:txBody>
      </p:sp>
      <p:pic>
        <p:nvPicPr>
          <p:cNvPr id="6" name="Picture 5" descr="fig1_primary_by_scenario.png"/>
          <p:cNvPicPr>
            <a:picLocks noChangeAspect="1"/>
          </p:cNvPicPr>
          <p:nvPr/>
        </p:nvPicPr>
        <p:blipFill>
          <a:blip r:embed="rId3"/>
          <a:stretch>
            <a:fillRect/>
          </a:stretch>
        </p:blipFill>
        <p:spPr>
          <a:xfrm>
            <a:off x="365760" y="1005840"/>
            <a:ext cx="7863840" cy="3796498"/>
          </a:xfrm>
          <a:prstGeom prst="rect">
            <a:avLst/>
          </a:prstGeom>
        </p:spPr>
      </p:pic>
      <p:sp>
        <p:nvSpPr>
          <p:cNvPr id="7" name="TextBox 6"/>
          <p:cNvSpPr txBox="1"/>
          <p:nvPr/>
        </p:nvSpPr>
        <p:spPr>
          <a:xfrm>
            <a:off x="8321040" y="1097280"/>
            <a:ext cx="3657600" cy="5120640"/>
          </a:xfrm>
          <a:prstGeom prst="rect">
            <a:avLst/>
          </a:prstGeom>
          <a:noFill/>
        </p:spPr>
        <p:txBody>
          <a:bodyPr wrap="square">
            <a:spAutoFit/>
          </a:bodyPr>
          <a:lstStyle/>
          <a:p>
            <a:pPr>
              <a:spcAft>
                <a:spcPts val="600"/>
              </a:spcAft>
              <a:defRPr sz="1300" b="1">
                <a:solidFill>
                  <a:srgbClr val="222222"/>
                </a:solidFill>
              </a:defRPr>
            </a:pPr>
            <a:r>
              <a:t>• Proposed = best real controller in 5 of 5 scenarios</a:t>
            </a:r>
          </a:p>
          <a:p>
            <a:pPr lvl="1">
              <a:spcAft>
                <a:spcPts val="600"/>
              </a:spcAft>
              <a:defRPr sz="1100" b="0">
                <a:solidFill>
                  <a:srgbClr val="222222"/>
                </a:solidFill>
              </a:defRPr>
            </a:pPr>
            <a:r>
              <a:t>– vs point forecast (same model, median only): −18 % (high), −11 % (shift)</a:t>
            </a:r>
          </a:p>
          <a:p>
            <a:pPr lvl="1">
              <a:spcAft>
                <a:spcPts val="600"/>
              </a:spcAft>
              <a:defRPr sz="1100" b="0">
                <a:solidFill>
                  <a:srgbClr val="222222"/>
                </a:solidFill>
              </a:defRPr>
            </a:pPr>
            <a:r>
              <a:t>– vs deadline-aware reactive: −27 % (high), −20 % (shift)</a:t>
            </a:r>
          </a:p>
          <a:p>
            <a:pPr lvl="1">
              <a:spcAft>
                <a:spcPts val="600"/>
              </a:spcAft>
              <a:defRPr sz="1100" b="0">
                <a:solidFill>
                  <a:srgbClr val="222222"/>
                </a:solidFill>
              </a:defRPr>
            </a:pPr>
            <a:r>
              <a:t>– vs reactive proportional: −13 % (high) but only −4 % under flash crowds (16/20 seeds, p = 0.03) → small gain</a:t>
            </a:r>
          </a:p>
          <a:p>
            <a:pPr lvl="1">
              <a:spcAft>
                <a:spcPts val="600"/>
              </a:spcAft>
              <a:defRPr sz="1100" b="0">
                <a:solidFill>
                  <a:srgbClr val="222222"/>
                </a:solidFill>
              </a:defRPr>
            </a:pPr>
            <a:r>
              <a:t>– vs MaxWeight: −31 % (high); vs fixed global quantile: −32 % (high); per-cell levels beat one global level</a:t>
            </a:r>
          </a:p>
          <a:p>
            <a:pPr>
              <a:spcAft>
                <a:spcPts val="600"/>
              </a:spcAft>
              <a:defRPr sz="1300" b="0">
                <a:solidFill>
                  <a:srgbClr val="222222"/>
                </a:solidFill>
              </a:defRPr>
            </a:pPr>
            <a:r>
              <a:t>• Gap to the oracle at high load: 8.0% vs 6.9%</a:t>
            </a:r>
          </a:p>
          <a:p>
            <a:pPr>
              <a:spcAft>
                <a:spcPts val="600"/>
              </a:spcAft>
              <a:defRPr sz="1300" b="0">
                <a:solidFill>
                  <a:srgbClr val="222222"/>
                </a:solidFill>
              </a:defRPr>
            </a:pPr>
            <a:r>
              <a:t>• Error bars are wide because burst timing differs by seed → compare seed by seed (next slide)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92640" cy="640080"/>
          </a:xfrm>
          <a:prstGeom prst="rect">
            <a:avLst/>
          </a:prstGeom>
          <a:noFill/>
        </p:spPr>
        <p:txBody>
          <a:bodyPr wrap="square">
            <a:spAutoFit/>
          </a:bodyPr>
          <a:lstStyle/>
          <a:p>
            <a:pPr>
              <a:defRPr sz="2400" b="1">
                <a:solidFill>
                  <a:srgbClr val="FFFFFF"/>
                </a:solidFill>
              </a:defRPr>
            </a:pPr>
            <a:r>
              <a:t>Results: seed-by-seed comparison on the same traffic</a:t>
            </a:r>
          </a:p>
        </p:txBody>
      </p:sp>
      <p:sp>
        <p:nvSpPr>
          <p:cNvPr id="4" name="TextBox 3"/>
          <p:cNvSpPr txBox="1"/>
          <p:nvPr/>
        </p:nvSpPr>
        <p:spPr>
          <a:xfrm>
            <a:off x="9966960" y="256032"/>
            <a:ext cx="2103120" cy="365760"/>
          </a:xfrm>
          <a:prstGeom prst="rect">
            <a:avLst/>
          </a:prstGeom>
          <a:noFill/>
        </p:spPr>
        <p:txBody>
          <a:bodyPr wrap="none">
            <a:spAutoFit/>
          </a:bodyPr>
          <a:lstStyle/>
          <a:p>
            <a:pPr algn="r">
              <a:defRPr sz="1100">
                <a:solidFill>
                  <a:srgbClr val="CFD8E3"/>
                </a:solidFill>
              </a:defRPr>
            </a:pPr>
            <a:r>
              <a:t>Part B: results</a:t>
            </a:r>
          </a:p>
        </p:txBody>
      </p:sp>
      <p:sp>
        <p:nvSpPr>
          <p:cNvPr id="5" name="TextBox 4"/>
          <p:cNvSpPr txBox="1"/>
          <p:nvPr/>
        </p:nvSpPr>
        <p:spPr>
          <a:xfrm>
            <a:off x="365760" y="6446520"/>
            <a:ext cx="11430000" cy="320040"/>
          </a:xfrm>
          <a:prstGeom prst="rect">
            <a:avLst/>
          </a:prstGeom>
          <a:noFill/>
        </p:spPr>
        <p:txBody>
          <a:bodyPr wrap="none">
            <a:spAutoFit/>
          </a:bodyPr>
          <a:lstStyle/>
          <a:p>
            <a:pPr algn="r">
              <a:defRPr sz="900">
                <a:solidFill>
                  <a:srgbClr val="555555"/>
                </a:solidFill>
              </a:defRPr>
            </a:pPr>
            <a:r>
              <a:t>BTP mid-evaluation  |  Fronthaul load management  |  13</a:t>
            </a:r>
          </a:p>
        </p:txBody>
      </p:sp>
      <p:pic>
        <p:nvPicPr>
          <p:cNvPr id="6" name="Picture 5" descr="fig8_paired_reduction.png"/>
          <p:cNvPicPr>
            <a:picLocks noChangeAspect="1"/>
          </p:cNvPicPr>
          <p:nvPr/>
        </p:nvPicPr>
        <p:blipFill>
          <a:blip r:embed="rId3"/>
          <a:stretch>
            <a:fillRect/>
          </a:stretch>
        </p:blipFill>
        <p:spPr>
          <a:xfrm>
            <a:off x="365760" y="1005840"/>
            <a:ext cx="7863840" cy="3661685"/>
          </a:xfrm>
          <a:prstGeom prst="rect">
            <a:avLst/>
          </a:prstGeom>
        </p:spPr>
      </p:pic>
      <p:sp>
        <p:nvSpPr>
          <p:cNvPr id="7" name="TextBox 6"/>
          <p:cNvSpPr txBox="1"/>
          <p:nvPr/>
        </p:nvSpPr>
        <p:spPr>
          <a:xfrm>
            <a:off x="8321040" y="1097280"/>
            <a:ext cx="3657600" cy="5120640"/>
          </a:xfrm>
          <a:prstGeom prst="rect">
            <a:avLst/>
          </a:prstGeom>
          <a:noFill/>
        </p:spPr>
        <p:txBody>
          <a:bodyPr wrap="square">
            <a:spAutoFit/>
          </a:bodyPr>
          <a:lstStyle/>
          <a:p>
            <a:pPr>
              <a:spcAft>
                <a:spcPts val="600"/>
              </a:spcAft>
              <a:defRPr sz="1300" b="1">
                <a:solidFill>
                  <a:srgbClr val="222222"/>
                </a:solidFill>
              </a:defRPr>
            </a:pPr>
            <a:r>
              <a:t>• Wins 20/20 seeds vs point forecast, deadline-aware reactive, MaxWeight and fixed quantile in every scenario (Holm-corrected Wilcoxon p &lt; 0.01)</a:t>
            </a:r>
          </a:p>
          <a:p>
            <a:pPr>
              <a:spcAft>
                <a:spcPts val="600"/>
              </a:spcAft>
              <a:defRPr sz="1300" b="0">
                <a:solidFill>
                  <a:srgbClr val="222222"/>
                </a:solidFill>
              </a:defRPr>
            </a:pPr>
            <a:r>
              <a:t>• vs reactive proportional: 20/20 in four scenarios; 16/20 under flash crowds (−4 %, p = 0.03)</a:t>
            </a:r>
          </a:p>
          <a:p>
            <a:pPr>
              <a:spcAft>
                <a:spcPts val="600"/>
              </a:spcAft>
              <a:defRPr sz="1300" b="1">
                <a:solidFill>
                  <a:srgbClr val="222222"/>
                </a:solidFill>
              </a:defRPr>
            </a:pPr>
            <a:r>
              <a:t>• ML ablation (same rule, simple window quantiles instead of the trained model):</a:t>
            </a:r>
          </a:p>
          <a:p>
            <a:pPr lvl="1">
              <a:spcAft>
                <a:spcPts val="600"/>
              </a:spcAft>
              <a:defRPr sz="1100" b="0">
                <a:solidFill>
                  <a:srgbClr val="222222"/>
                </a:solidFill>
              </a:defRPr>
            </a:pPr>
            <a:r>
              <a:t>– the model adds 2-37 %; least under the held-out shift (2 %) → the rule, not the model, carries most of the gain</a:t>
            </a:r>
          </a:p>
          <a:p>
            <a:pPr>
              <a:spcAft>
                <a:spcPts val="600"/>
              </a:spcAft>
              <a:defRPr sz="1300" b="0">
                <a:solidFill>
                  <a:srgbClr val="222222"/>
                </a:solidFill>
              </a:defRPr>
            </a:pPr>
            <a:r>
              <a:t>• Online calibration: no gain on normal traffic, harmful under shift (it over-reserves for low-latency cells and starves eMBB) → negative result</a:t>
            </a:r>
          </a:p>
          <a:p>
            <a:pPr>
              <a:spcAft>
                <a:spcPts val="600"/>
              </a:spcAft>
              <a:defRPr sz="1300" b="0">
                <a:solidFill>
                  <a:srgbClr val="222222"/>
                </a:solidFill>
              </a:defRPr>
            </a:pPr>
            <a:r>
              <a:t>• 20 seeds: paired per-seed differences, 95 % bootstrap CI, two-sided Wilcoxon signed-rank test with Holm correction (full table in the paper)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92640" cy="640080"/>
          </a:xfrm>
          <a:prstGeom prst="rect">
            <a:avLst/>
          </a:prstGeom>
          <a:noFill/>
        </p:spPr>
        <p:txBody>
          <a:bodyPr wrap="square">
            <a:spAutoFit/>
          </a:bodyPr>
          <a:lstStyle/>
          <a:p>
            <a:pPr>
              <a:defRPr sz="2400" b="1">
                <a:solidFill>
                  <a:srgbClr val="FFFFFF"/>
                </a:solidFill>
              </a:defRPr>
            </a:pPr>
            <a:r>
              <a:t>Where the gain comes from: low-latency vs eMBB (high load)</a:t>
            </a:r>
          </a:p>
        </p:txBody>
      </p:sp>
      <p:sp>
        <p:nvSpPr>
          <p:cNvPr id="4" name="TextBox 3"/>
          <p:cNvSpPr txBox="1"/>
          <p:nvPr/>
        </p:nvSpPr>
        <p:spPr>
          <a:xfrm>
            <a:off x="9966960" y="256032"/>
            <a:ext cx="2103120" cy="365760"/>
          </a:xfrm>
          <a:prstGeom prst="rect">
            <a:avLst/>
          </a:prstGeom>
          <a:noFill/>
        </p:spPr>
        <p:txBody>
          <a:bodyPr wrap="none">
            <a:spAutoFit/>
          </a:bodyPr>
          <a:lstStyle/>
          <a:p>
            <a:pPr algn="r">
              <a:defRPr sz="1100">
                <a:solidFill>
                  <a:srgbClr val="CFD8E3"/>
                </a:solidFill>
              </a:defRPr>
            </a:pPr>
            <a:r>
              <a:t>Part B: results</a:t>
            </a:r>
          </a:p>
        </p:txBody>
      </p:sp>
      <p:sp>
        <p:nvSpPr>
          <p:cNvPr id="5" name="TextBox 4"/>
          <p:cNvSpPr txBox="1"/>
          <p:nvPr/>
        </p:nvSpPr>
        <p:spPr>
          <a:xfrm>
            <a:off x="365760" y="6446520"/>
            <a:ext cx="11430000" cy="320040"/>
          </a:xfrm>
          <a:prstGeom prst="rect">
            <a:avLst/>
          </a:prstGeom>
          <a:noFill/>
        </p:spPr>
        <p:txBody>
          <a:bodyPr wrap="none">
            <a:spAutoFit/>
          </a:bodyPr>
          <a:lstStyle/>
          <a:p>
            <a:pPr algn="r">
              <a:defRPr sz="900">
                <a:solidFill>
                  <a:srgbClr val="555555"/>
                </a:solidFill>
              </a:defRPr>
            </a:pPr>
            <a:r>
              <a:t>BTP mid-evaluation  |  Fronthaul load management  |  14</a:t>
            </a:r>
          </a:p>
        </p:txBody>
      </p:sp>
      <p:pic>
        <p:nvPicPr>
          <p:cNvPr id="6" name="Picture 5" descr="fig2_class_breakdown_high.png"/>
          <p:cNvPicPr>
            <a:picLocks noChangeAspect="1"/>
          </p:cNvPicPr>
          <p:nvPr/>
        </p:nvPicPr>
        <p:blipFill>
          <a:blip r:embed="rId3"/>
          <a:stretch>
            <a:fillRect/>
          </a:stretch>
        </p:blipFill>
        <p:spPr>
          <a:xfrm>
            <a:off x="365760" y="1005840"/>
            <a:ext cx="11430000" cy="3905375"/>
          </a:xfrm>
          <a:prstGeom prst="rect">
            <a:avLst/>
          </a:prstGeom>
        </p:spPr>
      </p:pic>
      <p:sp>
        <p:nvSpPr>
          <p:cNvPr id="7" name="TextBox 6"/>
          <p:cNvSpPr txBox="1"/>
          <p:nvPr/>
        </p:nvSpPr>
        <p:spPr>
          <a:xfrm>
            <a:off x="457200" y="4754880"/>
            <a:ext cx="11247120" cy="1645920"/>
          </a:xfrm>
          <a:prstGeom prst="rect">
            <a:avLst/>
          </a:prstGeom>
          <a:noFill/>
        </p:spPr>
        <p:txBody>
          <a:bodyPr wrap="square">
            <a:spAutoFit/>
          </a:bodyPr>
          <a:lstStyle/>
          <a:p>
            <a:pPr>
              <a:spcAft>
                <a:spcPts val="600"/>
              </a:spcAft>
              <a:defRPr sz="1300" b="0">
                <a:solidFill>
                  <a:srgbClr val="222222"/>
                </a:solidFill>
              </a:defRPr>
            </a:pPr>
            <a:r>
              <a:t>• Reactive proportional: low-latency loss 14.7% vs 3.4% for proposed; controllers that ignore deadlines sacrifice the low-latency cells</a:t>
            </a:r>
          </a:p>
          <a:p>
            <a:pPr>
              <a:spcAft>
                <a:spcPts val="600"/>
              </a:spcAft>
              <a:defRPr sz="1300" b="0">
                <a:solidFill>
                  <a:srgbClr val="222222"/>
                </a:solidFill>
              </a:defRPr>
            </a:pPr>
            <a:r>
              <a:t>• Among deadline-aware controllers, proposed has the lowest eMBB loss (12.3% vs 16.0% for point forecast) and the highest utilisation (72.2%)</a:t>
            </a:r>
          </a:p>
          <a:p>
            <a:pPr>
              <a:spcAft>
                <a:spcPts val="600"/>
              </a:spcAft>
              <a:defRPr sz="1300" b="0">
                <a:solidFill>
                  <a:srgbClr val="222222"/>
                </a:solidFill>
              </a:defRPr>
            </a:pPr>
            <a:r>
              <a:t>• Even the oracle loses 13.4% of eMBB bits at 0.80 load: budgets fixed for 10 ms cannot follow heavy bursts → the control interval matters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92640" cy="640080"/>
          </a:xfrm>
          <a:prstGeom prst="rect">
            <a:avLst/>
          </a:prstGeom>
          <a:noFill/>
        </p:spPr>
        <p:txBody>
          <a:bodyPr wrap="square">
            <a:spAutoFit/>
          </a:bodyPr>
          <a:lstStyle/>
          <a:p>
            <a:pPr>
              <a:defRPr sz="2400" b="1">
                <a:solidFill>
                  <a:srgbClr val="FFFFFF"/>
                </a:solidFill>
              </a:defRPr>
            </a:pPr>
            <a:r>
              <a:t>Both levers on the same traffic: compression × allocation</a:t>
            </a:r>
          </a:p>
        </p:txBody>
      </p:sp>
      <p:sp>
        <p:nvSpPr>
          <p:cNvPr id="4" name="TextBox 3"/>
          <p:cNvSpPr txBox="1"/>
          <p:nvPr/>
        </p:nvSpPr>
        <p:spPr>
          <a:xfrm>
            <a:off x="9966960" y="256032"/>
            <a:ext cx="2103120" cy="365760"/>
          </a:xfrm>
          <a:prstGeom prst="rect">
            <a:avLst/>
          </a:prstGeom>
          <a:noFill/>
        </p:spPr>
        <p:txBody>
          <a:bodyPr wrap="none">
            <a:spAutoFit/>
          </a:bodyPr>
          <a:lstStyle/>
          <a:p>
            <a:pPr algn="r">
              <a:defRPr sz="1100">
                <a:solidFill>
                  <a:srgbClr val="CFD8E3"/>
                </a:solidFill>
              </a:defRPr>
            </a:pPr>
            <a:r>
              <a:t>A + B</a:t>
            </a:r>
          </a:p>
        </p:txBody>
      </p:sp>
      <p:sp>
        <p:nvSpPr>
          <p:cNvPr id="5" name="TextBox 4"/>
          <p:cNvSpPr txBox="1"/>
          <p:nvPr/>
        </p:nvSpPr>
        <p:spPr>
          <a:xfrm>
            <a:off x="365760" y="6446520"/>
            <a:ext cx="11430000" cy="320040"/>
          </a:xfrm>
          <a:prstGeom prst="rect">
            <a:avLst/>
          </a:prstGeom>
          <a:noFill/>
        </p:spPr>
        <p:txBody>
          <a:bodyPr wrap="none">
            <a:spAutoFit/>
          </a:bodyPr>
          <a:lstStyle/>
          <a:p>
            <a:pPr algn="r">
              <a:defRPr sz="900">
                <a:solidFill>
                  <a:srgbClr val="555555"/>
                </a:solidFill>
              </a:defRPr>
            </a:pPr>
            <a:r>
              <a:t>BTP mid-evaluation  |  Fronthaul load management  |  15</a:t>
            </a:r>
          </a:p>
        </p:txBody>
      </p:sp>
      <p:pic>
        <p:nvPicPr>
          <p:cNvPr id="6" name="Picture 5" descr="fig9_compression_vs_allocation.png"/>
          <p:cNvPicPr>
            <a:picLocks noChangeAspect="1"/>
          </p:cNvPicPr>
          <p:nvPr/>
        </p:nvPicPr>
        <p:blipFill>
          <a:blip r:embed="rId3"/>
          <a:stretch>
            <a:fillRect/>
          </a:stretch>
        </p:blipFill>
        <p:spPr>
          <a:xfrm>
            <a:off x="365760" y="1005840"/>
            <a:ext cx="7680960" cy="3840480"/>
          </a:xfrm>
          <a:prstGeom prst="rect">
            <a:avLst/>
          </a:prstGeom>
        </p:spPr>
      </p:pic>
      <p:sp>
        <p:nvSpPr>
          <p:cNvPr id="7" name="TextBox 6"/>
          <p:cNvSpPr txBox="1"/>
          <p:nvPr/>
        </p:nvSpPr>
        <p:spPr>
          <a:xfrm>
            <a:off x="8138160" y="1051560"/>
            <a:ext cx="3931920" cy="5212080"/>
          </a:xfrm>
          <a:prstGeom prst="rect">
            <a:avLst/>
          </a:prstGeom>
          <a:noFill/>
        </p:spPr>
        <p:txBody>
          <a:bodyPr wrap="square">
            <a:spAutoFit/>
          </a:bodyPr>
          <a:lstStyle/>
          <a:p>
            <a:pPr>
              <a:spcAft>
                <a:spcPts val="400"/>
              </a:spcAft>
              <a:defRPr sz="1200" b="1">
                <a:solidFill>
                  <a:srgbClr val="222222"/>
                </a:solidFill>
              </a:defRPr>
            </a:pPr>
            <a:r>
              <a:t>• Same user traffic, 10 seeds, scenario 'moderate'; only the BFP width changes</a:t>
            </a:r>
          </a:p>
          <a:p>
            <a:pPr lvl="1">
              <a:spcAft>
                <a:spcPts val="400"/>
              </a:spcAft>
              <a:defRPr sz="1000" b="0">
                <a:solidFill>
                  <a:srgbClr val="222222"/>
                </a:solidFill>
              </a:defRPr>
            </a:pPr>
            <a:r>
              <a:t>– BFP-6: load 0.44 → proposed 0.11%, reactive prop. 0.22%; best = proposed</a:t>
            </a:r>
          </a:p>
          <a:p>
            <a:pPr lvl="1">
              <a:spcAft>
                <a:spcPts val="400"/>
              </a:spcAft>
              <a:defRPr sz="1000" b="0">
                <a:solidFill>
                  <a:srgbClr val="222222"/>
                </a:solidFill>
              </a:defRPr>
            </a:pPr>
            <a:r>
              <a:t>– BFP-9: load 0.65 → proposed 1.96%, reactive prop. 3.90%; best = proposed</a:t>
            </a:r>
          </a:p>
          <a:p>
            <a:pPr lvl="1">
              <a:spcAft>
                <a:spcPts val="400"/>
              </a:spcAft>
              <a:defRPr sz="1000" b="0">
                <a:solidFill>
                  <a:srgbClr val="222222"/>
                </a:solidFill>
              </a:defRPr>
            </a:pPr>
            <a:r>
              <a:t>– BFP-12: load 0.86 → proposed 12.01%, reactive prop. 11.37%; best = reactive prop.</a:t>
            </a:r>
          </a:p>
          <a:p>
            <a:pPr lvl="1">
              <a:spcAft>
                <a:spcPts val="400"/>
              </a:spcAft>
              <a:defRPr sz="1000" b="0">
                <a:solidFill>
                  <a:srgbClr val="222222"/>
                </a:solidFill>
              </a:defRPr>
            </a:pPr>
            <a:r>
              <a:t>– BFP-14: load 0.99 → proposed 20.81%, reactive prop. 17.29%; best = reactive prop.</a:t>
            </a:r>
          </a:p>
          <a:p>
            <a:pPr>
              <a:spcAft>
                <a:spcPts val="400"/>
              </a:spcAft>
              <a:defRPr sz="1200" b="1">
                <a:solidFill>
                  <a:srgbClr val="222222"/>
                </a:solidFill>
              </a:defRPr>
            </a:pPr>
            <a:r>
              <a:t>• Compression sets the regime; allocation helps most between ~0.5 and ~0.8 load</a:t>
            </a:r>
          </a:p>
          <a:p>
            <a:pPr>
              <a:spcAft>
                <a:spcPts val="400"/>
              </a:spcAft>
              <a:defRPr sz="1200" b="0">
                <a:solidFill>
                  <a:srgbClr val="222222"/>
                </a:solidFill>
              </a:defRPr>
            </a:pPr>
            <a:r>
              <a:t>• At ~1.0 load no allocation rule helps; compress more (Part A) or add capacity</a:t>
            </a:r>
          </a:p>
          <a:p>
            <a:pPr>
              <a:spcAft>
                <a:spcPts val="400"/>
              </a:spcAft>
              <a:defRPr sz="1200" b="0">
                <a:solidFill>
                  <a:srgbClr val="222222"/>
                </a:solidFill>
              </a:defRPr>
            </a:pPr>
            <a:r>
              <a:t>• Not modelled: the signal-quality cost of fewer bits (Part A's NMSE curves cover that side)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92640" cy="640080"/>
          </a:xfrm>
          <a:prstGeom prst="rect">
            <a:avLst/>
          </a:prstGeom>
          <a:noFill/>
        </p:spPr>
        <p:txBody>
          <a:bodyPr wrap="square">
            <a:spAutoFit/>
          </a:bodyPr>
          <a:lstStyle/>
          <a:p>
            <a:pPr>
              <a:defRPr sz="2400" b="1">
                <a:solidFill>
                  <a:srgbClr val="FFFFFF"/>
                </a:solidFill>
              </a:defRPr>
            </a:pPr>
            <a:r>
              <a:t>Ablations: forecast quality and control interval</a:t>
            </a:r>
          </a:p>
        </p:txBody>
      </p:sp>
      <p:sp>
        <p:nvSpPr>
          <p:cNvPr id="4" name="TextBox 3"/>
          <p:cNvSpPr txBox="1"/>
          <p:nvPr/>
        </p:nvSpPr>
        <p:spPr>
          <a:xfrm>
            <a:off x="9966960" y="256032"/>
            <a:ext cx="2103120" cy="365760"/>
          </a:xfrm>
          <a:prstGeom prst="rect">
            <a:avLst/>
          </a:prstGeom>
          <a:noFill/>
        </p:spPr>
        <p:txBody>
          <a:bodyPr wrap="none">
            <a:spAutoFit/>
          </a:bodyPr>
          <a:lstStyle/>
          <a:p>
            <a:pPr algn="r">
              <a:defRPr sz="1100">
                <a:solidFill>
                  <a:srgbClr val="CFD8E3"/>
                </a:solidFill>
              </a:defRPr>
            </a:pPr>
            <a:r>
              <a:t>Part B: ablation</a:t>
            </a:r>
          </a:p>
        </p:txBody>
      </p:sp>
      <p:sp>
        <p:nvSpPr>
          <p:cNvPr id="5" name="TextBox 4"/>
          <p:cNvSpPr txBox="1"/>
          <p:nvPr/>
        </p:nvSpPr>
        <p:spPr>
          <a:xfrm>
            <a:off x="365760" y="6446520"/>
            <a:ext cx="11430000" cy="320040"/>
          </a:xfrm>
          <a:prstGeom prst="rect">
            <a:avLst/>
          </a:prstGeom>
          <a:noFill/>
        </p:spPr>
        <p:txBody>
          <a:bodyPr wrap="none">
            <a:spAutoFit/>
          </a:bodyPr>
          <a:lstStyle/>
          <a:p>
            <a:pPr algn="r">
              <a:defRPr sz="900">
                <a:solidFill>
                  <a:srgbClr val="555555"/>
                </a:solidFill>
              </a:defRPr>
            </a:pPr>
            <a:r>
              <a:t>BTP mid-evaluation  |  Fronthaul load management  |  16</a:t>
            </a:r>
          </a:p>
        </p:txBody>
      </p:sp>
      <p:pic>
        <p:nvPicPr>
          <p:cNvPr id="6" name="Picture 5" descr="fig5_forecast_quality.png"/>
          <p:cNvPicPr>
            <a:picLocks noChangeAspect="1"/>
          </p:cNvPicPr>
          <p:nvPr/>
        </p:nvPicPr>
        <p:blipFill>
          <a:blip r:embed="rId3"/>
          <a:stretch>
            <a:fillRect/>
          </a:stretch>
        </p:blipFill>
        <p:spPr>
          <a:xfrm>
            <a:off x="274320" y="1005840"/>
            <a:ext cx="5852160" cy="2743438"/>
          </a:xfrm>
          <a:prstGeom prst="rect">
            <a:avLst/>
          </a:prstGeom>
        </p:spPr>
      </p:pic>
      <p:pic>
        <p:nvPicPr>
          <p:cNvPr id="7" name="Picture 6" descr="fig4_interval_sweep.png"/>
          <p:cNvPicPr>
            <a:picLocks noChangeAspect="1"/>
          </p:cNvPicPr>
          <p:nvPr/>
        </p:nvPicPr>
        <p:blipFill>
          <a:blip r:embed="rId4"/>
          <a:stretch>
            <a:fillRect/>
          </a:stretch>
        </p:blipFill>
        <p:spPr>
          <a:xfrm>
            <a:off x="6217920" y="1005840"/>
            <a:ext cx="5760720" cy="2794839"/>
          </a:xfrm>
          <a:prstGeom prst="rect">
            <a:avLst/>
          </a:prstGeom>
        </p:spPr>
      </p:pic>
      <p:sp>
        <p:nvSpPr>
          <p:cNvPr id="8" name="TextBox 7"/>
          <p:cNvSpPr txBox="1"/>
          <p:nvPr/>
        </p:nvSpPr>
        <p:spPr>
          <a:xfrm>
            <a:off x="457200" y="4114800"/>
            <a:ext cx="11247120" cy="2194560"/>
          </a:xfrm>
          <a:prstGeom prst="rect">
            <a:avLst/>
          </a:prstGeom>
          <a:noFill/>
        </p:spPr>
        <p:txBody>
          <a:bodyPr wrap="square">
            <a:spAutoFit/>
          </a:bodyPr>
          <a:lstStyle/>
          <a:p>
            <a:pPr>
              <a:spcAft>
                <a:spcPts val="400"/>
              </a:spcAft>
              <a:defRPr sz="1200" b="0">
                <a:solidFill>
                  <a:srgbClr val="222222"/>
                </a:solidFill>
              </a:defRPr>
            </a:pPr>
            <a:r>
              <a:t>• Validation: the 5 / 50 / 95 % quantiles are exceeded 5.6% / 50.7% / 94.9% of the time (well calibrated); median error 37% vs 52% for persistence</a:t>
            </a:r>
          </a:p>
          <a:p>
            <a:pPr>
              <a:spcAft>
                <a:spcPts val="400"/>
              </a:spcAft>
              <a:defRPr sz="1200" b="1">
                <a:solidFill>
                  <a:srgbClr val="222222"/>
                </a:solidFill>
              </a:defRPr>
            </a:pPr>
            <a:r>
              <a:t>• Interval sweep (scenario high, 10 seeds). Reduction by proposed vs deadline-aware reactive / vs reactive proportional / vs oracle water-fill:</a:t>
            </a:r>
          </a:p>
          <a:p>
            <a:pPr lvl="1">
              <a:spcAft>
                <a:spcPts val="400"/>
              </a:spcAft>
              <a:defRPr sz="1000" b="0">
                <a:solidFill>
                  <a:srgbClr val="222222"/>
                </a:solidFill>
              </a:defRPr>
            </a:pPr>
            <a:r>
              <a:t>–    T=2 ms: +61% / +22% / +55%   |   T=5 ms: +50% / +32% / +16%   |   T=10 ms: +28% / +13% / -16%   |   T=20 ms: +17% / -11% / -21%</a:t>
            </a:r>
          </a:p>
          <a:p>
            <a:pPr>
              <a:spcAft>
                <a:spcPts val="400"/>
              </a:spcAft>
              <a:defRPr sz="1200" b="0">
                <a:solidFill>
                  <a:srgbClr val="222222"/>
                </a:solidFill>
              </a:defRPr>
            </a:pPr>
            <a:r>
              <a:t>• At T = 2 ms the rule even beats the oracle water-fill (perfect single-number forecast) → the allocation rule, not only the forecast, does the work</a:t>
            </a:r>
          </a:p>
          <a:p>
            <a:pPr>
              <a:spcAft>
                <a:spcPts val="400"/>
              </a:spcAft>
              <a:defRPr sz="1200" b="0">
                <a:solidFill>
                  <a:srgbClr val="222222"/>
                </a:solidFill>
              </a:defRPr>
            </a:pPr>
            <a:r>
              <a:t>• At T = 20 ms (5× the low-latency deadline) reserving the low-latency peak rate wastes capacity and reactive proportional wins → the method is for intervals up to a few times the shortest deadline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92640" cy="640080"/>
          </a:xfrm>
          <a:prstGeom prst="rect">
            <a:avLst/>
          </a:prstGeom>
          <a:noFill/>
        </p:spPr>
        <p:txBody>
          <a:bodyPr wrap="square">
            <a:spAutoFit/>
          </a:bodyPr>
          <a:lstStyle/>
          <a:p>
            <a:pPr>
              <a:defRPr sz="2400" b="1">
                <a:solidFill>
                  <a:srgbClr val="FFFFFF"/>
                </a:solidFill>
              </a:defRPr>
            </a:pPr>
            <a:r>
              <a:t>Limitations and honest status</a:t>
            </a:r>
          </a:p>
        </p:txBody>
      </p:sp>
      <p:sp>
        <p:nvSpPr>
          <p:cNvPr id="4" name="TextBox 3"/>
          <p:cNvSpPr txBox="1"/>
          <p:nvPr/>
        </p:nvSpPr>
        <p:spPr>
          <a:xfrm>
            <a:off x="9966960" y="256032"/>
            <a:ext cx="2103120" cy="365760"/>
          </a:xfrm>
          <a:prstGeom prst="rect">
            <a:avLst/>
          </a:prstGeom>
          <a:noFill/>
        </p:spPr>
        <p:txBody>
          <a:bodyPr wrap="none">
            <a:spAutoFit/>
          </a:bodyPr>
          <a:lstStyle/>
          <a:p>
            <a:pPr algn="r">
              <a:defRPr sz="1100">
                <a:solidFill>
                  <a:srgbClr val="CFD8E3"/>
                </a:solidFill>
              </a:defRPr>
            </a:pPr>
            <a:r>
              <a:t>Status</a:t>
            </a:r>
          </a:p>
        </p:txBody>
      </p:sp>
      <p:sp>
        <p:nvSpPr>
          <p:cNvPr id="5" name="TextBox 4"/>
          <p:cNvSpPr txBox="1"/>
          <p:nvPr/>
        </p:nvSpPr>
        <p:spPr>
          <a:xfrm>
            <a:off x="365760" y="6446520"/>
            <a:ext cx="11430000" cy="320040"/>
          </a:xfrm>
          <a:prstGeom prst="rect">
            <a:avLst/>
          </a:prstGeom>
          <a:noFill/>
        </p:spPr>
        <p:txBody>
          <a:bodyPr wrap="none">
            <a:spAutoFit/>
          </a:bodyPr>
          <a:lstStyle/>
          <a:p>
            <a:pPr algn="r">
              <a:defRPr sz="900">
                <a:solidFill>
                  <a:srgbClr val="555555"/>
                </a:solidFill>
              </a:defRPr>
            </a:pPr>
            <a:r>
              <a:t>BTP mid-evaluation  |  Fronthaul load management  |  17</a:t>
            </a:r>
          </a:p>
        </p:txBody>
      </p:sp>
      <p:sp>
        <p:nvSpPr>
          <p:cNvPr id="6" name="TextBox 5"/>
          <p:cNvSpPr txBox="1"/>
          <p:nvPr/>
        </p:nvSpPr>
        <p:spPr>
          <a:xfrm>
            <a:off x="457200" y="1005840"/>
            <a:ext cx="11247120" cy="5303520"/>
          </a:xfrm>
          <a:prstGeom prst="rect">
            <a:avLst/>
          </a:prstGeom>
          <a:noFill/>
        </p:spPr>
        <p:txBody>
          <a:bodyPr wrap="square">
            <a:spAutoFit/>
          </a:bodyPr>
          <a:lstStyle/>
          <a:p>
            <a:pPr>
              <a:spcAft>
                <a:spcPts val="600"/>
              </a:spcAft>
              <a:defRPr sz="1400" b="1">
                <a:solidFill>
                  <a:srgbClr val="222222"/>
                </a:solidFill>
              </a:defRPr>
            </a:pPr>
            <a:r>
              <a:t>• Part A: compression numbers are quoted from the earlier report and saved figures; the src/ package is not in the repo, so they are not re-run. The matrix-inversion benchmark is re-runnable (needs PyTorch)</a:t>
            </a:r>
          </a:p>
          <a:p>
            <a:pPr>
              <a:spcAft>
                <a:spcPts val="600"/>
              </a:spcAft>
              <a:defRPr sz="1400" b="0">
                <a:solidFill>
                  <a:srgbClr val="222222"/>
                </a:solidFill>
              </a:defRPr>
            </a:pPr>
            <a:r>
              <a:t>• Part A: benchmark matrices are random and well-conditioned; real channel matrices can be worse</a:t>
            </a:r>
          </a:p>
          <a:p>
            <a:pPr>
              <a:spcAft>
                <a:spcPts val="600"/>
              </a:spcAft>
              <a:defRPr sz="1400" b="1">
                <a:solidFill>
                  <a:srgbClr val="222222"/>
                </a:solidFill>
              </a:defRPr>
            </a:pPr>
            <a:r>
              <a:t>• Part B: synthetic traffic only; no real radio-unit traces, so no real-world validation is claimed</a:t>
            </a:r>
          </a:p>
          <a:p>
            <a:pPr>
              <a:spcAft>
                <a:spcPts val="600"/>
              </a:spcAft>
              <a:defRPr sz="1400" b="0">
                <a:solidFill>
                  <a:srgbClr val="222222"/>
                </a:solidFill>
              </a:defRPr>
            </a:pPr>
            <a:r>
              <a:t>• Not a universal win: only ≈ 4 % better than reactive proportional under flash crowds; loses to it at 20 ms intervals, at ~0.85+ load and when telemetry is ≥ 5 ms old; the ML model adds ≈ 2 % under the held-out shift</a:t>
            </a:r>
          </a:p>
          <a:p>
            <a:pPr>
              <a:spcAft>
                <a:spcPts val="600"/>
              </a:spcAft>
              <a:defRPr sz="1400" b="0">
                <a:solidFill>
                  <a:srgbClr val="222222"/>
                </a:solidFill>
              </a:defRPr>
            </a:pPr>
            <a:r>
              <a:t>• Online calibration (ACI) did not help; reported as a negative result; the simple-quantile variant is the current fallback</a:t>
            </a:r>
          </a:p>
          <a:p>
            <a:pPr>
              <a:spcAft>
                <a:spcPts val="600"/>
              </a:spcAft>
              <a:defRPr sz="1400" b="0">
                <a:solidFill>
                  <a:srgbClr val="222222"/>
                </a:solidFill>
              </a:defRPr>
            </a:pPr>
            <a:r>
              <a:t>• 20 test seeds, paired bootstrap CIs and Holm-corrected Wilcoxon tests; still one synthetic traffic generator, so no real-world claim</a:t>
            </a:r>
          </a:p>
          <a:p>
            <a:pPr>
              <a:spcAft>
                <a:spcPts val="600"/>
              </a:spcAft>
              <a:defRPr sz="1400" b="0">
                <a:solidFill>
                  <a:srgbClr val="222222"/>
                </a:solidFill>
              </a:defRPr>
            </a:pPr>
            <a:r>
              <a:t>• Simplified link: a budget-enforced pipe, no switch queue, one traffic class per cell, no HARQ feedback; 'violation' is a DU queueing deadline, not end-to-end latency</a:t>
            </a:r>
          </a:p>
          <a:p>
            <a:pPr>
              <a:spcAft>
                <a:spcPts val="600"/>
              </a:spcAft>
              <a:defRPr sz="1400" b="0">
                <a:solidFill>
                  <a:srgbClr val="222222"/>
                </a:solidFill>
              </a:defRPr>
            </a:pPr>
            <a:r>
              <a:t>• Decision time ≈ 3.2 ms per 10-ms epoch in Python (reactive baselines ≈ 0.1 ms); a real DU would need a compiled version</a:t>
            </a:r>
          </a:p>
          <a:p>
            <a:pPr>
              <a:spcAft>
                <a:spcPts val="600"/>
              </a:spcAft>
              <a:defRPr sz="1400" b="0">
                <a:solidFill>
                  <a:srgbClr val="222222"/>
                </a:solidFill>
              </a:defRPr>
            </a:pPr>
            <a:r>
              <a:t>• Proofs cover feasibility, equal weighted risk, backlog-first and bounded loss under forecast miscalibration; no stability or closed-loop optimality claims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92640" cy="640080"/>
          </a:xfrm>
          <a:prstGeom prst="rect">
            <a:avLst/>
          </a:prstGeom>
          <a:noFill/>
        </p:spPr>
        <p:txBody>
          <a:bodyPr wrap="square">
            <a:spAutoFit/>
          </a:bodyPr>
          <a:lstStyle/>
          <a:p>
            <a:pPr>
              <a:defRPr sz="2400" b="1">
                <a:solidFill>
                  <a:srgbClr val="FFFFFF"/>
                </a:solidFill>
              </a:defRPr>
            </a:pPr>
            <a:r>
              <a:t>Status and remaining work toward the final evaluation</a:t>
            </a:r>
          </a:p>
        </p:txBody>
      </p:sp>
      <p:sp>
        <p:nvSpPr>
          <p:cNvPr id="4" name="TextBox 3"/>
          <p:cNvSpPr txBox="1"/>
          <p:nvPr/>
        </p:nvSpPr>
        <p:spPr>
          <a:xfrm>
            <a:off x="9966960" y="256032"/>
            <a:ext cx="2103120" cy="365760"/>
          </a:xfrm>
          <a:prstGeom prst="rect">
            <a:avLst/>
          </a:prstGeom>
          <a:noFill/>
        </p:spPr>
        <p:txBody>
          <a:bodyPr wrap="none">
            <a:spAutoFit/>
          </a:bodyPr>
          <a:lstStyle/>
          <a:p>
            <a:pPr algn="r">
              <a:defRPr sz="1100">
                <a:solidFill>
                  <a:srgbClr val="CFD8E3"/>
                </a:solidFill>
              </a:defRPr>
            </a:pPr>
            <a:r>
              <a:t>Plan</a:t>
            </a:r>
          </a:p>
        </p:txBody>
      </p:sp>
      <p:sp>
        <p:nvSpPr>
          <p:cNvPr id="5" name="TextBox 4"/>
          <p:cNvSpPr txBox="1"/>
          <p:nvPr/>
        </p:nvSpPr>
        <p:spPr>
          <a:xfrm>
            <a:off x="365760" y="6446520"/>
            <a:ext cx="11430000" cy="320040"/>
          </a:xfrm>
          <a:prstGeom prst="rect">
            <a:avLst/>
          </a:prstGeom>
          <a:noFill/>
        </p:spPr>
        <p:txBody>
          <a:bodyPr wrap="none">
            <a:spAutoFit/>
          </a:bodyPr>
          <a:lstStyle/>
          <a:p>
            <a:pPr algn="r">
              <a:defRPr sz="900">
                <a:solidFill>
                  <a:srgbClr val="555555"/>
                </a:solidFill>
              </a:defRPr>
            </a:pPr>
            <a:r>
              <a:t>BTP mid-evaluation  |  Fronthaul load management  |  18</a:t>
            </a:r>
          </a:p>
        </p:txBody>
      </p:sp>
      <p:sp>
        <p:nvSpPr>
          <p:cNvPr id="6" name="Rounded Rectangle 5"/>
          <p:cNvSpPr/>
          <p:nvPr/>
        </p:nvSpPr>
        <p:spPr>
          <a:xfrm>
            <a:off x="457200" y="1051560"/>
            <a:ext cx="5486400" cy="457200"/>
          </a:xfrm>
          <a:prstGeom prst="roundRect">
            <a:avLst/>
          </a:prstGeom>
          <a:solidFill>
            <a:srgbClr val="2E7D32"/>
          </a:solidFill>
          <a:ln w="9525">
            <a:solidFill>
              <a:srgbClr val="B0B8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defRPr>
            </a:pPr>
            <a:r>
              <a:t>Done and checked</a:t>
            </a:r>
          </a:p>
        </p:txBody>
      </p:sp>
      <p:sp>
        <p:nvSpPr>
          <p:cNvPr id="7" name="TextBox 6"/>
          <p:cNvSpPr txBox="1"/>
          <p:nvPr/>
        </p:nvSpPr>
        <p:spPr>
          <a:xfrm>
            <a:off x="457200" y="1600200"/>
            <a:ext cx="5486400" cy="4572000"/>
          </a:xfrm>
          <a:prstGeom prst="rect">
            <a:avLst/>
          </a:prstGeom>
          <a:noFill/>
        </p:spPr>
        <p:txBody>
          <a:bodyPr wrap="square">
            <a:spAutoFit/>
          </a:bodyPr>
          <a:lstStyle/>
          <a:p>
            <a:pPr>
              <a:spcAft>
                <a:spcPts val="600"/>
              </a:spcAft>
              <a:defRPr sz="1300" b="0">
                <a:solidFill>
                  <a:srgbClr val="222222"/>
                </a:solidFill>
              </a:defRPr>
            </a:pPr>
            <a:r>
              <a:t>• Part A: compression study (BFP, SVD, RAS-BFP, CSEE, ACAFS): 4 figure suites + report</a:t>
            </a:r>
          </a:p>
          <a:p>
            <a:pPr>
              <a:spcAft>
                <a:spcPts val="600"/>
              </a:spcAft>
              <a:defRPr sz="1300" b="0">
                <a:solidFill>
                  <a:srgbClr val="222222"/>
                </a:solidFill>
              </a:defRPr>
            </a:pPr>
            <a:r>
              <a:t>• Part A: matrix-inversion benchmark (LU, QR, SVD, Newton-Schulz, learned inverters; n = 10/100/500): CSV + figure</a:t>
            </a:r>
          </a:p>
          <a:p>
            <a:pPr>
              <a:spcAft>
                <a:spcPts val="600"/>
              </a:spcAft>
              <a:defRPr sz="1300" b="0">
                <a:solidFill>
                  <a:srgbClr val="222222"/>
                </a:solidFill>
              </a:defRPr>
            </a:pPr>
            <a:r>
              <a:t>• Part B: slot-level shared-link simulator with deadlines, priorities, telemetry delay (14 tests)</a:t>
            </a:r>
          </a:p>
          <a:p>
            <a:pPr>
              <a:spcAft>
                <a:spcPts val="600"/>
              </a:spcAft>
              <a:defRPr sz="1300" b="0">
                <a:solidFill>
                  <a:srgbClr val="222222"/>
                </a:solidFill>
              </a:defRPr>
            </a:pPr>
            <a:r>
              <a:t>• Part B: 5 reference controllers, tuned on validation seeds; quantile forecaster, calibrated on validation</a:t>
            </a:r>
          </a:p>
          <a:p>
            <a:pPr>
              <a:spcAft>
                <a:spcPts val="600"/>
              </a:spcAft>
              <a:defRPr sz="1300" b="0">
                <a:solidFill>
                  <a:srgbClr val="222222"/>
                </a:solidFill>
              </a:defRPr>
            </a:pPr>
            <a:r>
              <a:t>• Part B: KKT allocation rule with feasibility proof; 200-run comparison, seed-by-seed analysis, interval sweep</a:t>
            </a:r>
          </a:p>
          <a:p>
            <a:pPr>
              <a:spcAft>
                <a:spcPts val="600"/>
              </a:spcAft>
              <a:defRPr sz="1300" b="0">
                <a:solidFill>
                  <a:srgbClr val="222222"/>
                </a:solidFill>
              </a:defRPr>
            </a:pPr>
            <a:r>
              <a:t>• A + B: compression × allocation experiment; all figures and this deck regenerated by scripts</a:t>
            </a:r>
          </a:p>
        </p:txBody>
      </p:sp>
      <p:sp>
        <p:nvSpPr>
          <p:cNvPr id="8" name="Rounded Rectangle 7"/>
          <p:cNvSpPr/>
          <p:nvPr/>
        </p:nvSpPr>
        <p:spPr>
          <a:xfrm>
            <a:off x="6309360" y="1051560"/>
            <a:ext cx="5486400" cy="457200"/>
          </a:xfrm>
          <a:prstGeom prst="roundRect">
            <a:avLst/>
          </a:prstGeom>
          <a:solidFill>
            <a:srgbClr val="EF6C00"/>
          </a:solidFill>
          <a:ln w="9525">
            <a:solidFill>
              <a:srgbClr val="B0B8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defRPr>
            </a:pPr>
            <a:r>
              <a:t>Planned (not done yet)</a:t>
            </a:r>
          </a:p>
        </p:txBody>
      </p:sp>
      <p:sp>
        <p:nvSpPr>
          <p:cNvPr id="9" name="TextBox 8"/>
          <p:cNvSpPr txBox="1"/>
          <p:nvPr/>
        </p:nvSpPr>
        <p:spPr>
          <a:xfrm>
            <a:off x="6309360" y="1600200"/>
            <a:ext cx="5486400" cy="4572000"/>
          </a:xfrm>
          <a:prstGeom prst="rect">
            <a:avLst/>
          </a:prstGeom>
          <a:noFill/>
        </p:spPr>
        <p:txBody>
          <a:bodyPr wrap="square">
            <a:spAutoFit/>
          </a:bodyPr>
          <a:lstStyle/>
          <a:p>
            <a:pPr>
              <a:spcAft>
                <a:spcPts val="600"/>
              </a:spcAft>
              <a:defRPr sz="1300" b="0">
                <a:solidFill>
                  <a:srgbClr val="222222"/>
                </a:solidFill>
              </a:defRPr>
            </a:pPr>
            <a:r>
              <a:t>• Part A: restore the compression src/ package into the repo and re-run Exp 1-4; benchmark on realistic channel matrices</a:t>
            </a:r>
          </a:p>
          <a:p>
            <a:pPr>
              <a:spcAft>
                <a:spcPts val="600"/>
              </a:spcAft>
              <a:defRPr sz="1300" b="0">
                <a:solidFill>
                  <a:srgbClr val="222222"/>
                </a:solidFill>
              </a:defRPr>
            </a:pPr>
            <a:r>
              <a:t>• A + B: make the compression width a second knob of the allocation rule (trade signal quality for load per cell)</a:t>
            </a:r>
          </a:p>
          <a:p>
            <a:pPr>
              <a:spcAft>
                <a:spcPts val="600"/>
              </a:spcAft>
              <a:defRPr sz="1300" b="0">
                <a:solidFill>
                  <a:srgbClr val="222222"/>
                </a:solidFill>
              </a:defRPr>
            </a:pPr>
            <a:r>
              <a:t>• Part B: real or public traffic traces → re-check the forecaster</a:t>
            </a:r>
          </a:p>
          <a:p>
            <a:pPr>
              <a:spcAft>
                <a:spcPts val="600"/>
              </a:spcAft>
              <a:defRPr sz="1300" b="0">
                <a:solidFill>
                  <a:srgbClr val="222222"/>
                </a:solidFill>
              </a:defRPr>
            </a:pPr>
            <a:r>
              <a:t>• Part B: skill-weighted mix of trained and simple quantiles as the fallback (instead of ACI)</a:t>
            </a:r>
          </a:p>
          <a:p>
            <a:pPr>
              <a:spcAft>
                <a:spcPts val="600"/>
              </a:spcAft>
              <a:defRPr sz="1300" b="0">
                <a:solidFill>
                  <a:srgbClr val="222222"/>
                </a:solidFill>
              </a:defRPr>
            </a:pPr>
            <a:r>
              <a:t>• Part B: switch-level packet queue and timing window instead of a budget-enforced pipe; more seeds</a:t>
            </a:r>
          </a:p>
          <a:p>
            <a:pPr>
              <a:spcAft>
                <a:spcPts val="600"/>
              </a:spcAft>
              <a:defRPr sz="1300" b="0">
                <a:solidFill>
                  <a:srgbClr val="222222"/>
                </a:solidFill>
              </a:defRPr>
            </a:pPr>
            <a:r>
              <a:t>• Compiled (C++/numba) decision so the 3 ms Python time fits a real DU</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92640" cy="640080"/>
          </a:xfrm>
          <a:prstGeom prst="rect">
            <a:avLst/>
          </a:prstGeom>
          <a:noFill/>
        </p:spPr>
        <p:txBody>
          <a:bodyPr wrap="square">
            <a:spAutoFit/>
          </a:bodyPr>
          <a:lstStyle/>
          <a:p>
            <a:pPr>
              <a:defRPr sz="2400" b="1">
                <a:solidFill>
                  <a:srgbClr val="FFFFFF"/>
                </a:solidFill>
              </a:defRPr>
            </a:pPr>
            <a:r>
              <a:t>Backup: one trace, budgets vs demand of a low-latency cell</a:t>
            </a:r>
          </a:p>
        </p:txBody>
      </p:sp>
      <p:sp>
        <p:nvSpPr>
          <p:cNvPr id="4" name="TextBox 3"/>
          <p:cNvSpPr txBox="1"/>
          <p:nvPr/>
        </p:nvSpPr>
        <p:spPr>
          <a:xfrm>
            <a:off x="9966960" y="256032"/>
            <a:ext cx="2103120" cy="365760"/>
          </a:xfrm>
          <a:prstGeom prst="rect">
            <a:avLst/>
          </a:prstGeom>
          <a:noFill/>
        </p:spPr>
        <p:txBody>
          <a:bodyPr wrap="none">
            <a:spAutoFit/>
          </a:bodyPr>
          <a:lstStyle/>
          <a:p>
            <a:pPr algn="r">
              <a:defRPr sz="1100">
                <a:solidFill>
                  <a:srgbClr val="CFD8E3"/>
                </a:solidFill>
              </a:defRPr>
            </a:pPr>
            <a:r>
              <a:t>Backup</a:t>
            </a:r>
          </a:p>
        </p:txBody>
      </p:sp>
      <p:sp>
        <p:nvSpPr>
          <p:cNvPr id="5" name="TextBox 4"/>
          <p:cNvSpPr txBox="1"/>
          <p:nvPr/>
        </p:nvSpPr>
        <p:spPr>
          <a:xfrm>
            <a:off x="365760" y="6446520"/>
            <a:ext cx="11430000" cy="320040"/>
          </a:xfrm>
          <a:prstGeom prst="rect">
            <a:avLst/>
          </a:prstGeom>
          <a:noFill/>
        </p:spPr>
        <p:txBody>
          <a:bodyPr wrap="none">
            <a:spAutoFit/>
          </a:bodyPr>
          <a:lstStyle/>
          <a:p>
            <a:pPr algn="r">
              <a:defRPr sz="900">
                <a:solidFill>
                  <a:srgbClr val="555555"/>
                </a:solidFill>
              </a:defRPr>
            </a:pPr>
            <a:r>
              <a:t>BTP mid-evaluation  |  Fronthaul load management  |  19</a:t>
            </a:r>
          </a:p>
        </p:txBody>
      </p:sp>
      <p:pic>
        <p:nvPicPr>
          <p:cNvPr id="6" name="Picture 5" descr="fig6_demo_timeseries.png"/>
          <p:cNvPicPr>
            <a:picLocks noChangeAspect="1"/>
          </p:cNvPicPr>
          <p:nvPr/>
        </p:nvPicPr>
        <p:blipFill>
          <a:blip r:embed="rId3"/>
          <a:stretch>
            <a:fillRect/>
          </a:stretch>
        </p:blipFill>
        <p:spPr>
          <a:xfrm>
            <a:off x="1097280" y="960120"/>
            <a:ext cx="9016453" cy="539496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92640" cy="640080"/>
          </a:xfrm>
          <a:prstGeom prst="rect">
            <a:avLst/>
          </a:prstGeom>
          <a:noFill/>
        </p:spPr>
        <p:txBody>
          <a:bodyPr wrap="square">
            <a:spAutoFit/>
          </a:bodyPr>
          <a:lstStyle/>
          <a:p>
            <a:pPr>
              <a:defRPr sz="2400" b="1">
                <a:solidFill>
                  <a:srgbClr val="FFFFFF"/>
                </a:solidFill>
              </a:defRPr>
            </a:pPr>
            <a:r>
              <a:t>Backup: code layout (Part B)</a:t>
            </a:r>
          </a:p>
        </p:txBody>
      </p:sp>
      <p:sp>
        <p:nvSpPr>
          <p:cNvPr id="4" name="TextBox 3"/>
          <p:cNvSpPr txBox="1"/>
          <p:nvPr/>
        </p:nvSpPr>
        <p:spPr>
          <a:xfrm>
            <a:off x="9966960" y="256032"/>
            <a:ext cx="2103120" cy="365760"/>
          </a:xfrm>
          <a:prstGeom prst="rect">
            <a:avLst/>
          </a:prstGeom>
          <a:noFill/>
        </p:spPr>
        <p:txBody>
          <a:bodyPr wrap="none">
            <a:spAutoFit/>
          </a:bodyPr>
          <a:lstStyle/>
          <a:p>
            <a:pPr algn="r">
              <a:defRPr sz="1100">
                <a:solidFill>
                  <a:srgbClr val="CFD8E3"/>
                </a:solidFill>
              </a:defRPr>
            </a:pPr>
            <a:r>
              <a:t>Backup</a:t>
            </a:r>
          </a:p>
        </p:txBody>
      </p:sp>
      <p:sp>
        <p:nvSpPr>
          <p:cNvPr id="5" name="TextBox 4"/>
          <p:cNvSpPr txBox="1"/>
          <p:nvPr/>
        </p:nvSpPr>
        <p:spPr>
          <a:xfrm>
            <a:off x="365760" y="6446520"/>
            <a:ext cx="11430000" cy="320040"/>
          </a:xfrm>
          <a:prstGeom prst="rect">
            <a:avLst/>
          </a:prstGeom>
          <a:noFill/>
        </p:spPr>
        <p:txBody>
          <a:bodyPr wrap="none">
            <a:spAutoFit/>
          </a:bodyPr>
          <a:lstStyle/>
          <a:p>
            <a:pPr algn="r">
              <a:defRPr sz="900">
                <a:solidFill>
                  <a:srgbClr val="555555"/>
                </a:solidFill>
              </a:defRPr>
            </a:pPr>
            <a:r>
              <a:t>BTP mid-evaluation  |  Fronthaul load management  |  20</a:t>
            </a:r>
          </a:p>
        </p:txBody>
      </p:sp>
      <p:sp>
        <p:nvSpPr>
          <p:cNvPr id="6" name="Rounded Rectangle 5"/>
          <p:cNvSpPr/>
          <p:nvPr/>
        </p:nvSpPr>
        <p:spPr>
          <a:xfrm>
            <a:off x="457200" y="1051560"/>
            <a:ext cx="2103120" cy="548640"/>
          </a:xfrm>
          <a:prstGeom prst="roundRect">
            <a:avLst/>
          </a:prstGeom>
          <a:solidFill>
            <a:srgbClr val="E3F2FD"/>
          </a:solidFill>
          <a:ln w="9525">
            <a:solidFill>
              <a:srgbClr val="B0B8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222222"/>
                </a:solidFill>
              </a:defRPr>
            </a:pPr>
            <a:r>
              <a:t>config.py</a:t>
            </a:r>
          </a:p>
        </p:txBody>
      </p:sp>
      <p:sp>
        <p:nvSpPr>
          <p:cNvPr id="7" name="TextBox 6"/>
          <p:cNvSpPr txBox="1"/>
          <p:nvPr/>
        </p:nvSpPr>
        <p:spPr>
          <a:xfrm>
            <a:off x="2651760" y="1124712"/>
            <a:ext cx="3383280" cy="548640"/>
          </a:xfrm>
          <a:prstGeom prst="rect">
            <a:avLst/>
          </a:prstGeom>
          <a:noFill/>
        </p:spPr>
        <p:txBody>
          <a:bodyPr wrap="square">
            <a:spAutoFit/>
          </a:bodyPr>
          <a:lstStyle/>
          <a:p>
            <a:pPr algn="l">
              <a:defRPr sz="1200" b="0" i="0">
                <a:solidFill>
                  <a:srgbClr val="222222"/>
                </a:solidFill>
              </a:defRPr>
            </a:pPr>
            <a:r>
              <a:t>units, 7-2x fronthaul constants, cells, link</a:t>
            </a:r>
          </a:p>
        </p:txBody>
      </p:sp>
      <p:sp>
        <p:nvSpPr>
          <p:cNvPr id="8" name="Rounded Rectangle 7"/>
          <p:cNvSpPr/>
          <p:nvPr/>
        </p:nvSpPr>
        <p:spPr>
          <a:xfrm>
            <a:off x="6126480" y="1051560"/>
            <a:ext cx="2103120" cy="548640"/>
          </a:xfrm>
          <a:prstGeom prst="roundRect">
            <a:avLst/>
          </a:prstGeom>
          <a:solidFill>
            <a:srgbClr val="E3F2FD"/>
          </a:solidFill>
          <a:ln w="9525">
            <a:solidFill>
              <a:srgbClr val="B0B8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222222"/>
                </a:solidFill>
              </a:defRPr>
            </a:pPr>
            <a:r>
              <a:t>traffic.py</a:t>
            </a:r>
          </a:p>
        </p:txBody>
      </p:sp>
      <p:sp>
        <p:nvSpPr>
          <p:cNvPr id="9" name="TextBox 8"/>
          <p:cNvSpPr txBox="1"/>
          <p:nvPr/>
        </p:nvSpPr>
        <p:spPr>
          <a:xfrm>
            <a:off x="8321040" y="1124712"/>
            <a:ext cx="3383280" cy="548640"/>
          </a:xfrm>
          <a:prstGeom prst="rect">
            <a:avLst/>
          </a:prstGeom>
          <a:noFill/>
        </p:spPr>
        <p:txBody>
          <a:bodyPr wrap="square">
            <a:spAutoFit/>
          </a:bodyPr>
          <a:lstStyle/>
          <a:p>
            <a:pPr algn="l">
              <a:defRPr sz="1200" b="0" i="0">
                <a:solidFill>
                  <a:srgbClr val="222222"/>
                </a:solidFill>
              </a:defRPr>
            </a:pPr>
            <a:r>
              <a:t>synthetic arrivals: smooth + bursts + slow changes</a:t>
            </a:r>
          </a:p>
        </p:txBody>
      </p:sp>
      <p:sp>
        <p:nvSpPr>
          <p:cNvPr id="10" name="Rounded Rectangle 9"/>
          <p:cNvSpPr/>
          <p:nvPr/>
        </p:nvSpPr>
        <p:spPr>
          <a:xfrm>
            <a:off x="457200" y="1709928"/>
            <a:ext cx="2103120" cy="548640"/>
          </a:xfrm>
          <a:prstGeom prst="roundRect">
            <a:avLst/>
          </a:prstGeom>
          <a:solidFill>
            <a:srgbClr val="E3F2FD"/>
          </a:solidFill>
          <a:ln w="9525">
            <a:solidFill>
              <a:srgbClr val="B0B8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222222"/>
                </a:solidFill>
              </a:defRPr>
            </a:pPr>
            <a:r>
              <a:t>demand.py</a:t>
            </a:r>
          </a:p>
        </p:txBody>
      </p:sp>
      <p:sp>
        <p:nvSpPr>
          <p:cNvPr id="11" name="TextBox 10"/>
          <p:cNvSpPr txBox="1"/>
          <p:nvPr/>
        </p:nvSpPr>
        <p:spPr>
          <a:xfrm>
            <a:off x="2651760" y="1783080"/>
            <a:ext cx="3383280" cy="548640"/>
          </a:xfrm>
          <a:prstGeom prst="rect">
            <a:avLst/>
          </a:prstGeom>
          <a:noFill/>
        </p:spPr>
        <p:txBody>
          <a:bodyPr wrap="square">
            <a:spAutoFit/>
          </a:bodyPr>
          <a:lstStyle/>
          <a:p>
            <a:pPr algn="l">
              <a:defRPr sz="1200" b="0" i="0">
                <a:solidFill>
                  <a:srgbClr val="222222"/>
                </a:solidFill>
              </a:defRPr>
            </a:pPr>
            <a:r>
              <a:t>deadline-feasible rate r*, backlog rate</a:t>
            </a:r>
          </a:p>
        </p:txBody>
      </p:sp>
      <p:sp>
        <p:nvSpPr>
          <p:cNvPr id="12" name="Rounded Rectangle 11"/>
          <p:cNvSpPr/>
          <p:nvPr/>
        </p:nvSpPr>
        <p:spPr>
          <a:xfrm>
            <a:off x="6126480" y="1709928"/>
            <a:ext cx="2103120" cy="548640"/>
          </a:xfrm>
          <a:prstGeom prst="roundRect">
            <a:avLst/>
          </a:prstGeom>
          <a:solidFill>
            <a:srgbClr val="E3F2FD"/>
          </a:solidFill>
          <a:ln w="9525">
            <a:solidFill>
              <a:srgbClr val="B0B8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222222"/>
                </a:solidFill>
              </a:defRPr>
            </a:pPr>
            <a:r>
              <a:t>simulator.py</a:t>
            </a:r>
          </a:p>
        </p:txBody>
      </p:sp>
      <p:sp>
        <p:nvSpPr>
          <p:cNvPr id="13" name="TextBox 12"/>
          <p:cNvSpPr txBox="1"/>
          <p:nvPr/>
        </p:nvSpPr>
        <p:spPr>
          <a:xfrm>
            <a:off x="8321040" y="1783080"/>
            <a:ext cx="3383280" cy="548640"/>
          </a:xfrm>
          <a:prstGeom prst="rect">
            <a:avLst/>
          </a:prstGeom>
          <a:noFill/>
        </p:spPr>
        <p:txBody>
          <a:bodyPr wrap="square">
            <a:spAutoFit/>
          </a:bodyPr>
          <a:lstStyle/>
          <a:p>
            <a:pPr algn="l">
              <a:defRPr sz="1200" b="0" i="0">
                <a:solidFill>
                  <a:srgbClr val="222222"/>
                </a:solidFill>
              </a:defRPr>
            </a:pPr>
            <a:r>
              <a:t>slot loop, queues with ages, drops, metrics</a:t>
            </a:r>
          </a:p>
        </p:txBody>
      </p:sp>
      <p:sp>
        <p:nvSpPr>
          <p:cNvPr id="14" name="Rounded Rectangle 13"/>
          <p:cNvSpPr/>
          <p:nvPr/>
        </p:nvSpPr>
        <p:spPr>
          <a:xfrm>
            <a:off x="457200" y="2368296"/>
            <a:ext cx="2103120" cy="548640"/>
          </a:xfrm>
          <a:prstGeom prst="roundRect">
            <a:avLst/>
          </a:prstGeom>
          <a:solidFill>
            <a:srgbClr val="E3F2FD"/>
          </a:solidFill>
          <a:ln w="9525">
            <a:solidFill>
              <a:srgbClr val="B0B8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222222"/>
                </a:solidFill>
              </a:defRPr>
            </a:pPr>
            <a:r>
              <a:t>controllers.py</a:t>
            </a:r>
          </a:p>
        </p:txBody>
      </p:sp>
      <p:sp>
        <p:nvSpPr>
          <p:cNvPr id="15" name="TextBox 14"/>
          <p:cNvSpPr txBox="1"/>
          <p:nvPr/>
        </p:nvSpPr>
        <p:spPr>
          <a:xfrm>
            <a:off x="2651760" y="2441448"/>
            <a:ext cx="3383280" cy="548640"/>
          </a:xfrm>
          <a:prstGeom prst="rect">
            <a:avLst/>
          </a:prstGeom>
          <a:noFill/>
        </p:spPr>
        <p:txBody>
          <a:bodyPr wrap="square">
            <a:spAutoFit/>
          </a:bodyPr>
          <a:lstStyle/>
          <a:p>
            <a:pPr algn="l">
              <a:defRPr sz="1200" b="0" i="0">
                <a:solidFill>
                  <a:srgbClr val="222222"/>
                </a:solidFill>
              </a:defRPr>
            </a:pPr>
            <a:r>
              <a:t>5 reference controllers, water-fill</a:t>
            </a:r>
          </a:p>
        </p:txBody>
      </p:sp>
      <p:sp>
        <p:nvSpPr>
          <p:cNvPr id="16" name="Rounded Rectangle 15"/>
          <p:cNvSpPr/>
          <p:nvPr/>
        </p:nvSpPr>
        <p:spPr>
          <a:xfrm>
            <a:off x="6126480" y="2368296"/>
            <a:ext cx="2103120" cy="548640"/>
          </a:xfrm>
          <a:prstGeom prst="roundRect">
            <a:avLst/>
          </a:prstGeom>
          <a:solidFill>
            <a:srgbClr val="E3F2FD"/>
          </a:solidFill>
          <a:ln w="9525">
            <a:solidFill>
              <a:srgbClr val="B0B8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222222"/>
                </a:solidFill>
              </a:defRPr>
            </a:pPr>
            <a:r>
              <a:t>forecast.py</a:t>
            </a:r>
          </a:p>
        </p:txBody>
      </p:sp>
      <p:sp>
        <p:nvSpPr>
          <p:cNvPr id="17" name="TextBox 16"/>
          <p:cNvSpPr txBox="1"/>
          <p:nvPr/>
        </p:nvSpPr>
        <p:spPr>
          <a:xfrm>
            <a:off x="8321040" y="2441448"/>
            <a:ext cx="3383280" cy="548640"/>
          </a:xfrm>
          <a:prstGeom prst="rect">
            <a:avLst/>
          </a:prstGeom>
          <a:noFill/>
        </p:spPr>
        <p:txBody>
          <a:bodyPr wrap="square">
            <a:spAutoFit/>
          </a:bodyPr>
          <a:lstStyle/>
          <a:p>
            <a:pPr algn="l">
              <a:defRPr sz="1200" b="0" i="0">
                <a:solidFill>
                  <a:srgbClr val="222222"/>
                </a:solidFill>
              </a:defRPr>
            </a:pPr>
            <a:r>
              <a:t>features, quantile boosting, fast tree evaluation</a:t>
            </a:r>
          </a:p>
        </p:txBody>
      </p:sp>
      <p:sp>
        <p:nvSpPr>
          <p:cNvPr id="18" name="Rounded Rectangle 17"/>
          <p:cNvSpPr/>
          <p:nvPr/>
        </p:nvSpPr>
        <p:spPr>
          <a:xfrm>
            <a:off x="457200" y="3026664"/>
            <a:ext cx="2103120" cy="548640"/>
          </a:xfrm>
          <a:prstGeom prst="roundRect">
            <a:avLst/>
          </a:prstGeom>
          <a:solidFill>
            <a:srgbClr val="E3F2FD"/>
          </a:solidFill>
          <a:ln w="9525">
            <a:solidFill>
              <a:srgbClr val="B0B8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222222"/>
                </a:solidFill>
              </a:defRPr>
            </a:pPr>
            <a:r>
              <a:t>proposed.py</a:t>
            </a:r>
          </a:p>
        </p:txBody>
      </p:sp>
      <p:sp>
        <p:nvSpPr>
          <p:cNvPr id="19" name="TextBox 18"/>
          <p:cNvSpPr txBox="1"/>
          <p:nvPr/>
        </p:nvSpPr>
        <p:spPr>
          <a:xfrm>
            <a:off x="2651760" y="3099816"/>
            <a:ext cx="3383280" cy="548640"/>
          </a:xfrm>
          <a:prstGeom prst="rect">
            <a:avLst/>
          </a:prstGeom>
          <a:noFill/>
        </p:spPr>
        <p:txBody>
          <a:bodyPr wrap="square">
            <a:spAutoFit/>
          </a:bodyPr>
          <a:lstStyle/>
          <a:p>
            <a:pPr algn="l">
              <a:defRPr sz="1200" b="0" i="0">
                <a:solidFill>
                  <a:srgbClr val="222222"/>
                </a:solidFill>
              </a:defRPr>
            </a:pPr>
            <a:r>
              <a:t>KKT rule + optional calibration</a:t>
            </a:r>
          </a:p>
        </p:txBody>
      </p:sp>
      <p:sp>
        <p:nvSpPr>
          <p:cNvPr id="20" name="Rounded Rectangle 19"/>
          <p:cNvSpPr/>
          <p:nvPr/>
        </p:nvSpPr>
        <p:spPr>
          <a:xfrm>
            <a:off x="6126480" y="3026664"/>
            <a:ext cx="2103120" cy="548640"/>
          </a:xfrm>
          <a:prstGeom prst="roundRect">
            <a:avLst/>
          </a:prstGeom>
          <a:solidFill>
            <a:srgbClr val="E3F2FD"/>
          </a:solidFill>
          <a:ln w="9525">
            <a:solidFill>
              <a:srgbClr val="B0B8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222222"/>
                </a:solidFill>
              </a:defRPr>
            </a:pPr>
            <a:r>
              <a:t>scenarios.py</a:t>
            </a:r>
          </a:p>
        </p:txBody>
      </p:sp>
      <p:sp>
        <p:nvSpPr>
          <p:cNvPr id="21" name="TextBox 20"/>
          <p:cNvSpPr txBox="1"/>
          <p:nvPr/>
        </p:nvSpPr>
        <p:spPr>
          <a:xfrm>
            <a:off x="8321040" y="3099816"/>
            <a:ext cx="3383280" cy="548640"/>
          </a:xfrm>
          <a:prstGeom prst="rect">
            <a:avLst/>
          </a:prstGeom>
          <a:noFill/>
        </p:spPr>
        <p:txBody>
          <a:bodyPr wrap="square">
            <a:spAutoFit/>
          </a:bodyPr>
          <a:lstStyle/>
          <a:p>
            <a:pPr algn="l">
              <a:defRPr sz="1200" b="0" i="0">
                <a:solidFill>
                  <a:srgbClr val="222222"/>
                </a:solidFill>
              </a:defRPr>
            </a:pPr>
            <a:r>
              <a:t>train / validation / test seeds, 5 scenarios</a:t>
            </a:r>
          </a:p>
        </p:txBody>
      </p:sp>
      <p:sp>
        <p:nvSpPr>
          <p:cNvPr id="22" name="Rounded Rectangle 21"/>
          <p:cNvSpPr/>
          <p:nvPr/>
        </p:nvSpPr>
        <p:spPr>
          <a:xfrm>
            <a:off x="457200" y="3685032"/>
            <a:ext cx="2103120" cy="548640"/>
          </a:xfrm>
          <a:prstGeom prst="roundRect">
            <a:avLst/>
          </a:prstGeom>
          <a:solidFill>
            <a:srgbClr val="E3F2FD"/>
          </a:solidFill>
          <a:ln w="9525">
            <a:solidFill>
              <a:srgbClr val="B0B8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222222"/>
                </a:solidFill>
              </a:defRPr>
            </a:pPr>
            <a:r>
              <a:t>train.py</a:t>
            </a:r>
          </a:p>
        </p:txBody>
      </p:sp>
      <p:sp>
        <p:nvSpPr>
          <p:cNvPr id="23" name="TextBox 22"/>
          <p:cNvSpPr txBox="1"/>
          <p:nvPr/>
        </p:nvSpPr>
        <p:spPr>
          <a:xfrm>
            <a:off x="2651760" y="3758184"/>
            <a:ext cx="3383280" cy="548640"/>
          </a:xfrm>
          <a:prstGeom prst="rect">
            <a:avLst/>
          </a:prstGeom>
          <a:noFill/>
        </p:spPr>
        <p:txBody>
          <a:bodyPr wrap="square">
            <a:spAutoFit/>
          </a:bodyPr>
          <a:lstStyle/>
          <a:p>
            <a:pPr algn="l">
              <a:defRPr sz="1200" b="0" i="0">
                <a:solidFill>
                  <a:srgbClr val="222222"/>
                </a:solidFill>
              </a:defRPr>
            </a:pPr>
            <a:r>
              <a:t>train on training seeds, check on validation</a:t>
            </a:r>
          </a:p>
        </p:txBody>
      </p:sp>
      <p:sp>
        <p:nvSpPr>
          <p:cNvPr id="24" name="Rounded Rectangle 23"/>
          <p:cNvSpPr/>
          <p:nvPr/>
        </p:nvSpPr>
        <p:spPr>
          <a:xfrm>
            <a:off x="6126480" y="3685032"/>
            <a:ext cx="2103120" cy="548640"/>
          </a:xfrm>
          <a:prstGeom prst="roundRect">
            <a:avLst/>
          </a:prstGeom>
          <a:solidFill>
            <a:srgbClr val="E3F2FD"/>
          </a:solidFill>
          <a:ln w="9525">
            <a:solidFill>
              <a:srgbClr val="B0B8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222222"/>
                </a:solidFill>
              </a:defRPr>
            </a:pPr>
            <a:r>
              <a:t>run_experiments.py</a:t>
            </a:r>
          </a:p>
        </p:txBody>
      </p:sp>
      <p:sp>
        <p:nvSpPr>
          <p:cNvPr id="25" name="TextBox 24"/>
          <p:cNvSpPr txBox="1"/>
          <p:nvPr/>
        </p:nvSpPr>
        <p:spPr>
          <a:xfrm>
            <a:off x="8321040" y="3758184"/>
            <a:ext cx="3383280" cy="548640"/>
          </a:xfrm>
          <a:prstGeom prst="rect">
            <a:avLst/>
          </a:prstGeom>
          <a:noFill/>
        </p:spPr>
        <p:txBody>
          <a:bodyPr wrap="square">
            <a:spAutoFit/>
          </a:bodyPr>
          <a:lstStyle/>
          <a:p>
            <a:pPr algn="l">
              <a:defRPr sz="1200" b="0" i="0">
                <a:solidFill>
                  <a:srgbClr val="222222"/>
                </a:solidFill>
              </a:defRPr>
            </a:pPr>
            <a:r>
              <a:t>tune / main / sweep / compression / demo</a:t>
            </a:r>
          </a:p>
        </p:txBody>
      </p:sp>
      <p:sp>
        <p:nvSpPr>
          <p:cNvPr id="26" name="Rounded Rectangle 25"/>
          <p:cNvSpPr/>
          <p:nvPr/>
        </p:nvSpPr>
        <p:spPr>
          <a:xfrm>
            <a:off x="457200" y="4343400"/>
            <a:ext cx="2103120" cy="548640"/>
          </a:xfrm>
          <a:prstGeom prst="roundRect">
            <a:avLst/>
          </a:prstGeom>
          <a:solidFill>
            <a:srgbClr val="E3F2FD"/>
          </a:solidFill>
          <a:ln w="9525">
            <a:solidFill>
              <a:srgbClr val="B0B8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222222"/>
                </a:solidFill>
              </a:defRPr>
            </a:pPr>
            <a:r>
              <a:t>make_figures.py, make_slides.py</a:t>
            </a:r>
          </a:p>
        </p:txBody>
      </p:sp>
      <p:sp>
        <p:nvSpPr>
          <p:cNvPr id="27" name="TextBox 26"/>
          <p:cNvSpPr txBox="1"/>
          <p:nvPr/>
        </p:nvSpPr>
        <p:spPr>
          <a:xfrm>
            <a:off x="2651760" y="4416552"/>
            <a:ext cx="3383280" cy="548640"/>
          </a:xfrm>
          <a:prstGeom prst="rect">
            <a:avLst/>
          </a:prstGeom>
          <a:noFill/>
        </p:spPr>
        <p:txBody>
          <a:bodyPr wrap="square">
            <a:spAutoFit/>
          </a:bodyPr>
          <a:lstStyle/>
          <a:p>
            <a:pPr algn="l">
              <a:defRPr sz="1200" b="0" i="0">
                <a:solidFill>
                  <a:srgbClr val="222222"/>
                </a:solidFill>
              </a:defRPr>
            </a:pPr>
            <a:r>
              <a:t>all figures and this deck from CSV</a:t>
            </a:r>
          </a:p>
        </p:txBody>
      </p:sp>
      <p:sp>
        <p:nvSpPr>
          <p:cNvPr id="28" name="Rounded Rectangle 27"/>
          <p:cNvSpPr/>
          <p:nvPr/>
        </p:nvSpPr>
        <p:spPr>
          <a:xfrm>
            <a:off x="6126480" y="4343400"/>
            <a:ext cx="2103120" cy="548640"/>
          </a:xfrm>
          <a:prstGeom prst="roundRect">
            <a:avLst/>
          </a:prstGeom>
          <a:solidFill>
            <a:srgbClr val="E3F2FD"/>
          </a:solidFill>
          <a:ln w="9525">
            <a:solidFill>
              <a:srgbClr val="B0B8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222222"/>
                </a:solidFill>
              </a:defRPr>
            </a:pPr>
            <a:r>
              <a:t>matinv_bench/ (Part A)</a:t>
            </a:r>
          </a:p>
        </p:txBody>
      </p:sp>
      <p:sp>
        <p:nvSpPr>
          <p:cNvPr id="29" name="TextBox 28"/>
          <p:cNvSpPr txBox="1"/>
          <p:nvPr/>
        </p:nvSpPr>
        <p:spPr>
          <a:xfrm>
            <a:off x="8321040" y="4416552"/>
            <a:ext cx="3383280" cy="548640"/>
          </a:xfrm>
          <a:prstGeom prst="rect">
            <a:avLst/>
          </a:prstGeom>
          <a:noFill/>
        </p:spPr>
        <p:txBody>
          <a:bodyPr wrap="square">
            <a:spAutoFit/>
          </a:bodyPr>
          <a:lstStyle/>
          <a:p>
            <a:pPr algn="l">
              <a:defRPr sz="1200" b="0" i="0">
                <a:solidFill>
                  <a:srgbClr val="222222"/>
                </a:solidFill>
              </a:defRPr>
            </a:pPr>
            <a:r>
              <a:t>matrix-inversion benchmark: classical + learned</a:t>
            </a:r>
          </a:p>
        </p:txBody>
      </p:sp>
      <p:sp>
        <p:nvSpPr>
          <p:cNvPr id="30" name="TextBox 29"/>
          <p:cNvSpPr txBox="1"/>
          <p:nvPr/>
        </p:nvSpPr>
        <p:spPr>
          <a:xfrm>
            <a:off x="457200" y="5120640"/>
            <a:ext cx="11247120" cy="1280160"/>
          </a:xfrm>
          <a:prstGeom prst="rect">
            <a:avLst/>
          </a:prstGeom>
          <a:noFill/>
        </p:spPr>
        <p:txBody>
          <a:bodyPr wrap="square">
            <a:spAutoFit/>
          </a:bodyPr>
          <a:lstStyle/>
          <a:p>
            <a:pPr>
              <a:spcAft>
                <a:spcPts val="600"/>
              </a:spcAft>
              <a:defRPr sz="1300" b="0">
                <a:solidFill>
                  <a:srgbClr val="222222"/>
                </a:solidFill>
              </a:defRPr>
            </a:pPr>
            <a:r>
              <a:t>• Flow: traffic → simulator ↔ controller (observation 2 slots old → budgets) → metrics / raw JSON → figures → slides</a:t>
            </a:r>
          </a:p>
          <a:p>
            <a:pPr>
              <a:spcAft>
                <a:spcPts val="600"/>
              </a:spcAft>
              <a:defRPr sz="1300" b="0">
                <a:solidFill>
                  <a:srgbClr val="222222"/>
                </a:solidFill>
              </a:defRPr>
            </a:pPr>
            <a:r>
              <a:t>• ML flow: training seeds → features / targets → 6 boosted models (~12 s CPU) → validation check → frozen model → test seeds</a:t>
            </a:r>
          </a:p>
          <a:p>
            <a:pPr>
              <a:spcAft>
                <a:spcPts val="600"/>
              </a:spcAft>
              <a:defRPr sz="1300" b="0">
                <a:solidFill>
                  <a:srgbClr val="222222"/>
                </a:solidFill>
              </a:defRPr>
            </a:pPr>
            <a:r>
              <a:t>• Python 3 with numpy / pandas / scikit-learn / matplotlib; full reproduction ≈ 10 min on a 4-core laptop</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92640" cy="640080"/>
          </a:xfrm>
          <a:prstGeom prst="rect">
            <a:avLst/>
          </a:prstGeom>
          <a:noFill/>
        </p:spPr>
        <p:txBody>
          <a:bodyPr wrap="square">
            <a:spAutoFit/>
          </a:bodyPr>
          <a:lstStyle/>
          <a:p>
            <a:pPr>
              <a:defRPr sz="2400" b="1">
                <a:solidFill>
                  <a:srgbClr val="FFFFFF"/>
                </a:solidFill>
              </a:defRPr>
            </a:pPr>
            <a:r>
              <a:t>Backup: main score [%], mean ± std over 20 test seeds</a:t>
            </a:r>
          </a:p>
        </p:txBody>
      </p:sp>
      <p:sp>
        <p:nvSpPr>
          <p:cNvPr id="4" name="TextBox 3"/>
          <p:cNvSpPr txBox="1"/>
          <p:nvPr/>
        </p:nvSpPr>
        <p:spPr>
          <a:xfrm>
            <a:off x="9966960" y="256032"/>
            <a:ext cx="2103120" cy="365760"/>
          </a:xfrm>
          <a:prstGeom prst="rect">
            <a:avLst/>
          </a:prstGeom>
          <a:noFill/>
        </p:spPr>
        <p:txBody>
          <a:bodyPr wrap="none">
            <a:spAutoFit/>
          </a:bodyPr>
          <a:lstStyle/>
          <a:p>
            <a:pPr algn="r">
              <a:defRPr sz="1100">
                <a:solidFill>
                  <a:srgbClr val="CFD8E3"/>
                </a:solidFill>
              </a:defRPr>
            </a:pPr>
            <a:r>
              <a:t>Backup</a:t>
            </a:r>
          </a:p>
        </p:txBody>
      </p:sp>
      <p:sp>
        <p:nvSpPr>
          <p:cNvPr id="5" name="TextBox 4"/>
          <p:cNvSpPr txBox="1"/>
          <p:nvPr/>
        </p:nvSpPr>
        <p:spPr>
          <a:xfrm>
            <a:off x="365760" y="6446520"/>
            <a:ext cx="11430000" cy="320040"/>
          </a:xfrm>
          <a:prstGeom prst="rect">
            <a:avLst/>
          </a:prstGeom>
          <a:noFill/>
        </p:spPr>
        <p:txBody>
          <a:bodyPr wrap="none">
            <a:spAutoFit/>
          </a:bodyPr>
          <a:lstStyle/>
          <a:p>
            <a:pPr algn="r">
              <a:defRPr sz="900">
                <a:solidFill>
                  <a:srgbClr val="555555"/>
                </a:solidFill>
              </a:defRPr>
            </a:pPr>
            <a:r>
              <a:t>BTP mid-evaluation  |  Fronthaul load management  |  21</a:t>
            </a:r>
          </a:p>
        </p:txBody>
      </p:sp>
      <p:graphicFrame>
        <p:nvGraphicFramePr>
          <p:cNvPr id="6" name="Table 5"/>
          <p:cNvGraphicFramePr>
            <a:graphicFrameLocks noGrp="1"/>
          </p:cNvGraphicFramePr>
          <p:nvPr/>
        </p:nvGraphicFramePr>
        <p:xfrm>
          <a:off x="365760" y="1051560"/>
          <a:ext cx="11430000" cy="4389120"/>
        </p:xfrm>
        <a:graphic>
          <a:graphicData uri="http://schemas.openxmlformats.org/drawingml/2006/table">
            <a:tbl>
              <a:tblPr firstRow="1" bandRow="1">
                <a:tableStyleId>{5C22544A-7EE6-4342-B048-85BDC9FD1C3A}</a:tableStyleId>
              </a:tblPr>
              <a:tblGrid>
                <a:gridCol w="1905000"/>
                <a:gridCol w="1905000"/>
                <a:gridCol w="1905000"/>
                <a:gridCol w="1905000"/>
                <a:gridCol w="1905000"/>
                <a:gridCol w="1905000"/>
              </a:tblGrid>
              <a:tr h="399010">
                <a:tc>
                  <a:txBody>
                    <a:bodyPr/>
                    <a:lstStyle/>
                    <a:p>
                      <a:pPr>
                        <a:defRPr sz="1000" b="1">
                          <a:solidFill>
                            <a:srgbClr val="FFFFFF"/>
                          </a:solidFill>
                        </a:defRPr>
                      </a:pPr>
                      <a:r>
                        <a:t>Method</a:t>
                      </a:r>
                    </a:p>
                  </a:txBody>
                  <a:tcPr>
                    <a:solidFill>
                      <a:srgbClr val="1F3A5F"/>
                    </a:solidFill>
                  </a:tcPr>
                </a:tc>
                <a:tc>
                  <a:txBody>
                    <a:bodyPr/>
                    <a:lstStyle/>
                    <a:p>
                      <a:pPr>
                        <a:defRPr sz="1000" b="1">
                          <a:solidFill>
                            <a:srgbClr val="FFFFFF"/>
                          </a:solidFill>
                        </a:defRPr>
                      </a:pPr>
                      <a:r>
                        <a:t>Low 0.50</a:t>
                      </a:r>
                    </a:p>
                  </a:txBody>
                  <a:tcPr>
                    <a:solidFill>
                      <a:srgbClr val="1F3A5F"/>
                    </a:solidFill>
                  </a:tcPr>
                </a:tc>
                <a:tc>
                  <a:txBody>
                    <a:bodyPr/>
                    <a:lstStyle/>
                    <a:p>
                      <a:pPr>
                        <a:defRPr sz="1000" b="1">
                          <a:solidFill>
                            <a:srgbClr val="FFFFFF"/>
                          </a:solidFill>
                        </a:defRPr>
                      </a:pPr>
                      <a:r>
                        <a:t>Moderate 0.65</a:t>
                      </a:r>
                    </a:p>
                  </a:txBody>
                  <a:tcPr>
                    <a:solidFill>
                      <a:srgbClr val="1F3A5F"/>
                    </a:solidFill>
                  </a:tcPr>
                </a:tc>
                <a:tc>
                  <a:txBody>
                    <a:bodyPr/>
                    <a:lstStyle/>
                    <a:p>
                      <a:pPr>
                        <a:defRPr sz="1000" b="1">
                          <a:solidFill>
                            <a:srgbClr val="FFFFFF"/>
                          </a:solidFill>
                        </a:defRPr>
                      </a:pPr>
                      <a:r>
                        <a:t>High 0.80</a:t>
                      </a:r>
                    </a:p>
                  </a:txBody>
                  <a:tcPr>
                    <a:solidFill>
                      <a:srgbClr val="1F3A5F"/>
                    </a:solidFill>
                  </a:tcPr>
                </a:tc>
                <a:tc>
                  <a:txBody>
                    <a:bodyPr/>
                    <a:lstStyle/>
                    <a:p>
                      <a:pPr>
                        <a:defRPr sz="1000" b="1">
                          <a:solidFill>
                            <a:srgbClr val="FFFFFF"/>
                          </a:solidFill>
                        </a:defRPr>
                      </a:pPr>
                      <a:r>
                        <a:t>Flash crowds</a:t>
                      </a:r>
                    </a:p>
                  </a:txBody>
                  <a:tcPr>
                    <a:solidFill>
                      <a:srgbClr val="1F3A5F"/>
                    </a:solidFill>
                  </a:tcPr>
                </a:tc>
                <a:tc>
                  <a:txBody>
                    <a:bodyPr/>
                    <a:lstStyle/>
                    <a:p>
                      <a:pPr>
                        <a:defRPr sz="1000" b="1">
                          <a:solidFill>
                            <a:srgbClr val="FFFFFF"/>
                          </a:solidFill>
                        </a:defRPr>
                      </a:pPr>
                      <a:r>
                        <a:t>Shift (held-out)</a:t>
                      </a:r>
                    </a:p>
                  </a:txBody>
                  <a:tcPr>
                    <a:solidFill>
                      <a:srgbClr val="1F3A5F"/>
                    </a:solidFill>
                  </a:tcPr>
                </a:tc>
              </a:tr>
              <a:tr h="399010">
                <a:tc>
                  <a:txBody>
                    <a:bodyPr/>
                    <a:lstStyle/>
                    <a:p>
                      <a:pPr>
                        <a:defRPr sz="1000"/>
                      </a:pPr>
                      <a:r>
                        <a:t>Static equal share</a:t>
                      </a:r>
                    </a:p>
                  </a:txBody>
                  <a:tcPr>
                    <a:solidFill>
                      <a:srgbClr val="F2F4F7"/>
                    </a:solidFill>
                  </a:tcPr>
                </a:tc>
                <a:tc>
                  <a:txBody>
                    <a:bodyPr/>
                    <a:lstStyle/>
                    <a:p>
                      <a:pPr>
                        <a:defRPr sz="1000"/>
                      </a:pPr>
                      <a:r>
                        <a:t>4.45 ± 1.05</a:t>
                      </a:r>
                    </a:p>
                  </a:txBody>
                  <a:tcPr>
                    <a:solidFill>
                      <a:srgbClr val="F2F4F7"/>
                    </a:solidFill>
                  </a:tcPr>
                </a:tc>
                <a:tc>
                  <a:txBody>
                    <a:bodyPr/>
                    <a:lstStyle/>
                    <a:p>
                      <a:pPr>
                        <a:defRPr sz="1000"/>
                      </a:pPr>
                      <a:r>
                        <a:t>9.65 ± 1.36</a:t>
                      </a:r>
                    </a:p>
                  </a:txBody>
                  <a:tcPr>
                    <a:solidFill>
                      <a:srgbClr val="F2F4F7"/>
                    </a:solidFill>
                  </a:tcPr>
                </a:tc>
                <a:tc>
                  <a:txBody>
                    <a:bodyPr/>
                    <a:lstStyle/>
                    <a:p>
                      <a:pPr>
                        <a:defRPr sz="1000"/>
                      </a:pPr>
                      <a:r>
                        <a:t>15.46 ± 1.51</a:t>
                      </a:r>
                    </a:p>
                  </a:txBody>
                  <a:tcPr>
                    <a:solidFill>
                      <a:srgbClr val="F2F4F7"/>
                    </a:solidFill>
                  </a:tcPr>
                </a:tc>
                <a:tc>
                  <a:txBody>
                    <a:bodyPr/>
                    <a:lstStyle/>
                    <a:p>
                      <a:pPr>
                        <a:defRPr sz="1000"/>
                      </a:pPr>
                      <a:r>
                        <a:t>19.15 ± 2.34</a:t>
                      </a:r>
                    </a:p>
                  </a:txBody>
                  <a:tcPr>
                    <a:solidFill>
                      <a:srgbClr val="F2F4F7"/>
                    </a:solidFill>
                  </a:tcPr>
                </a:tc>
                <a:tc>
                  <a:txBody>
                    <a:bodyPr/>
                    <a:lstStyle/>
                    <a:p>
                      <a:pPr>
                        <a:defRPr sz="1000"/>
                      </a:pPr>
                      <a:r>
                        <a:t>22.31 ± 2.99</a:t>
                      </a:r>
                    </a:p>
                  </a:txBody>
                  <a:tcPr>
                    <a:solidFill>
                      <a:srgbClr val="F2F4F7"/>
                    </a:solidFill>
                  </a:tcPr>
                </a:tc>
              </a:tr>
              <a:tr h="399010">
                <a:tc>
                  <a:txBody>
                    <a:bodyPr/>
                    <a:lstStyle/>
                    <a:p>
                      <a:pPr>
                        <a:defRPr sz="1000"/>
                      </a:pPr>
                      <a:r>
                        <a:t>Reactive proportional</a:t>
                      </a:r>
                    </a:p>
                  </a:txBody>
                  <a:tcPr>
                    <a:solidFill>
                      <a:srgbClr val="FFFFFF"/>
                    </a:solidFill>
                  </a:tcPr>
                </a:tc>
                <a:tc>
                  <a:txBody>
                    <a:bodyPr/>
                    <a:lstStyle/>
                    <a:p>
                      <a:pPr>
                        <a:defRPr sz="1000"/>
                      </a:pPr>
                      <a:r>
                        <a:t>0.83 ± 0.27</a:t>
                      </a:r>
                    </a:p>
                  </a:txBody>
                  <a:tcPr>
                    <a:solidFill>
                      <a:srgbClr val="FFFFFF"/>
                    </a:solidFill>
                  </a:tcPr>
                </a:tc>
                <a:tc>
                  <a:txBody>
                    <a:bodyPr/>
                    <a:lstStyle/>
                    <a:p>
                      <a:pPr>
                        <a:defRPr sz="1000"/>
                      </a:pPr>
                      <a:r>
                        <a:t>4.11 ± 0.69</a:t>
                      </a:r>
                    </a:p>
                  </a:txBody>
                  <a:tcPr>
                    <a:solidFill>
                      <a:srgbClr val="FFFFFF"/>
                    </a:solidFill>
                  </a:tcPr>
                </a:tc>
                <a:tc>
                  <a:txBody>
                    <a:bodyPr/>
                    <a:lstStyle/>
                    <a:p>
                      <a:pPr>
                        <a:defRPr sz="1000"/>
                      </a:pPr>
                      <a:r>
                        <a:t>9.20 ± 0.99</a:t>
                      </a:r>
                    </a:p>
                  </a:txBody>
                  <a:tcPr>
                    <a:solidFill>
                      <a:srgbClr val="FFFFFF"/>
                    </a:solidFill>
                  </a:tcPr>
                </a:tc>
                <a:tc>
                  <a:txBody>
                    <a:bodyPr/>
                    <a:lstStyle/>
                    <a:p>
                      <a:pPr>
                        <a:defRPr sz="1000"/>
                      </a:pPr>
                      <a:r>
                        <a:t>12.27 ± 2.23</a:t>
                      </a:r>
                    </a:p>
                  </a:txBody>
                  <a:tcPr>
                    <a:solidFill>
                      <a:srgbClr val="FFFFFF"/>
                    </a:solidFill>
                  </a:tcPr>
                </a:tc>
                <a:tc>
                  <a:txBody>
                    <a:bodyPr/>
                    <a:lstStyle/>
                    <a:p>
                      <a:pPr>
                        <a:defRPr sz="1000"/>
                      </a:pPr>
                      <a:r>
                        <a:t>11.70 ± 2.24</a:t>
                      </a:r>
                    </a:p>
                  </a:txBody>
                  <a:tcPr>
                    <a:solidFill>
                      <a:srgbClr val="FFFFFF"/>
                    </a:solidFill>
                  </a:tcPr>
                </a:tc>
              </a:tr>
              <a:tr h="399010">
                <a:tc>
                  <a:txBody>
                    <a:bodyPr/>
                    <a:lstStyle/>
                    <a:p>
                      <a:pPr>
                        <a:defRPr sz="1000"/>
                      </a:pPr>
                      <a:r>
                        <a:t>MaxWeight (queue-weighted)</a:t>
                      </a:r>
                    </a:p>
                  </a:txBody>
                  <a:tcPr>
                    <a:solidFill>
                      <a:srgbClr val="F2F4F7"/>
                    </a:solidFill>
                  </a:tcPr>
                </a:tc>
                <a:tc>
                  <a:txBody>
                    <a:bodyPr/>
                    <a:lstStyle/>
                    <a:p>
                      <a:pPr>
                        <a:defRPr sz="1000"/>
                      </a:pPr>
                      <a:r>
                        <a:t>0.90 ± 0.28</a:t>
                      </a:r>
                    </a:p>
                  </a:txBody>
                  <a:tcPr>
                    <a:solidFill>
                      <a:srgbClr val="F2F4F7"/>
                    </a:solidFill>
                  </a:tcPr>
                </a:tc>
                <a:tc>
                  <a:txBody>
                    <a:bodyPr/>
                    <a:lstStyle/>
                    <a:p>
                      <a:pPr>
                        <a:defRPr sz="1000"/>
                      </a:pPr>
                      <a:r>
                        <a:t>4.85 ± 0.79</a:t>
                      </a:r>
                    </a:p>
                  </a:txBody>
                  <a:tcPr>
                    <a:solidFill>
                      <a:srgbClr val="F2F4F7"/>
                    </a:solidFill>
                  </a:tcPr>
                </a:tc>
                <a:tc>
                  <a:txBody>
                    <a:bodyPr/>
                    <a:lstStyle/>
                    <a:p>
                      <a:pPr>
                        <a:defRPr sz="1000"/>
                      </a:pPr>
                      <a:r>
                        <a:t>11.54 ± 1.27</a:t>
                      </a:r>
                    </a:p>
                  </a:txBody>
                  <a:tcPr>
                    <a:solidFill>
                      <a:srgbClr val="F2F4F7"/>
                    </a:solidFill>
                  </a:tcPr>
                </a:tc>
                <a:tc>
                  <a:txBody>
                    <a:bodyPr/>
                    <a:lstStyle/>
                    <a:p>
                      <a:pPr>
                        <a:defRPr sz="1000"/>
                      </a:pPr>
                      <a:r>
                        <a:t>15.24 ± 3.02</a:t>
                      </a:r>
                    </a:p>
                  </a:txBody>
                  <a:tcPr>
                    <a:solidFill>
                      <a:srgbClr val="F2F4F7"/>
                    </a:solidFill>
                  </a:tcPr>
                </a:tc>
                <a:tc>
                  <a:txBody>
                    <a:bodyPr/>
                    <a:lstStyle/>
                    <a:p>
                      <a:pPr>
                        <a:defRPr sz="1000"/>
                      </a:pPr>
                      <a:r>
                        <a:t>12.31 ± 2.44</a:t>
                      </a:r>
                    </a:p>
                  </a:txBody>
                  <a:tcPr>
                    <a:solidFill>
                      <a:srgbClr val="F2F4F7"/>
                    </a:solidFill>
                  </a:tcPr>
                </a:tc>
              </a:tr>
              <a:tr h="399010">
                <a:tc>
                  <a:txBody>
                    <a:bodyPr/>
                    <a:lstStyle/>
                    <a:p>
                      <a:pPr>
                        <a:defRPr sz="1000"/>
                      </a:pPr>
                      <a:r>
                        <a:t>Deadline-aware reactive</a:t>
                      </a:r>
                    </a:p>
                  </a:txBody>
                  <a:tcPr>
                    <a:solidFill>
                      <a:srgbClr val="FFFFFF"/>
                    </a:solidFill>
                  </a:tcPr>
                </a:tc>
                <a:tc>
                  <a:txBody>
                    <a:bodyPr/>
                    <a:lstStyle/>
                    <a:p>
                      <a:pPr>
                        <a:defRPr sz="1000"/>
                      </a:pPr>
                      <a:r>
                        <a:t>0.52 ± 0.21</a:t>
                      </a:r>
                    </a:p>
                  </a:txBody>
                  <a:tcPr>
                    <a:solidFill>
                      <a:srgbClr val="FFFFFF"/>
                    </a:solidFill>
                  </a:tcPr>
                </a:tc>
                <a:tc>
                  <a:txBody>
                    <a:bodyPr/>
                    <a:lstStyle/>
                    <a:p>
                      <a:pPr>
                        <a:defRPr sz="1000"/>
                      </a:pPr>
                      <a:r>
                        <a:t>4.24 ± 0.78</a:t>
                      </a:r>
                    </a:p>
                  </a:txBody>
                  <a:tcPr>
                    <a:solidFill>
                      <a:srgbClr val="FFFFFF"/>
                    </a:solidFill>
                  </a:tcPr>
                </a:tc>
                <a:tc>
                  <a:txBody>
                    <a:bodyPr/>
                    <a:lstStyle/>
                    <a:p>
                      <a:pPr>
                        <a:defRPr sz="1000"/>
                      </a:pPr>
                      <a:r>
                        <a:t>11.03 ± 1.33</a:t>
                      </a:r>
                    </a:p>
                  </a:txBody>
                  <a:tcPr>
                    <a:solidFill>
                      <a:srgbClr val="FFFFFF"/>
                    </a:solidFill>
                  </a:tcPr>
                </a:tc>
                <a:tc>
                  <a:txBody>
                    <a:bodyPr/>
                    <a:lstStyle/>
                    <a:p>
                      <a:pPr>
                        <a:defRPr sz="1000"/>
                      </a:pPr>
                      <a:r>
                        <a:t>14.51 ± 3.06</a:t>
                      </a:r>
                    </a:p>
                  </a:txBody>
                  <a:tcPr>
                    <a:solidFill>
                      <a:srgbClr val="FFFFFF"/>
                    </a:solidFill>
                  </a:tcPr>
                </a:tc>
                <a:tc>
                  <a:txBody>
                    <a:bodyPr/>
                    <a:lstStyle/>
                    <a:p>
                      <a:pPr>
                        <a:defRPr sz="1000"/>
                      </a:pPr>
                      <a:r>
                        <a:t>12.56 ± 2.81</a:t>
                      </a:r>
                    </a:p>
                  </a:txBody>
                  <a:tcPr>
                    <a:solidFill>
                      <a:srgbClr val="FFFFFF"/>
                    </a:solidFill>
                  </a:tcPr>
                </a:tc>
              </a:tr>
              <a:tr h="399010">
                <a:tc>
                  <a:txBody>
                    <a:bodyPr/>
                    <a:lstStyle/>
                    <a:p>
                      <a:pPr>
                        <a:defRPr sz="1000"/>
                      </a:pPr>
                      <a:r>
                        <a:t>Point forecast + water-fill</a:t>
                      </a:r>
                    </a:p>
                  </a:txBody>
                  <a:tcPr>
                    <a:solidFill>
                      <a:srgbClr val="F2F4F7"/>
                    </a:solidFill>
                  </a:tcPr>
                </a:tc>
                <a:tc>
                  <a:txBody>
                    <a:bodyPr/>
                    <a:lstStyle/>
                    <a:p>
                      <a:pPr>
                        <a:defRPr sz="1000"/>
                      </a:pPr>
                      <a:r>
                        <a:t>0.27 ± 0.17</a:t>
                      </a:r>
                    </a:p>
                  </a:txBody>
                  <a:tcPr>
                    <a:solidFill>
                      <a:srgbClr val="F2F4F7"/>
                    </a:solidFill>
                  </a:tcPr>
                </a:tc>
                <a:tc>
                  <a:txBody>
                    <a:bodyPr/>
                    <a:lstStyle/>
                    <a:p>
                      <a:pPr>
                        <a:defRPr sz="1000"/>
                      </a:pPr>
                      <a:r>
                        <a:t>3.23 ± 0.73</a:t>
                      </a:r>
                    </a:p>
                  </a:txBody>
                  <a:tcPr>
                    <a:solidFill>
                      <a:srgbClr val="F2F4F7"/>
                    </a:solidFill>
                  </a:tcPr>
                </a:tc>
                <a:tc>
                  <a:txBody>
                    <a:bodyPr/>
                    <a:lstStyle/>
                    <a:p>
                      <a:pPr>
                        <a:defRPr sz="1000"/>
                      </a:pPr>
                      <a:r>
                        <a:t>9.70 ± 1.34</a:t>
                      </a:r>
                    </a:p>
                  </a:txBody>
                  <a:tcPr>
                    <a:solidFill>
                      <a:srgbClr val="F2F4F7"/>
                    </a:solidFill>
                  </a:tcPr>
                </a:tc>
                <a:tc>
                  <a:txBody>
                    <a:bodyPr/>
                    <a:lstStyle/>
                    <a:p>
                      <a:pPr>
                        <a:defRPr sz="1000"/>
                      </a:pPr>
                      <a:r>
                        <a:t>13.33 ± 3.09</a:t>
                      </a:r>
                    </a:p>
                  </a:txBody>
                  <a:tcPr>
                    <a:solidFill>
                      <a:srgbClr val="F2F4F7"/>
                    </a:solidFill>
                  </a:tcPr>
                </a:tc>
                <a:tc>
                  <a:txBody>
                    <a:bodyPr/>
                    <a:lstStyle/>
                    <a:p>
                      <a:pPr>
                        <a:defRPr sz="1000"/>
                      </a:pPr>
                      <a:r>
                        <a:t>11.30 ± 2.81</a:t>
                      </a:r>
                    </a:p>
                  </a:txBody>
                  <a:tcPr>
                    <a:solidFill>
                      <a:srgbClr val="F2F4F7"/>
                    </a:solidFill>
                  </a:tcPr>
                </a:tc>
              </a:tr>
              <a:tr h="399010">
                <a:tc>
                  <a:txBody>
                    <a:bodyPr/>
                    <a:lstStyle/>
                    <a:p>
                      <a:pPr>
                        <a:defRPr sz="1000"/>
                      </a:pPr>
                      <a:r>
                        <a:t>Fixed global quantile + water-fill</a:t>
                      </a:r>
                    </a:p>
                  </a:txBody>
                  <a:tcPr>
                    <a:solidFill>
                      <a:srgbClr val="FFFFFF"/>
                    </a:solidFill>
                  </a:tcPr>
                </a:tc>
                <a:tc>
                  <a:txBody>
                    <a:bodyPr/>
                    <a:lstStyle/>
                    <a:p>
                      <a:pPr>
                        <a:defRPr sz="1000"/>
                      </a:pPr>
                      <a:r>
                        <a:t>0.34 ± 0.23</a:t>
                      </a:r>
                    </a:p>
                  </a:txBody>
                  <a:tcPr>
                    <a:solidFill>
                      <a:srgbClr val="FFFFFF"/>
                    </a:solidFill>
                  </a:tcPr>
                </a:tc>
                <a:tc>
                  <a:txBody>
                    <a:bodyPr/>
                    <a:lstStyle/>
                    <a:p>
                      <a:pPr>
                        <a:defRPr sz="1000"/>
                      </a:pPr>
                      <a:r>
                        <a:t>4.35 ± 1.02</a:t>
                      </a:r>
                    </a:p>
                  </a:txBody>
                  <a:tcPr>
                    <a:solidFill>
                      <a:srgbClr val="FFFFFF"/>
                    </a:solidFill>
                  </a:tcPr>
                </a:tc>
                <a:tc>
                  <a:txBody>
                    <a:bodyPr/>
                    <a:lstStyle/>
                    <a:p>
                      <a:pPr>
                        <a:defRPr sz="1000"/>
                      </a:pPr>
                      <a:r>
                        <a:t>11.76 ± 1.44</a:t>
                      </a:r>
                    </a:p>
                  </a:txBody>
                  <a:tcPr>
                    <a:solidFill>
                      <a:srgbClr val="FFFFFF"/>
                    </a:solidFill>
                  </a:tcPr>
                </a:tc>
                <a:tc>
                  <a:txBody>
                    <a:bodyPr/>
                    <a:lstStyle/>
                    <a:p>
                      <a:pPr>
                        <a:defRPr sz="1000"/>
                      </a:pPr>
                      <a:r>
                        <a:t>15.09 ± 3.17</a:t>
                      </a:r>
                    </a:p>
                  </a:txBody>
                  <a:tcPr>
                    <a:solidFill>
                      <a:srgbClr val="FFFFFF"/>
                    </a:solidFill>
                  </a:tcPr>
                </a:tc>
                <a:tc>
                  <a:txBody>
                    <a:bodyPr/>
                    <a:lstStyle/>
                    <a:p>
                      <a:pPr>
                        <a:defRPr sz="1000"/>
                      </a:pPr>
                      <a:r>
                        <a:t>12.85 ± 3.32</a:t>
                      </a:r>
                    </a:p>
                  </a:txBody>
                  <a:tcPr>
                    <a:solidFill>
                      <a:srgbClr val="FFFFFF"/>
                    </a:solidFill>
                  </a:tcPr>
                </a:tc>
              </a:tr>
              <a:tr h="399010">
                <a:tc>
                  <a:txBody>
                    <a:bodyPr/>
                    <a:lstStyle/>
                    <a:p>
                      <a:pPr>
                        <a:defRPr sz="1000"/>
                      </a:pPr>
                      <a:r>
                        <a:t>Proposed rule, simple quantiles (no ML)</a:t>
                      </a:r>
                    </a:p>
                  </a:txBody>
                  <a:tcPr>
                    <a:solidFill>
                      <a:srgbClr val="F2F4F7"/>
                    </a:solidFill>
                  </a:tcPr>
                </a:tc>
                <a:tc>
                  <a:txBody>
                    <a:bodyPr/>
                    <a:lstStyle/>
                    <a:p>
                      <a:pPr>
                        <a:defRPr sz="1000"/>
                      </a:pPr>
                      <a:r>
                        <a:t>0.25 ± 0.13</a:t>
                      </a:r>
                    </a:p>
                  </a:txBody>
                  <a:tcPr>
                    <a:solidFill>
                      <a:srgbClr val="F2F4F7"/>
                    </a:solidFill>
                  </a:tcPr>
                </a:tc>
                <a:tc>
                  <a:txBody>
                    <a:bodyPr/>
                    <a:lstStyle/>
                    <a:p>
                      <a:pPr>
                        <a:defRPr sz="1000"/>
                      </a:pPr>
                      <a:r>
                        <a:t>2.57 ± 0.64</a:t>
                      </a:r>
                    </a:p>
                  </a:txBody>
                  <a:tcPr>
                    <a:solidFill>
                      <a:srgbClr val="F2F4F7"/>
                    </a:solidFill>
                  </a:tcPr>
                </a:tc>
                <a:tc>
                  <a:txBody>
                    <a:bodyPr/>
                    <a:lstStyle/>
                    <a:p>
                      <a:pPr>
                        <a:defRPr sz="1000"/>
                      </a:pPr>
                      <a:r>
                        <a:t>8.72 ± 1.34</a:t>
                      </a:r>
                    </a:p>
                  </a:txBody>
                  <a:tcPr>
                    <a:solidFill>
                      <a:srgbClr val="F2F4F7"/>
                    </a:solidFill>
                  </a:tcPr>
                </a:tc>
                <a:tc>
                  <a:txBody>
                    <a:bodyPr/>
                    <a:lstStyle/>
                    <a:p>
                      <a:pPr>
                        <a:defRPr sz="1000"/>
                      </a:pPr>
                      <a:r>
                        <a:t>12.67 ± 3.19</a:t>
                      </a:r>
                    </a:p>
                  </a:txBody>
                  <a:tcPr>
                    <a:solidFill>
                      <a:srgbClr val="F2F4F7"/>
                    </a:solidFill>
                  </a:tcPr>
                </a:tc>
                <a:tc>
                  <a:txBody>
                    <a:bodyPr/>
                    <a:lstStyle/>
                    <a:p>
                      <a:pPr>
                        <a:defRPr sz="1000"/>
                      </a:pPr>
                      <a:r>
                        <a:t>10.22 ± 2.88</a:t>
                      </a:r>
                    </a:p>
                  </a:txBody>
                  <a:tcPr>
                    <a:solidFill>
                      <a:srgbClr val="F2F4F7"/>
                    </a:solidFill>
                  </a:tcPr>
                </a:tc>
              </a:tr>
              <a:tr h="399010">
                <a:tc>
                  <a:txBody>
                    <a:bodyPr/>
                    <a:lstStyle/>
                    <a:p>
                      <a:pPr>
                        <a:defRPr sz="1000"/>
                      </a:pPr>
                      <a:r>
                        <a:t>Proposed (GBM quantiles + KKT rule)</a:t>
                      </a:r>
                    </a:p>
                  </a:txBody>
                  <a:tcPr>
                    <a:solidFill>
                      <a:srgbClr val="FFFFFF"/>
                    </a:solidFill>
                  </a:tcPr>
                </a:tc>
                <a:tc>
                  <a:txBody>
                    <a:bodyPr/>
                    <a:lstStyle/>
                    <a:p>
                      <a:pPr>
                        <a:defRPr sz="1000"/>
                      </a:pPr>
                      <a:r>
                        <a:t>0.15 ± 0.13</a:t>
                      </a:r>
                    </a:p>
                  </a:txBody>
                  <a:tcPr>
                    <a:solidFill>
                      <a:srgbClr val="FFFFFF"/>
                    </a:solidFill>
                  </a:tcPr>
                </a:tc>
                <a:tc>
                  <a:txBody>
                    <a:bodyPr/>
                    <a:lstStyle/>
                    <a:p>
                      <a:pPr>
                        <a:defRPr sz="1000"/>
                      </a:pPr>
                      <a:r>
                        <a:t>2.15 ± 0.60</a:t>
                      </a:r>
                    </a:p>
                  </a:txBody>
                  <a:tcPr>
                    <a:solidFill>
                      <a:srgbClr val="FFFFFF"/>
                    </a:solidFill>
                  </a:tcPr>
                </a:tc>
                <a:tc>
                  <a:txBody>
                    <a:bodyPr/>
                    <a:lstStyle/>
                    <a:p>
                      <a:pPr>
                        <a:defRPr sz="1000"/>
                      </a:pPr>
                      <a:r>
                        <a:t>8.00 ± 1.27</a:t>
                      </a:r>
                    </a:p>
                  </a:txBody>
                  <a:tcPr>
                    <a:solidFill>
                      <a:srgbClr val="FFFFFF"/>
                    </a:solidFill>
                  </a:tcPr>
                </a:tc>
                <a:tc>
                  <a:txBody>
                    <a:bodyPr/>
                    <a:lstStyle/>
                    <a:p>
                      <a:pPr>
                        <a:defRPr sz="1000"/>
                      </a:pPr>
                      <a:r>
                        <a:t>11.76 ± 3.08</a:t>
                      </a:r>
                    </a:p>
                  </a:txBody>
                  <a:tcPr>
                    <a:solidFill>
                      <a:srgbClr val="FFFFFF"/>
                    </a:solidFill>
                  </a:tcPr>
                </a:tc>
                <a:tc>
                  <a:txBody>
                    <a:bodyPr/>
                    <a:lstStyle/>
                    <a:p>
                      <a:pPr>
                        <a:defRPr sz="1000"/>
                      </a:pPr>
                      <a:r>
                        <a:t>10.04 ± 2.71</a:t>
                      </a:r>
                    </a:p>
                  </a:txBody>
                  <a:tcPr>
                    <a:solidFill>
                      <a:srgbClr val="FFFFFF"/>
                    </a:solidFill>
                  </a:tcPr>
                </a:tc>
              </a:tr>
              <a:tr h="399010">
                <a:tc>
                  <a:txBody>
                    <a:bodyPr/>
                    <a:lstStyle/>
                    <a:p>
                      <a:pPr>
                        <a:defRPr sz="1000"/>
                      </a:pPr>
                      <a:r>
                        <a:t>Proposed + online calibration</a:t>
                      </a:r>
                    </a:p>
                  </a:txBody>
                  <a:tcPr>
                    <a:solidFill>
                      <a:srgbClr val="F2F4F7"/>
                    </a:solidFill>
                  </a:tcPr>
                </a:tc>
                <a:tc>
                  <a:txBody>
                    <a:bodyPr/>
                    <a:lstStyle/>
                    <a:p>
                      <a:pPr>
                        <a:defRPr sz="1000"/>
                      </a:pPr>
                      <a:r>
                        <a:t>0.17 ± 0.13</a:t>
                      </a:r>
                    </a:p>
                  </a:txBody>
                  <a:tcPr>
                    <a:solidFill>
                      <a:srgbClr val="F2F4F7"/>
                    </a:solidFill>
                  </a:tcPr>
                </a:tc>
                <a:tc>
                  <a:txBody>
                    <a:bodyPr/>
                    <a:lstStyle/>
                    <a:p>
                      <a:pPr>
                        <a:defRPr sz="1000"/>
                      </a:pPr>
                      <a:r>
                        <a:t>2.17 ± 0.61</a:t>
                      </a:r>
                    </a:p>
                  </a:txBody>
                  <a:tcPr>
                    <a:solidFill>
                      <a:srgbClr val="F2F4F7"/>
                    </a:solidFill>
                  </a:tcPr>
                </a:tc>
                <a:tc>
                  <a:txBody>
                    <a:bodyPr/>
                    <a:lstStyle/>
                    <a:p>
                      <a:pPr>
                        <a:defRPr sz="1000"/>
                      </a:pPr>
                      <a:r>
                        <a:t>8.14 ± 1.30</a:t>
                      </a:r>
                    </a:p>
                  </a:txBody>
                  <a:tcPr>
                    <a:solidFill>
                      <a:srgbClr val="F2F4F7"/>
                    </a:solidFill>
                  </a:tcPr>
                </a:tc>
                <a:tc>
                  <a:txBody>
                    <a:bodyPr/>
                    <a:lstStyle/>
                    <a:p>
                      <a:pPr>
                        <a:defRPr sz="1000"/>
                      </a:pPr>
                      <a:r>
                        <a:t>12.27 ± 3.26</a:t>
                      </a:r>
                    </a:p>
                  </a:txBody>
                  <a:tcPr>
                    <a:solidFill>
                      <a:srgbClr val="F2F4F7"/>
                    </a:solidFill>
                  </a:tcPr>
                </a:tc>
                <a:tc>
                  <a:txBody>
                    <a:bodyPr/>
                    <a:lstStyle/>
                    <a:p>
                      <a:pPr>
                        <a:defRPr sz="1000"/>
                      </a:pPr>
                      <a:r>
                        <a:t>11.12 ± 3.22</a:t>
                      </a:r>
                    </a:p>
                  </a:txBody>
                  <a:tcPr>
                    <a:solidFill>
                      <a:srgbClr val="F2F4F7"/>
                    </a:solidFill>
                  </a:tcPr>
                </a:tc>
              </a:tr>
              <a:tr h="399020">
                <a:tc>
                  <a:txBody>
                    <a:bodyPr/>
                    <a:lstStyle/>
                    <a:p>
                      <a:pPr>
                        <a:defRPr sz="1000"/>
                      </a:pPr>
                      <a:r>
                        <a:t>Oracle water-fill (knows the future)</a:t>
                      </a:r>
                    </a:p>
                  </a:txBody>
                  <a:tcPr>
                    <a:solidFill>
                      <a:srgbClr val="FFFFFF"/>
                    </a:solidFill>
                  </a:tcPr>
                </a:tc>
                <a:tc>
                  <a:txBody>
                    <a:bodyPr/>
                    <a:lstStyle/>
                    <a:p>
                      <a:pPr>
                        <a:defRPr sz="1000"/>
                      </a:pPr>
                      <a:r>
                        <a:t>0.07 ± 0.10</a:t>
                      </a:r>
                    </a:p>
                  </a:txBody>
                  <a:tcPr>
                    <a:solidFill>
                      <a:srgbClr val="FFFFFF"/>
                    </a:solidFill>
                  </a:tcPr>
                </a:tc>
                <a:tc>
                  <a:txBody>
                    <a:bodyPr/>
                    <a:lstStyle/>
                    <a:p>
                      <a:pPr>
                        <a:defRPr sz="1000"/>
                      </a:pPr>
                      <a:r>
                        <a:t>1.62 ± 0.56</a:t>
                      </a:r>
                    </a:p>
                  </a:txBody>
                  <a:tcPr>
                    <a:solidFill>
                      <a:srgbClr val="FFFFFF"/>
                    </a:solidFill>
                  </a:tcPr>
                </a:tc>
                <a:tc>
                  <a:txBody>
                    <a:bodyPr/>
                    <a:lstStyle/>
                    <a:p>
                      <a:pPr>
                        <a:defRPr sz="1000"/>
                      </a:pPr>
                      <a:r>
                        <a:t>6.89 ± 1.28</a:t>
                      </a:r>
                    </a:p>
                  </a:txBody>
                  <a:tcPr>
                    <a:solidFill>
                      <a:srgbClr val="FFFFFF"/>
                    </a:solidFill>
                  </a:tcPr>
                </a:tc>
                <a:tc>
                  <a:txBody>
                    <a:bodyPr/>
                    <a:lstStyle/>
                    <a:p>
                      <a:pPr>
                        <a:defRPr sz="1000"/>
                      </a:pPr>
                      <a:r>
                        <a:t>10.16 ± 2.96</a:t>
                      </a:r>
                    </a:p>
                  </a:txBody>
                  <a:tcPr>
                    <a:solidFill>
                      <a:srgbClr val="FFFFFF"/>
                    </a:solidFill>
                  </a:tcPr>
                </a:tc>
                <a:tc>
                  <a:txBody>
                    <a:bodyPr/>
                    <a:lstStyle/>
                    <a:p>
                      <a:pPr>
                        <a:defRPr sz="1000"/>
                      </a:pPr>
                      <a:r>
                        <a:t>6.69 ± 2.60</a:t>
                      </a:r>
                    </a:p>
                  </a:txBody>
                  <a:tcPr>
                    <a:solidFill>
                      <a:srgbClr val="FFFFFF"/>
                    </a:solidFill>
                  </a:tcPr>
                </a:tc>
              </a:tr>
            </a:tbl>
          </a:graphicData>
        </a:graphic>
      </p:graphicFrame>
      <p:sp>
        <p:nvSpPr>
          <p:cNvPr id="7" name="TextBox 6"/>
          <p:cNvSpPr txBox="1"/>
          <p:nvPr/>
        </p:nvSpPr>
        <p:spPr>
          <a:xfrm>
            <a:off x="365760" y="5486400"/>
            <a:ext cx="10972800" cy="365760"/>
          </a:xfrm>
          <a:prstGeom prst="rect">
            <a:avLst/>
          </a:prstGeom>
          <a:noFill/>
        </p:spPr>
        <p:txBody>
          <a:bodyPr wrap="square">
            <a:spAutoFit/>
          </a:bodyPr>
          <a:lstStyle/>
          <a:p>
            <a:pPr algn="l">
              <a:defRPr sz="1100" b="0" i="1">
                <a:solidFill>
                  <a:srgbClr val="555555"/>
                </a:solidFill>
              </a:defRPr>
            </a:pPr>
            <a:r>
              <a:t>Source: results/fhlm/main_runs.csv (1000 runs). Seed-by-seed statistics: results/fhlm/main_paired.csv.</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92640" cy="640080"/>
          </a:xfrm>
          <a:prstGeom prst="rect">
            <a:avLst/>
          </a:prstGeom>
          <a:noFill/>
        </p:spPr>
        <p:txBody>
          <a:bodyPr wrap="square">
            <a:spAutoFit/>
          </a:bodyPr>
          <a:lstStyle/>
          <a:p>
            <a:pPr>
              <a:defRPr sz="2400" b="1">
                <a:solidFill>
                  <a:srgbClr val="FFFFFF"/>
                </a:solidFill>
              </a:defRPr>
            </a:pPr>
            <a:r>
              <a:t>Backup: where the KKT rule comes from</a:t>
            </a:r>
          </a:p>
        </p:txBody>
      </p:sp>
      <p:sp>
        <p:nvSpPr>
          <p:cNvPr id="4" name="TextBox 3"/>
          <p:cNvSpPr txBox="1"/>
          <p:nvPr/>
        </p:nvSpPr>
        <p:spPr>
          <a:xfrm>
            <a:off x="9966960" y="256032"/>
            <a:ext cx="2103120" cy="365760"/>
          </a:xfrm>
          <a:prstGeom prst="rect">
            <a:avLst/>
          </a:prstGeom>
          <a:noFill/>
        </p:spPr>
        <p:txBody>
          <a:bodyPr wrap="none">
            <a:spAutoFit/>
          </a:bodyPr>
          <a:lstStyle/>
          <a:p>
            <a:pPr algn="r">
              <a:defRPr sz="1100">
                <a:solidFill>
                  <a:srgbClr val="CFD8E3"/>
                </a:solidFill>
              </a:defRPr>
            </a:pPr>
            <a:r>
              <a:t>Backup</a:t>
            </a:r>
          </a:p>
        </p:txBody>
      </p:sp>
      <p:sp>
        <p:nvSpPr>
          <p:cNvPr id="5" name="TextBox 4"/>
          <p:cNvSpPr txBox="1"/>
          <p:nvPr/>
        </p:nvSpPr>
        <p:spPr>
          <a:xfrm>
            <a:off x="365760" y="6446520"/>
            <a:ext cx="11430000" cy="320040"/>
          </a:xfrm>
          <a:prstGeom prst="rect">
            <a:avLst/>
          </a:prstGeom>
          <a:noFill/>
        </p:spPr>
        <p:txBody>
          <a:bodyPr wrap="none">
            <a:spAutoFit/>
          </a:bodyPr>
          <a:lstStyle/>
          <a:p>
            <a:pPr algn="r">
              <a:defRPr sz="900">
                <a:solidFill>
                  <a:srgbClr val="555555"/>
                </a:solidFill>
              </a:defRPr>
            </a:pPr>
            <a:r>
              <a:t>BTP mid-evaluation  |  Fronthaul load management  |  22</a:t>
            </a:r>
          </a:p>
        </p:txBody>
      </p:sp>
      <p:sp>
        <p:nvSpPr>
          <p:cNvPr id="6" name="TextBox 5"/>
          <p:cNvSpPr txBox="1"/>
          <p:nvPr/>
        </p:nvSpPr>
        <p:spPr>
          <a:xfrm>
            <a:off x="457200" y="1005840"/>
            <a:ext cx="11247120" cy="5303520"/>
          </a:xfrm>
          <a:prstGeom prst="rect">
            <a:avLst/>
          </a:prstGeom>
          <a:noFill/>
        </p:spPr>
        <p:txBody>
          <a:bodyPr wrap="square">
            <a:spAutoFit/>
          </a:bodyPr>
          <a:lstStyle/>
          <a:p>
            <a:pPr>
              <a:spcAft>
                <a:spcPts val="600"/>
              </a:spcAft>
              <a:defRPr sz="1400" b="0">
                <a:solidFill>
                  <a:srgbClr val="222222"/>
                </a:solidFill>
              </a:defRPr>
            </a:pPr>
            <a:r>
              <a:t>• Objective: J(r) = Σ_i w_i · E[ min(B_i + X_i, r_i) ],   X_i ~ forecast distribution F_i of r*_i, B_i = backlog rate</a:t>
            </a:r>
          </a:p>
          <a:p>
            <a:pPr>
              <a:spcAft>
                <a:spcPts val="600"/>
              </a:spcAft>
              <a:defRPr sz="1400" b="0">
                <a:solidFill>
                  <a:srgbClr val="222222"/>
                </a:solidFill>
              </a:defRPr>
            </a:pPr>
            <a:r>
              <a:t>• Derivative: d/dr_i E[min(B_i + X_i, r_i)] = P(B_i + X_i &gt; r_i) = 1 − F_i(r_i − B_i)   → J is concave and separable</a:t>
            </a:r>
          </a:p>
          <a:p>
            <a:pPr>
              <a:spcAft>
                <a:spcPts val="600"/>
              </a:spcAft>
              <a:defRPr sz="1400" b="0">
                <a:solidFill>
                  <a:srgbClr val="222222"/>
                </a:solidFill>
              </a:defRPr>
            </a:pPr>
            <a:r>
              <a:t>• Lagrangian with the link constraint (λ) and the box constraints (μ_i, ν_i)</a:t>
            </a:r>
          </a:p>
          <a:p>
            <a:pPr>
              <a:spcAft>
                <a:spcPts val="600"/>
              </a:spcAft>
              <a:defRPr sz="1400" b="0">
                <a:solidFill>
                  <a:srgbClr val="222222"/>
                </a:solidFill>
              </a:defRPr>
            </a:pPr>
            <a:r>
              <a:t>• Stationarity for an interior r_i:  w_i (1 − F_i(r_i − B_i)) = λ   ⇒   r_i = B_i + F_i⁻¹(1 − λ / w_i)</a:t>
            </a:r>
          </a:p>
          <a:p>
            <a:pPr>
              <a:spcAft>
                <a:spcPts val="600"/>
              </a:spcAft>
              <a:defRPr sz="1400" b="0">
                <a:solidFill>
                  <a:srgbClr val="222222"/>
                </a:solidFill>
              </a:defRPr>
            </a:pPr>
            <a:r>
              <a:t>• Clip to [0, peak_i]; Σ_i r_i(λ) decreases in λ ⇒ one λ* by bisection (60 steps)</a:t>
            </a:r>
          </a:p>
          <a:p>
            <a:pPr>
              <a:spcAft>
                <a:spcPts val="600"/>
              </a:spcAft>
              <a:defRPr sz="1400" b="0">
                <a:solidFill>
                  <a:srgbClr val="222222"/>
                </a:solidFill>
              </a:defRPr>
            </a:pPr>
            <a:r>
              <a:t>• Property 1 (feasibility): budgets always respect the caps and Σ r_i ≤ link; checked by test_kkt_allocation_properties</a:t>
            </a:r>
          </a:p>
          <a:p>
            <a:pPr>
              <a:spcAft>
                <a:spcPts val="600"/>
              </a:spcAft>
              <a:defRPr sz="1400" b="0">
                <a:solidFill>
                  <a:srgbClr val="222222"/>
                </a:solidFill>
              </a:defRPr>
            </a:pPr>
            <a:r>
              <a:t>• Property 2 (equal weighted risk): at the optimum every interior cell has w_i · P(needs one more bit) = λ*</a:t>
            </a:r>
          </a:p>
          <a:p>
            <a:pPr>
              <a:spcAft>
                <a:spcPts val="600"/>
              </a:spcAft>
              <a:defRPr sz="1400" b="0">
                <a:solidFill>
                  <a:srgbClr val="222222"/>
                </a:solidFill>
              </a:defRPr>
            </a:pPr>
            <a:r>
              <a:t>• Property 3 (backlog first): F_i(x) = 0 for x &lt; 0 ⇒ the marginal value below B_i is w_i ⇒ backlog is funded before any uncertain demand of a cell with w ≤ λ*</a:t>
            </a:r>
          </a:p>
          <a:p>
            <a:pPr>
              <a:spcAft>
                <a:spcPts val="600"/>
              </a:spcAft>
              <a:defRPr sz="1400" b="0">
                <a:solidFill>
                  <a:srgbClr val="222222"/>
                </a:solidFill>
              </a:defRPr>
            </a:pPr>
            <a:r>
              <a:t>• A single-number forecast (F_i a step) gives a priority-ordered fill = the point-forecast water-fill baseline</a:t>
            </a:r>
          </a:p>
          <a:p>
            <a:pPr>
              <a:spcAft>
                <a:spcPts val="600"/>
              </a:spcAft>
              <a:defRPr sz="1400" b="0">
                <a:solidFill>
                  <a:srgbClr val="222222"/>
                </a:solidFill>
              </a:defRPr>
            </a:pPr>
            <a:r>
              <a:t>• F_i⁻¹: straight lines through the 6 forecast quantiles, extended linearly above 95 %; quantiles sorted to keep them monotone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92640" cy="640080"/>
          </a:xfrm>
          <a:prstGeom prst="rect">
            <a:avLst/>
          </a:prstGeom>
          <a:noFill/>
        </p:spPr>
        <p:txBody>
          <a:bodyPr wrap="square">
            <a:spAutoFit/>
          </a:bodyPr>
          <a:lstStyle/>
          <a:p>
            <a:pPr>
              <a:defRPr sz="2400" b="1">
                <a:solidFill>
                  <a:srgbClr val="FFFFFF"/>
                </a:solidFill>
              </a:defRPr>
            </a:pPr>
            <a:r>
              <a:t>Backup: decision time and violation-vs-utilisation trade-off</a:t>
            </a:r>
          </a:p>
        </p:txBody>
      </p:sp>
      <p:sp>
        <p:nvSpPr>
          <p:cNvPr id="4" name="TextBox 3"/>
          <p:cNvSpPr txBox="1"/>
          <p:nvPr/>
        </p:nvSpPr>
        <p:spPr>
          <a:xfrm>
            <a:off x="9966960" y="256032"/>
            <a:ext cx="2103120" cy="365760"/>
          </a:xfrm>
          <a:prstGeom prst="rect">
            <a:avLst/>
          </a:prstGeom>
          <a:noFill/>
        </p:spPr>
        <p:txBody>
          <a:bodyPr wrap="none">
            <a:spAutoFit/>
          </a:bodyPr>
          <a:lstStyle/>
          <a:p>
            <a:pPr algn="r">
              <a:defRPr sz="1100">
                <a:solidFill>
                  <a:srgbClr val="CFD8E3"/>
                </a:solidFill>
              </a:defRPr>
            </a:pPr>
            <a:r>
              <a:t>Backup</a:t>
            </a:r>
          </a:p>
        </p:txBody>
      </p:sp>
      <p:sp>
        <p:nvSpPr>
          <p:cNvPr id="5" name="TextBox 4"/>
          <p:cNvSpPr txBox="1"/>
          <p:nvPr/>
        </p:nvSpPr>
        <p:spPr>
          <a:xfrm>
            <a:off x="365760" y="6446520"/>
            <a:ext cx="11430000" cy="320040"/>
          </a:xfrm>
          <a:prstGeom prst="rect">
            <a:avLst/>
          </a:prstGeom>
          <a:noFill/>
        </p:spPr>
        <p:txBody>
          <a:bodyPr wrap="none">
            <a:spAutoFit/>
          </a:bodyPr>
          <a:lstStyle/>
          <a:p>
            <a:pPr algn="r">
              <a:defRPr sz="900">
                <a:solidFill>
                  <a:srgbClr val="555555"/>
                </a:solidFill>
              </a:defRPr>
            </a:pPr>
            <a:r>
              <a:t>BTP mid-evaluation  |  Fronthaul load management  |  23</a:t>
            </a:r>
          </a:p>
        </p:txBody>
      </p:sp>
      <p:pic>
        <p:nvPicPr>
          <p:cNvPr id="6" name="Picture 5" descr="fig7_decision_time.png"/>
          <p:cNvPicPr>
            <a:picLocks noChangeAspect="1"/>
          </p:cNvPicPr>
          <p:nvPr/>
        </p:nvPicPr>
        <p:blipFill>
          <a:blip r:embed="rId3"/>
          <a:stretch>
            <a:fillRect/>
          </a:stretch>
        </p:blipFill>
        <p:spPr>
          <a:xfrm>
            <a:off x="274320" y="1097280"/>
            <a:ext cx="5120640" cy="2265738"/>
          </a:xfrm>
          <a:prstGeom prst="rect">
            <a:avLst/>
          </a:prstGeom>
        </p:spPr>
      </p:pic>
      <p:pic>
        <p:nvPicPr>
          <p:cNvPr id="7" name="Picture 6" descr="fig3_tradeoff.png"/>
          <p:cNvPicPr>
            <a:picLocks noChangeAspect="1"/>
          </p:cNvPicPr>
          <p:nvPr/>
        </p:nvPicPr>
        <p:blipFill>
          <a:blip r:embed="rId4"/>
          <a:stretch>
            <a:fillRect/>
          </a:stretch>
        </p:blipFill>
        <p:spPr>
          <a:xfrm>
            <a:off x="5486400" y="1097280"/>
            <a:ext cx="6492240" cy="2541524"/>
          </a:xfrm>
          <a:prstGeom prst="rect">
            <a:avLst/>
          </a:prstGeom>
        </p:spPr>
      </p:pic>
      <p:sp>
        <p:nvSpPr>
          <p:cNvPr id="8" name="TextBox 7"/>
          <p:cNvSpPr txBox="1"/>
          <p:nvPr/>
        </p:nvSpPr>
        <p:spPr>
          <a:xfrm>
            <a:off x="365760" y="5120640"/>
            <a:ext cx="11430000" cy="731520"/>
          </a:xfrm>
          <a:prstGeom prst="rect">
            <a:avLst/>
          </a:prstGeom>
          <a:noFill/>
        </p:spPr>
        <p:txBody>
          <a:bodyPr wrap="square">
            <a:spAutoFit/>
          </a:bodyPr>
          <a:lstStyle/>
          <a:p>
            <a:pPr algn="l">
              <a:defRPr sz="1200" b="0" i="0">
                <a:solidFill>
                  <a:srgbClr val="555555"/>
                </a:solidFill>
              </a:defRPr>
            </a:pPr>
            <a:r>
              <a:t>Decision times are Python on a 4-core CPU inside the simulator (feature construction + 1,800 trees with a vectorised traversal + bisection). The rule itself is &lt; 0.1 ms.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92640" cy="640080"/>
          </a:xfrm>
          <a:prstGeom prst="rect">
            <a:avLst/>
          </a:prstGeom>
          <a:noFill/>
        </p:spPr>
        <p:txBody>
          <a:bodyPr wrap="square">
            <a:spAutoFit/>
          </a:bodyPr>
          <a:lstStyle/>
          <a:p>
            <a:pPr>
              <a:defRPr sz="2400" b="1">
                <a:solidFill>
                  <a:srgbClr val="FFFFFF"/>
                </a:solidFill>
              </a:defRPr>
            </a:pPr>
            <a:r>
              <a:t>Backup: references</a:t>
            </a:r>
          </a:p>
        </p:txBody>
      </p:sp>
      <p:sp>
        <p:nvSpPr>
          <p:cNvPr id="4" name="TextBox 3"/>
          <p:cNvSpPr txBox="1"/>
          <p:nvPr/>
        </p:nvSpPr>
        <p:spPr>
          <a:xfrm>
            <a:off x="9966960" y="256032"/>
            <a:ext cx="2103120" cy="365760"/>
          </a:xfrm>
          <a:prstGeom prst="rect">
            <a:avLst/>
          </a:prstGeom>
          <a:noFill/>
        </p:spPr>
        <p:txBody>
          <a:bodyPr wrap="none">
            <a:spAutoFit/>
          </a:bodyPr>
          <a:lstStyle/>
          <a:p>
            <a:pPr algn="r">
              <a:defRPr sz="1100">
                <a:solidFill>
                  <a:srgbClr val="CFD8E3"/>
                </a:solidFill>
              </a:defRPr>
            </a:pPr>
            <a:r>
              <a:t>Backup</a:t>
            </a:r>
          </a:p>
        </p:txBody>
      </p:sp>
      <p:sp>
        <p:nvSpPr>
          <p:cNvPr id="5" name="TextBox 4"/>
          <p:cNvSpPr txBox="1"/>
          <p:nvPr/>
        </p:nvSpPr>
        <p:spPr>
          <a:xfrm>
            <a:off x="365760" y="6446520"/>
            <a:ext cx="11430000" cy="320040"/>
          </a:xfrm>
          <a:prstGeom prst="rect">
            <a:avLst/>
          </a:prstGeom>
          <a:noFill/>
        </p:spPr>
        <p:txBody>
          <a:bodyPr wrap="none">
            <a:spAutoFit/>
          </a:bodyPr>
          <a:lstStyle/>
          <a:p>
            <a:pPr algn="r">
              <a:defRPr sz="900">
                <a:solidFill>
                  <a:srgbClr val="555555"/>
                </a:solidFill>
              </a:defRPr>
            </a:pPr>
            <a:r>
              <a:t>BTP mid-evaluation  |  Fronthaul load management  |  24</a:t>
            </a:r>
          </a:p>
        </p:txBody>
      </p:sp>
      <p:sp>
        <p:nvSpPr>
          <p:cNvPr id="6" name="TextBox 5"/>
          <p:cNvSpPr txBox="1"/>
          <p:nvPr/>
        </p:nvSpPr>
        <p:spPr>
          <a:xfrm>
            <a:off x="457200" y="1005840"/>
            <a:ext cx="11247120" cy="5303520"/>
          </a:xfrm>
          <a:prstGeom prst="rect">
            <a:avLst/>
          </a:prstGeom>
          <a:noFill/>
        </p:spPr>
        <p:txBody>
          <a:bodyPr wrap="square">
            <a:spAutoFit/>
          </a:bodyPr>
          <a:lstStyle/>
          <a:p>
            <a:pPr>
              <a:spcAft>
                <a:spcPts val="600"/>
              </a:spcAft>
              <a:defRPr sz="1100" b="0">
                <a:solidFill>
                  <a:srgbClr val="222222"/>
                </a:solidFill>
              </a:defRPr>
            </a:pPr>
            <a:r>
              <a:t>• O-RAN WG4, Control, User and Synchronization Plane Specification (O-RAN.WG4.CUS.0) [standard]: 7-2x, BFP compression (Annex A.1), T2a windows. 3GPP TR 38.801 [standard]; 3GPP TR 38.901 (TDL-A channel) [standard]; IEEE 802.1CM-2018 [standard].</a:t>
            </a:r>
          </a:p>
          <a:p>
            <a:pPr>
              <a:spcAft>
                <a:spcPts val="600"/>
              </a:spcAft>
              <a:defRPr sz="1100" b="0">
                <a:solidFill>
                  <a:srgbClr val="222222"/>
                </a:solidFill>
              </a:defRPr>
            </a:pPr>
            <a:r>
              <a:t>• L. M. P. Larsen, A. Checko, H. L. Christiansen, 'A Survey of the Functional Splits Proposed for 5G Mobile Crosshaul Networks', IEEE COMST 21(1), 2019. DOI 10.1109/COMST.2018.2868805 [peer-reviewed]</a:t>
            </a:r>
          </a:p>
          <a:p>
            <a:pPr>
              <a:spcAft>
                <a:spcPts val="600"/>
              </a:spcAft>
              <a:defRPr sz="1100" b="0">
                <a:solidFill>
                  <a:srgbClr val="222222"/>
                </a:solidFill>
              </a:defRPr>
            </a:pPr>
            <a:r>
              <a:t>• G. O. Pérez, J. A. Hernández, D. Larrabeiti, 'Fronthaul Network Modeling and Dimensioning Meeting Ultra-Low Latency Requirements for 5G', JOCN 10(6), 2018. DOI 10.1364/JOCN.10.000573; IEEE Access 2019, DOI 10.1109/ACCESS.2019.2923020 [peer-reviewed]</a:t>
            </a:r>
          </a:p>
          <a:p>
            <a:pPr>
              <a:spcAft>
                <a:spcPts val="600"/>
              </a:spcAft>
              <a:defRPr sz="1100" b="0">
                <a:solidFill>
                  <a:srgbClr val="222222"/>
                </a:solidFill>
              </a:defRPr>
            </a:pPr>
            <a:r>
              <a:t>• L. Wang, S. Zhou, 'On the Fronthaul Statistical Multiplexing Gain', IEEE Commun. Lett. 21(5), 2017. DOI 10.1109/LCOMM.2017.2653120 [peer-reviewed]</a:t>
            </a:r>
          </a:p>
          <a:p>
            <a:pPr>
              <a:spcAft>
                <a:spcPts val="600"/>
              </a:spcAft>
              <a:defRPr sz="1100" b="0">
                <a:solidFill>
                  <a:srgbClr val="222222"/>
                </a:solidFill>
              </a:defRPr>
            </a:pPr>
            <a:r>
              <a:t>• S. Lagén, X. Gelabert, A. Hansson, M. Requena, L. Giupponi, 'Fronthaul Compression Control for Shared Fronthaul Access Networks', IEEE Commun. Mag. 2022. DOI 10.1109/MCOM.001.2100959 [peer-reviewed]</a:t>
            </a:r>
          </a:p>
          <a:p>
            <a:pPr>
              <a:spcAft>
                <a:spcPts val="600"/>
              </a:spcAft>
              <a:defRPr sz="1100" b="0">
                <a:solidFill>
                  <a:srgbClr val="222222"/>
                </a:solidFill>
              </a:defRPr>
            </a:pPr>
            <a:r>
              <a:t>• D. Bega, M. Gramaglia, M. Fiore, A. Banchs, X. Costa-Pérez, 'DeepCog', IEEE INFOCOM 2019, DOI 10.1109/INFOCOM.2019.8737488; 'AZTEC', IEEE INFOCOM 2020, DOI 10.1109/INFOCOM41043.2020.9155299 [peer-reviewed]</a:t>
            </a:r>
          </a:p>
          <a:p>
            <a:pPr>
              <a:spcAft>
                <a:spcPts val="600"/>
              </a:spcAft>
              <a:defRPr sz="1100" b="0">
                <a:solidFill>
                  <a:srgbClr val="222222"/>
                </a:solidFill>
              </a:defRPr>
            </a:pPr>
            <a:r>
              <a:t>• F. Kavehmadavani, V.-D. Nguyen, T. X. Vu, S. Chatzinotas, 'Intelligent Traffic Steering in Beyond 5G Open RAN Based on LSTM Traffic Prediction', IEEE TWC 2023. DOI 10.1109/TWC.2023.3254903 [peer-reviewed]</a:t>
            </a:r>
          </a:p>
          <a:p>
            <a:pPr>
              <a:spcAft>
                <a:spcPts val="600"/>
              </a:spcAft>
              <a:defRPr sz="1100" b="0">
                <a:solidFill>
                  <a:srgbClr val="222222"/>
                </a:solidFill>
              </a:defRPr>
            </a:pPr>
            <a:r>
              <a:t>• K. M. Cohen, S. Park, O. Simeone, P. Popovski, S. Shamai, 'Guaranteed Dynamic Scheduling of URLLC Traffic via Conformal Prediction', IEEE WCL 2023 [peer-reviewed]; I. Gibbs, E. Candès, 'Adaptive Conformal Inference Under Distribution Shift', NeurIPS 2021 [peer-reviewed]</a:t>
            </a:r>
          </a:p>
          <a:p>
            <a:pPr>
              <a:spcAft>
                <a:spcPts val="600"/>
              </a:spcAft>
              <a:defRPr sz="1100" b="0">
                <a:solidFill>
                  <a:srgbClr val="222222"/>
                </a:solidFill>
              </a:defRPr>
            </a:pPr>
            <a:r>
              <a:t>• V. Kasuluru, L. Blanco, C. J. Vaca-Rubio, E. Zeydan, 'On the Impact of PRB Load Uncertainty Forecasting for Sustainable Open RAN', arXiv:2407.14400, 2024 [preprint]</a:t>
            </a:r>
          </a:p>
          <a:p>
            <a:pPr>
              <a:spcAft>
                <a:spcPts val="600"/>
              </a:spcAft>
              <a:defRPr sz="1100" b="0">
                <a:solidFill>
                  <a:srgbClr val="222222"/>
                </a:solidFill>
              </a:defRPr>
            </a:pPr>
            <a:r>
              <a:t>• Eckart &amp; Young 1936 (best low-rank approximation = truncated SVD); Halko, Martinsson, Tropp, SIAM Review 2011 (randomised sketching for low-rank factorisation); Willinger et al., IEEE/ACM ToN 1997 (heavy-tailed ON/OFF sources); Hadley &amp; Whitin 1963 (constrained newsvendor); Le Boudec &amp; Thiran, Network Calculus, 2001.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