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(60-90 s): Good morning. My BTP is on fronthaul load management in Open RAN. In a 7-2x split, several radio units share one Ethernet fronthaul link that is deliberately over-subscribed to exploit statistical multiplexing. The distributed unit must decide how much of that link each cell may use in the next control interval, before it knows the traffic that will actually arrive, and the traffic is bursty. I built a slot-level simulator of this problem, implemented five baseline controllers including an oracle, and propose an allocation rule that uses a quantile forecast of each cell's deadline-feasible rate and a newsvendor-style KKT rule that equalises the weighted probability that the marginal bit is needed. On five test scenarios the rule reduces priority-weighted deadline violations by 10-50% against the point-forecast controller and beats the deadline-aware reactive baseline on every seed, but it is only a tie with the simplest proportional baseline under flash crowds, and online calibration did not help. Everything I show is produced by the code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7-2x split moves the low-PHY into the radio unit; the fronthaul then carries frequency-domain IQ samples per PRB, per layer, per symbol. Its bit rate is huge but, unlike 8, it depends on how many PRBs are actually scheduled, so an operator can over-subscribe a shared link. Our default: 8 cells of 100 MHz, 4 layers, BFP-9, whose summed peak is 2.4x the usable 25GE capacity. The price of over-subscription is that during coincident bursts someone has to back off, and the delay budget of the low-latency cells is only a couple of milliseconds. So the question is how to split the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slots of 0.5 ms. Arrivals are user bits per cell per slot; the DU converts them to PRBs using the cell's spectral efficiency and each PRB-layer costs a fixed number of fronthaul bits, so fronthaul demand is application demand divided by spectral efficiency times the IQ constant — the two are not interchangeable. Bits wait in a per-cell DU queue; a bit that waits longer than its class deadline is discarded and counted as a violation. The controller sets per-cell budgets in bits per slot that must sum to the usable link capacity, holds them for T=20 slots, and observes the state with a 2-slot telemetry delay. The DU scheduler then serves each queue FIFO up to its budget in every slot. The controller does not see the future, and neither do any of the practical baselines.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groups of work. First the primary sources for the fronthaul model. Second, predictive or anticipatory allocation: these papers forecast load, mostly with LSTMs or similar, then plan with the point forecast; uncertainty is handled by a fixed margin if at all. Third, uncertainty-aware forecasting and conformal/quantile methods, which so far have been applied to slicing or to cloud resources rather than to a shared fronthaul with per-class deadlines. The gap I address is the middle: the allocation rule that turns a predictive distribution into deadline-feasible budgets under one hard link constraint, compared fairly against strong reactive and point-forecast controllers. Full list with DOIs is in docs/fhlm/literature_review.md.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 chooses budgets on the simplex defined by the link capacity and per-cell caps. Our primary metric, fixed before any tuning, is the priority-weighted deadline-violation ratio: violated bits weighted by class priority over arrived bits weighted the same way. The key modelling step is the deadline-feasible rate r*: for a sequence of arrivals and a deadline D, r* is the smallest constant service rate under which no bit waits longer than D. It is a max over windows of the window sum divided by window length plus D — the network-calculus view of a deadline. For eMBB with D=20 it is close to the horizon mean; for LL with D=4 it is essentially the peak 4-slot burst rate, which is much harder to predict. Forecasting r* rather than volume is what makes the forecast deadline-aware.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references. Static equal share ignores everything. Reactive proportional is the classic: backlog plus an EWMA of recent demand, split proportionally, leftover redistributed. The deadline-aware reactive controller has the same deadline knowledge as our method: it uses the deadline-feasible rate of the last observed horizon as a persistence forecast, backlog slack, and priority weights. The point-forecast controller is the ablation: identical to the proposed method but uses the GBM median instead of the distribution. The oracle knows the actual next-horizon arrivals and removes forecast error from the water-fill family; it is a reference for the forecast, not a bound on other rules — in fact the KKT rule beats it at short intervals. It also bounds what interval-level allocation could achieve. All margins and windows were chosen on validation seeds; the tuned values are margin zero everywhere, meaning inflating a point estimate does not help under a proportional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components. The forecaster predicts six quantiles of each cell's next-horizon deadline-feasible rate with one gradient-boosted model per quantile, from 28 features built only from the observed past. The allocator then solves a separable concave program: maximise the weighted expected served demand, where the expectation is taken under the forecast distribution. The KKT conditions say each cell gets its backlog rate plus the inverse CDF at 1 minus lambda over its weight, and lambda is the single multiplier found by bisection so that the budgets sum to capacity. So all cells are cut at the same weighted tail probability: a cell whose forecast is wide or whose weight is high automatically receives a larger margin above its median; a confident cell gets almost exactly its median. Point forecasts are the degenerate case, which is why the median water-fill is the fair comparator. The rule is closed-form apart from a scalar bisection, feasibility is guaranteed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 fhlm has about 1,700 lines. config holds the units and the 7-2x constants; traffic generates the synthetic arrivals; demand implements r*; simulator is the slot loop with queues and accounting; controllers hold the five baselines; forecast the feature pipeline, quantile GBM and a compiled vectorised inference path; proposed the KKT allocator; scenarios the seed splits; train, run_experiments, make_figures and make_slides reproduce everything in this deck. Thirteen tests cover capacity compliance, non-negative queues, bit accounting, zero load, overload, reproducibility, r* tightness, KKT properties, the no-future-leakage contract and compiled-vs-sklearn equality.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Traffic is synthetic: a smooth Gamma component plus a Pareto-distributed ON/OFF bursty component per cell, slow log-normal regime changes about every second, and spectral-efficiency drift. Five scenarios differ in mean load and burstiness; 'shift' uses heavier and longer bursts than anything in training and is the held-out condition. Every method sees the same trace, seed by seed, so we can compare pairwise. Train, validation and test seeds are disjoint ranges. Absolute violation ratios are high because the traffic is deliberately heavy-tailed at 80% mean load; the comparison between methods is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Bars are the priority-weighted violation ratio; lower is better; black is the oracle. The proposed rule (red) is the best implementable method in every scenario. Against the point-forecast controller, which has the same model and the same information, it reduces the metric by 18% at high load and 10% under the held-out shift. Against the deadline-aware reactive baseline by 27% and 18%. Against the plain proportional controller the margin is 12% at high load but only 3% under flash crowds, where it wins 3 of 5 seeds — a tie. The std bars are large because seeds differ in burst timing; the paired analysis on the next slide is the correct reading.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the mean relative reduction of the primary metric by the proposed method against one baseline, computed seed by seed on the very same trace; whiskers are min and max over seeds and the text is how many of the five seeds the proposed method won. Against point forecast and the deadline-aware reactive controller it wins every seed in every scenario. Against the plain proportional controller it wins all seeds except under flash crowds. The green bars are the ML ablation: the same rule fed with empirical window quantiles instead of the GBM; the ML forecaster adds 5-50% in nominal traffic but almost nothing under the held-out shift, where the trained model is out of distribution. Purple: ACI calibration gives no benefit and is harmful under shift.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low-latency violations; middle: eMBB; right: link utilisation. The proportional controller keeps eMBB almost clean but lets low-latency cells lose 15% of their bits — the deadline-unaware failure mode. The deadline-aware family (blue, orange, red, black) protects the LL cells at the price of eMBB. Within that family the proposed rule has the lowest eMBB loss and the highest utilisation, because it reserves margin only where the forecast is uncertain instead of everywhere. The oracle shows that even perfect knowledge of the next interval leaves 13% eMBB loss at this load: budgets fixed for 10 ms cannot follow heavy-tailed bursts, so a shorter interval — next slide — is the other lever.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GBM quantiles are well calibrated on validation data — empirical coverage matches nominal levels within one point — and its median error is lower than persistence and window medians. Right: the control-interval sweep on the high scenario. With very short intervals every reactive controller can follow the traffic and prediction adds little; as the interval grows, the gap between reactive and predictive controllers opens. This answers the question of when prediction is worth it: whenever budgets must be held for a few milliseconds or more, which is the realistic regime for DU/switch reconfiguration.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fronthaul demand of a low-latency cell in grey and the budget each controller gave it. The reactive controller reacts one interval late to each burst; the point forecast tracks the median; the proposed rule raises the budget when the predictive distribution is wide and lets it sit near the median when it is confident. Bottom: cumulative violated bits — the proposed rule has the fewest on this window. This is the demo I can run live: python -m fhlm.run_experiments demo, then make_figures.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what this is not. Traffic is synthetic; no real fronthaul traces were available, so there is no real-world validation. The oracle is only interval-level; a slot-level optimum would be lower. The gain over the simplest proportional controller vanishes under flash crowds, and the ML forecaster adds little under the held-out shift. ACI calibration did not help. Five seeds do not allow a significance claim. The fronthaul link is modelled as a budget-enforced pipe: no packet-level queueing in the switch, one class per cell, no HARQ feedback loop. Decision time is Python-level: about 3 ms per 10 ms epoch, fine for simulation, not a claim about real-time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done and verified by tests and experiments; right column is what I propose to do next, in priority order: replace or complement the synthetic traffic with public traces; make the rule cheaper and robust by mixing window quantiles and GBM by recent forecast skill; add a switch queue and a second lever such as compression ratio; more seeds; and an ablation on the deadline-feasible target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of the primary metric per scenario and method, produced from results/fhlm/main_runs.csv.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Derivation for questions. The objective is concave and separable; the Lagrangian derivative in r_i is w_i times one minus F_i at r_i minus B_i minus lambda; setting it to zero gives the inverse-CDF form. Because F_i is zero below zero, the derivative equals w_i there — backlog is always funded before any uncertain demand of a lower-weight cell. The sum of r_i(lambda) is non-increasing in lambda, so bisection finds the unique lambda at which the link is exactly full.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mean decision time per control epoch per method. Right: violation versus utilisation per scenario.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list with DOIs/links in docs/fhlm/literature_review.md.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p>
        </p:txBody>
      </p:sp>
      <p:sp>
        <p:nvSpPr>
          <p:cNvPr id="4" name="TextBox 3"/>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a:t>
            </a:r>
          </a:p>
        </p:txBody>
      </p:sp>
      <p:sp>
        <p:nvSpPr>
          <p:cNvPr id="5" name="TextBox 4"/>
          <p:cNvSpPr txBox="1"/>
          <p:nvPr/>
        </p:nvSpPr>
        <p:spPr>
          <a:xfrm>
            <a:off x="731520" y="1463040"/>
            <a:ext cx="10698480" cy="822960"/>
          </a:xfrm>
          <a:prstGeom prst="rect">
            <a:avLst/>
          </a:prstGeom>
          <a:noFill/>
        </p:spPr>
        <p:txBody>
          <a:bodyPr wrap="square">
            <a:spAutoFit/>
          </a:bodyPr>
          <a:lstStyle/>
          <a:p>
            <a:pPr algn="l">
              <a:defRPr sz="3600" b="1" i="0">
                <a:solidFill>
                  <a:srgbClr val="FFFFFF"/>
                </a:solidFill>
              </a:defRPr>
            </a:pPr>
            <a:r>
              <a:t>Fronthaul Load Management in Open RAN</a:t>
            </a:r>
          </a:p>
        </p:txBody>
      </p:sp>
      <p:sp>
        <p:nvSpPr>
          <p:cNvPr id="6" name="TextBox 5"/>
          <p:cNvSpPr txBox="1"/>
          <p:nvPr/>
        </p:nvSpPr>
        <p:spPr>
          <a:xfrm>
            <a:off x="731520" y="2286000"/>
            <a:ext cx="10698480" cy="731520"/>
          </a:xfrm>
          <a:prstGeom prst="rect">
            <a:avLst/>
          </a:prstGeom>
          <a:noFill/>
        </p:spPr>
        <p:txBody>
          <a:bodyPr wrap="square">
            <a:spAutoFit/>
          </a:bodyPr>
          <a:lstStyle/>
          <a:p>
            <a:pPr algn="l">
              <a:defRPr sz="2200" b="0" i="0">
                <a:solidFill>
                  <a:srgbClr val="CFD8E3"/>
                </a:solidFill>
              </a:defRPr>
            </a:pPr>
            <a:r>
              <a:t>Uncertainty-aware, deadline-feasible budget allocation on a shared 7-2x fronthaul link</a:t>
            </a:r>
          </a:p>
        </p:txBody>
      </p:sp>
      <p:sp>
        <p:nvSpPr>
          <p:cNvPr id="7" name="TextBox 6"/>
          <p:cNvSpPr txBox="1"/>
          <p:nvPr/>
        </p:nvSpPr>
        <p:spPr>
          <a:xfrm>
            <a:off x="731520" y="3291840"/>
            <a:ext cx="10698480" cy="457200"/>
          </a:xfrm>
          <a:prstGeom prst="rect">
            <a:avLst/>
          </a:prstGeom>
          <a:noFill/>
        </p:spPr>
        <p:txBody>
          <a:bodyPr wrap="square">
            <a:spAutoFit/>
          </a:bodyPr>
          <a:lstStyle/>
          <a:p>
            <a:pPr algn="l">
              <a:defRPr sz="1800" b="0" i="0">
                <a:solidFill>
                  <a:srgbClr val="FFFFFF"/>
                </a:solidFill>
              </a:defRPr>
            </a:pPr>
            <a:r>
              <a:t>B.Tech. Project — mid-term evaluation</a:t>
            </a:r>
          </a:p>
        </p:txBody>
      </p:sp>
      <p:sp>
        <p:nvSpPr>
          <p:cNvPr id="8" name="TextBox 7"/>
          <p:cNvSpPr txBox="1"/>
          <p:nvPr/>
        </p:nvSpPr>
        <p:spPr>
          <a:xfrm>
            <a:off x="731520" y="3840480"/>
            <a:ext cx="10698480" cy="457200"/>
          </a:xfrm>
          <a:prstGeom prst="rect">
            <a:avLst/>
          </a:prstGeom>
          <a:noFill/>
        </p:spPr>
        <p:txBody>
          <a:bodyPr wrap="square">
            <a:spAutoFit/>
          </a:bodyPr>
          <a:lstStyle/>
          <a:p>
            <a:pPr algn="l">
              <a:defRPr sz="1400" b="0" i="0">
                <a:solidFill>
                  <a:srgbClr val="CFD8E3"/>
                </a:solidFill>
              </a:defRPr>
            </a:pPr>
            <a:r>
              <a:t>Student: &lt;name&gt;   |   Supervisor: &lt;name&gt;   |   Department of &lt;dept&gt;</a:t>
            </a:r>
          </a:p>
        </p:txBody>
      </p:sp>
      <p:sp>
        <p:nvSpPr>
          <p:cNvPr id="9" name="TextBox 8"/>
          <p:cNvSpPr txBox="1"/>
          <p:nvPr/>
        </p:nvSpPr>
        <p:spPr>
          <a:xfrm>
            <a:off x="731520" y="4937760"/>
            <a:ext cx="10698480" cy="822960"/>
          </a:xfrm>
          <a:prstGeom prst="rect">
            <a:avLst/>
          </a:prstGeom>
          <a:noFill/>
        </p:spPr>
        <p:txBody>
          <a:bodyPr wrap="square">
            <a:spAutoFit/>
          </a:bodyPr>
          <a:lstStyle/>
          <a:p>
            <a:pPr algn="l">
              <a:defRPr sz="1300" b="0" i="1">
                <a:solidFill>
                  <a:srgbClr val="FFFFFF"/>
                </a:solidFill>
              </a:defRPr>
            </a:pPr>
            <a:r>
              <a:t>Deliverables today: working simulator + 7 controllers + trained quantile forecaster + reproducible experiments (5 scenarios x 5 seeds) + tests + this deck, all generated from the repository.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Why fronthaul load management?</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 Motivation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a:t>
            </a:r>
          </a:p>
        </p:txBody>
      </p:sp>
      <p:sp>
        <p:nvSpPr>
          <p:cNvPr id="6" name="TextBox 5"/>
          <p:cNvSpPr txBox="1"/>
          <p:nvPr/>
        </p:nvSpPr>
        <p:spPr>
          <a:xfrm>
            <a:off x="457200" y="1005840"/>
            <a:ext cx="6949440" cy="5120640"/>
          </a:xfrm>
          <a:prstGeom prst="rect">
            <a:avLst/>
          </a:prstGeom>
          <a:noFill/>
        </p:spPr>
        <p:txBody>
          <a:bodyPr wrap="square">
            <a:spAutoFit/>
          </a:bodyPr>
          <a:lstStyle/>
          <a:p>
            <a:pPr>
              <a:spcAft>
                <a:spcPts val="600"/>
              </a:spcAft>
              <a:defRPr sz="1600" b="0">
                <a:solidFill>
                  <a:srgbClr val="222222"/>
                </a:solidFill>
              </a:defRPr>
            </a:pPr>
            <a:r>
              <a:t>• O-RAN 7-2x split: O-RU does low-PHY; the fronthaul carries frequency-domain IQ per PRB, layer, symbol</a:t>
            </a:r>
          </a:p>
          <a:p>
            <a:pPr lvl="1">
              <a:spcAft>
                <a:spcPts val="600"/>
              </a:spcAft>
              <a:defRPr sz="1400" b="0">
                <a:solidFill>
                  <a:srgbClr val="222222"/>
                </a:solidFill>
              </a:defRPr>
            </a:pPr>
            <a:r>
              <a:t>– Load-dependent: 3,387 FH bits per scheduled PRB-layer-slot (BFP-9, 8% eCPRI/Eth. overhead)</a:t>
            </a:r>
          </a:p>
          <a:p>
            <a:pPr lvl="1">
              <a:spcAft>
                <a:spcPts val="600"/>
              </a:spcAft>
              <a:defRPr sz="1400" b="0">
                <a:solidFill>
                  <a:srgbClr val="222222"/>
                </a:solidFill>
              </a:defRPr>
            </a:pPr>
            <a:r>
              <a:t>– One 100 MHz / 4-layer cell peaks at 7.4 Gbit/s</a:t>
            </a:r>
          </a:p>
          <a:p>
            <a:pPr>
              <a:spcAft>
                <a:spcPts val="600"/>
              </a:spcAft>
              <a:defRPr sz="1600" b="0">
                <a:solidFill>
                  <a:srgbClr val="222222"/>
                </a:solidFill>
              </a:defRPr>
            </a:pPr>
            <a:r>
              <a:t>• Shared aggregation links are over-subscribed on purpose (statistical multiplexing)</a:t>
            </a:r>
          </a:p>
          <a:p>
            <a:pPr lvl="1">
              <a:spcAft>
                <a:spcPts val="600"/>
              </a:spcAft>
              <a:defRPr sz="1400" b="0">
                <a:solidFill>
                  <a:srgbClr val="222222"/>
                </a:solidFill>
              </a:defRPr>
            </a:pPr>
            <a:r>
              <a:t>– Default scenario: 8 cells, 25GE link, aggregate peak = 2.4x usable capacity</a:t>
            </a:r>
          </a:p>
          <a:p>
            <a:pPr>
              <a:spcAft>
                <a:spcPts val="600"/>
              </a:spcAft>
              <a:defRPr sz="1600" b="0">
                <a:solidFill>
                  <a:srgbClr val="222222"/>
                </a:solidFill>
              </a:defRPr>
            </a:pPr>
            <a:r>
              <a:t>• When bursts coincide, some cell's IQ must be deferred or dropped; low-latency cells have ~2 ms of slack</a:t>
            </a:r>
          </a:p>
          <a:p>
            <a:pPr>
              <a:spcAft>
                <a:spcPts val="600"/>
              </a:spcAft>
              <a:defRPr sz="1600" b="1">
                <a:solidFill>
                  <a:srgbClr val="222222"/>
                </a:solidFill>
              </a:defRPr>
            </a:pPr>
            <a:r>
              <a:t>• Load management = deciding, every control interval, how much link each cell may use — before the traffic is known</a:t>
            </a:r>
          </a:p>
          <a:p>
            <a:pPr lvl="1">
              <a:spcAft>
                <a:spcPts val="600"/>
              </a:spcAft>
              <a:defRPr sz="1400" b="0">
                <a:solidFill>
                  <a:srgbClr val="222222"/>
                </a:solidFill>
              </a:defRPr>
            </a:pPr>
            <a:r>
              <a:t>– Bad decisions → deadline violations (lost IQ / HARQ failures) or wasted link capacity</a:t>
            </a:r>
          </a:p>
        </p:txBody>
      </p:sp>
      <p:sp>
        <p:nvSpPr>
          <p:cNvPr id="7" name="Rounded Rectangle 6"/>
          <p:cNvSpPr/>
          <p:nvPr/>
        </p:nvSpPr>
        <p:spPr>
          <a:xfrm>
            <a:off x="7589520" y="128016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1</a:t>
            </a:r>
          </a:p>
          <a:p>
            <a:pPr algn="ctr">
              <a:defRPr sz="1100" b="0">
                <a:solidFill>
                  <a:srgbClr val="222222"/>
                </a:solidFill>
              </a:defRPr>
            </a:pPr>
            <a:r>
              <a:t>LL</a:t>
            </a:r>
          </a:p>
        </p:txBody>
      </p:sp>
      <p:cxnSp>
        <p:nvCxnSpPr>
          <p:cNvPr id="8" name="Connector 7"/>
          <p:cNvCxnSpPr/>
          <p:nvPr/>
        </p:nvCxnSpPr>
        <p:spPr>
          <a:xfrm>
            <a:off x="8595360" y="1623060"/>
            <a:ext cx="640080" cy="17602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589520" y="224028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2</a:t>
            </a:r>
          </a:p>
          <a:p>
            <a:pPr algn="ctr">
              <a:defRPr sz="1100" b="0">
                <a:solidFill>
                  <a:srgbClr val="222222"/>
                </a:solidFill>
              </a:defRPr>
            </a:pPr>
            <a:r>
              <a:t>LL</a:t>
            </a:r>
          </a:p>
        </p:txBody>
      </p:sp>
      <p:cxnSp>
        <p:nvCxnSpPr>
          <p:cNvPr id="10" name="Connector 9"/>
          <p:cNvCxnSpPr/>
          <p:nvPr/>
        </p:nvCxnSpPr>
        <p:spPr>
          <a:xfrm>
            <a:off x="8595360" y="2583180"/>
            <a:ext cx="640080" cy="8001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320040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3</a:t>
            </a:r>
          </a:p>
          <a:p>
            <a:pPr algn="ctr">
              <a:defRPr sz="1100" b="0">
                <a:solidFill>
                  <a:srgbClr val="222222"/>
                </a:solidFill>
              </a:defRPr>
            </a:pPr>
            <a:r>
              <a:t>eMBB</a:t>
            </a:r>
          </a:p>
        </p:txBody>
      </p:sp>
      <p:cxnSp>
        <p:nvCxnSpPr>
          <p:cNvPr id="12" name="Connector 11"/>
          <p:cNvCxnSpPr/>
          <p:nvPr/>
        </p:nvCxnSpPr>
        <p:spPr>
          <a:xfrm flipV="1">
            <a:off x="8595360" y="3383280"/>
            <a:ext cx="640080" cy="1600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6052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4</a:t>
            </a:r>
          </a:p>
          <a:p>
            <a:pPr algn="ctr">
              <a:defRPr sz="1100" b="0">
                <a:solidFill>
                  <a:srgbClr val="222222"/>
                </a:solidFill>
              </a:defRPr>
            </a:pPr>
            <a:r>
              <a:t>eMBB</a:t>
            </a:r>
          </a:p>
        </p:txBody>
      </p:sp>
      <p:cxnSp>
        <p:nvCxnSpPr>
          <p:cNvPr id="14" name="Connector 13"/>
          <p:cNvCxnSpPr/>
          <p:nvPr/>
        </p:nvCxnSpPr>
        <p:spPr>
          <a:xfrm flipV="1">
            <a:off x="8595360" y="3383280"/>
            <a:ext cx="640080" cy="112014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235440" y="3017520"/>
            <a:ext cx="82296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FH</a:t>
            </a:r>
          </a:p>
          <a:p>
            <a:pPr algn="ctr">
              <a:defRPr sz="1100" b="0">
                <a:solidFill>
                  <a:srgbClr val="222222"/>
                </a:solidFill>
              </a:defRPr>
            </a:pPr>
            <a:r>
              <a:t>switch</a:t>
            </a:r>
          </a:p>
        </p:txBody>
      </p:sp>
      <p:cxnSp>
        <p:nvCxnSpPr>
          <p:cNvPr id="16" name="Connector 15"/>
          <p:cNvCxnSpPr/>
          <p:nvPr/>
        </p:nvCxnSpPr>
        <p:spPr>
          <a:xfrm>
            <a:off x="10058400" y="3383280"/>
            <a:ext cx="822960" cy="0"/>
          </a:xfrm>
          <a:prstGeom prst="line">
            <a:avLst/>
          </a:prstGeom>
          <a:ln w="38100">
            <a:solidFill>
              <a:srgbClr val="C628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3520440"/>
            <a:ext cx="1188720" cy="548640"/>
          </a:xfrm>
          <a:prstGeom prst="rect">
            <a:avLst/>
          </a:prstGeom>
          <a:noFill/>
        </p:spPr>
        <p:txBody>
          <a:bodyPr wrap="square">
            <a:spAutoFit/>
          </a:bodyPr>
          <a:lstStyle/>
          <a:p>
            <a:pPr algn="ctr">
              <a:defRPr sz="900" b="0" i="0">
                <a:solidFill>
                  <a:srgbClr val="C62828"/>
                </a:solidFill>
              </a:defRPr>
            </a:pPr>
            <a:r>
              <a:t>shared 25GE</a:t>
            </a:r>
          </a:p>
          <a:p>
            <a:pPr algn="ctr">
              <a:defRPr sz="900" b="0" i="0">
                <a:solidFill>
                  <a:srgbClr val="C62828"/>
                </a:solidFill>
              </a:defRPr>
            </a:pPr>
            <a:r>
              <a:t>(bottleneck)</a:t>
            </a:r>
          </a:p>
        </p:txBody>
      </p:sp>
      <p:sp>
        <p:nvSpPr>
          <p:cNvPr id="18" name="Rounded Rectangle 17"/>
          <p:cNvSpPr/>
          <p:nvPr/>
        </p:nvSpPr>
        <p:spPr>
          <a:xfrm>
            <a:off x="10881360" y="2834640"/>
            <a:ext cx="1188720" cy="109728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O-DU</a:t>
            </a:r>
          </a:p>
          <a:p>
            <a:pPr algn="ctr">
              <a:defRPr sz="1000" b="0">
                <a:solidFill>
                  <a:srgbClr val="222222"/>
                </a:solidFill>
              </a:defRPr>
            </a:pPr>
            <a:r>
              <a:t>scheduler +</a:t>
            </a:r>
          </a:p>
          <a:p>
            <a:pPr algn="ctr">
              <a:defRPr sz="1000" b="0">
                <a:solidFill>
                  <a:srgbClr val="222222"/>
                </a:solidFill>
              </a:defRPr>
            </a:pPr>
            <a:r>
              <a:t>budget controller</a:t>
            </a:r>
          </a:p>
        </p:txBody>
      </p:sp>
      <p:sp>
        <p:nvSpPr>
          <p:cNvPr id="19" name="TextBox 18"/>
          <p:cNvSpPr txBox="1"/>
          <p:nvPr/>
        </p:nvSpPr>
        <p:spPr>
          <a:xfrm>
            <a:off x="7955280" y="5074920"/>
            <a:ext cx="457200" cy="274320"/>
          </a:xfrm>
          <a:prstGeom prst="rect">
            <a:avLst/>
          </a:prstGeom>
          <a:noFill/>
        </p:spPr>
        <p:txBody>
          <a:bodyPr wrap="square">
            <a:spAutoFit/>
          </a:bodyPr>
          <a:lstStyle/>
          <a:p>
            <a:pPr algn="l">
              <a:defRPr sz="1400" b="0" i="0">
                <a:solidFill>
                  <a:srgbClr val="222222"/>
                </a:solidFill>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System model and operating constraints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2 System model</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3</a:t>
            </a:r>
          </a:p>
        </p:txBody>
      </p:sp>
      <p:sp>
        <p:nvSpPr>
          <p:cNvPr id="6" name="TextBox 5"/>
          <p:cNvSpPr txBox="1"/>
          <p:nvPr/>
        </p:nvSpPr>
        <p:spPr>
          <a:xfrm>
            <a:off x="457200" y="1005840"/>
            <a:ext cx="6766560" cy="5212080"/>
          </a:xfrm>
          <a:prstGeom prst="rect">
            <a:avLst/>
          </a:prstGeom>
          <a:noFill/>
        </p:spPr>
        <p:txBody>
          <a:bodyPr wrap="square">
            <a:spAutoFit/>
          </a:bodyPr>
          <a:lstStyle/>
          <a:p>
            <a:pPr>
              <a:spcAft>
                <a:spcPts val="600"/>
              </a:spcAft>
              <a:defRPr sz="1500" b="0">
                <a:solidFill>
                  <a:srgbClr val="222222"/>
                </a:solidFill>
              </a:defRPr>
            </a:pPr>
            <a:r>
              <a:t>• Time: NR slots of 0.5 ms (30 kHz SCS). Data: bits. Capacity: bits/slot</a:t>
            </a:r>
          </a:p>
          <a:p>
            <a:pPr>
              <a:spcAft>
                <a:spcPts val="600"/>
              </a:spcAft>
              <a:defRPr sz="1500" b="0">
                <a:solidFill>
                  <a:srgbClr val="222222"/>
                </a:solidFill>
              </a:defRPr>
            </a:pPr>
            <a:r>
              <a:t>• Cells: 3 low-latency (deadline 4 slots = 2 ms, priority 3) + 5 eMBB (20 slots = 10 ms, priority 1)</a:t>
            </a:r>
          </a:p>
          <a:p>
            <a:pPr>
              <a:spcAft>
                <a:spcPts val="600"/>
              </a:spcAft>
              <a:defRPr sz="1500" b="0">
                <a:solidFill>
                  <a:srgbClr val="222222"/>
                </a:solidFill>
              </a:defRPr>
            </a:pPr>
            <a:r>
              <a:t>• Demand mapping: FH bits = user bits / SE_i(t) × IQ bits per PRB-layer  (SE differs per cell and drifts)</a:t>
            </a:r>
          </a:p>
          <a:p>
            <a:pPr>
              <a:spcAft>
                <a:spcPts val="600"/>
              </a:spcAft>
              <a:defRPr sz="1500" b="0">
                <a:solidFill>
                  <a:srgbClr val="222222"/>
                </a:solidFill>
              </a:defRPr>
            </a:pPr>
            <a:r>
              <a:t>• Per-cell DU queue, FIFO, age-tracked; bits older than D_i are dropped = deadline violation</a:t>
            </a:r>
          </a:p>
          <a:p>
            <a:pPr>
              <a:spcAft>
                <a:spcPts val="600"/>
              </a:spcAft>
              <a:defRPr sz="1500" b="0">
                <a:solidFill>
                  <a:srgbClr val="222222"/>
                </a:solidFill>
              </a:defRPr>
            </a:pPr>
            <a:r>
              <a:t>• Shared link: Σ_i r_i ≤ C_u = 0.97 × 25 Gbit/s (3% reserved for C/M/S-plane); r_i ≤ per-cell peak</a:t>
            </a:r>
          </a:p>
          <a:p>
            <a:pPr>
              <a:spcAft>
                <a:spcPts val="600"/>
              </a:spcAft>
              <a:defRPr sz="1500" b="0">
                <a:solidFill>
                  <a:srgbClr val="222222"/>
                </a:solidFill>
              </a:defRPr>
            </a:pPr>
            <a:r>
              <a:t>• Controller: every T = 20 slots (10 ms) sets budgets r_i, fixed for the interval; sees state τ = 2 slots old</a:t>
            </a:r>
          </a:p>
          <a:p>
            <a:pPr>
              <a:spcAft>
                <a:spcPts val="600"/>
              </a:spcAft>
              <a:defRPr sz="1500" b="0">
                <a:solidFill>
                  <a:srgbClr val="222222"/>
                </a:solidFill>
              </a:defRPr>
            </a:pPr>
            <a:r>
              <a:t>• DU scheduler: serves each queue up to r_i per slot within the budget; link never queues (budgets enforce this)</a:t>
            </a:r>
          </a:p>
          <a:p>
            <a:pPr>
              <a:spcAft>
                <a:spcPts val="600"/>
              </a:spcAft>
              <a:defRPr sz="1500" b="0">
                <a:solidFill>
                  <a:srgbClr val="222222"/>
                </a:solidFill>
              </a:defRPr>
            </a:pPr>
            <a:r>
              <a:t>• Why decide in advance? Budgets are a reservation held for T slots and telemetry is delayed → the next</a:t>
            </a:r>
          </a:p>
          <a:p>
            <a:pPr lvl="1">
              <a:spcAft>
                <a:spcPts val="600"/>
              </a:spcAft>
              <a:defRPr sz="1300" b="0">
                <a:solidFill>
                  <a:srgbClr val="222222"/>
                </a:solidFill>
              </a:defRPr>
            </a:pPr>
            <a:r>
              <a:t>– interval's arrivals are unknown at decision time; the ~10 ms control interval matches real DU/switch reconfiguration</a:t>
            </a:r>
          </a:p>
        </p:txBody>
      </p:sp>
      <p:sp>
        <p:nvSpPr>
          <p:cNvPr id="7" name="Rounded Rectangle 6"/>
          <p:cNvSpPr/>
          <p:nvPr/>
        </p:nvSpPr>
        <p:spPr>
          <a:xfrm>
            <a:off x="7589520" y="1371600"/>
            <a:ext cx="1463040" cy="82296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observe state</a:t>
            </a:r>
          </a:p>
          <a:p>
            <a:pPr algn="ctr">
              <a:defRPr sz="1100" b="0">
                <a:solidFill>
                  <a:srgbClr val="222222"/>
                </a:solidFill>
              </a:defRPr>
            </a:pPr>
            <a:r>
              <a:t>(τ = 2 slots old)</a:t>
            </a:r>
          </a:p>
        </p:txBody>
      </p:sp>
      <p:cxnSp>
        <p:nvCxnSpPr>
          <p:cNvPr id="8" name="Connector 7"/>
          <p:cNvCxnSpPr/>
          <p:nvPr/>
        </p:nvCxnSpPr>
        <p:spPr>
          <a:xfrm>
            <a:off x="9052560" y="1783080"/>
            <a:ext cx="365760"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18320" y="1371600"/>
            <a:ext cx="146304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decide budgets r_i</a:t>
            </a:r>
          </a:p>
          <a:p>
            <a:pPr algn="ctr">
              <a:defRPr sz="1100" b="0">
                <a:solidFill>
                  <a:srgbClr val="222222"/>
                </a:solidFill>
              </a:defRPr>
            </a:pPr>
            <a:r>
              <a:t>Σ r_i ≤ C_u</a:t>
            </a:r>
          </a:p>
        </p:txBody>
      </p:sp>
      <p:cxnSp>
        <p:nvCxnSpPr>
          <p:cNvPr id="10" name="Connector 9"/>
          <p:cNvCxnSpPr/>
          <p:nvPr/>
        </p:nvCxnSpPr>
        <p:spPr>
          <a:xfrm>
            <a:off x="10149840" y="219456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2651760"/>
            <a:ext cx="3291840" cy="100584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hold for T = 20 slots (10 ms)</a:t>
            </a:r>
          </a:p>
          <a:p>
            <a:pPr algn="ctr">
              <a:defRPr sz="1100" b="0">
                <a:solidFill>
                  <a:srgbClr val="222222"/>
                </a:solidFill>
              </a:defRPr>
            </a:pPr>
            <a:r>
              <a:t>DU serves queue_i ≤ r_i per slot</a:t>
            </a:r>
          </a:p>
          <a:p>
            <a:pPr algn="ctr">
              <a:defRPr sz="1100" b="0">
                <a:solidFill>
                  <a:srgbClr val="222222"/>
                </a:solidFill>
              </a:defRPr>
            </a:pPr>
            <a:r>
              <a:t>arrivals unknown at decision time</a:t>
            </a:r>
          </a:p>
        </p:txBody>
      </p:sp>
      <p:cxnSp>
        <p:nvCxnSpPr>
          <p:cNvPr id="12" name="Connector 11"/>
          <p:cNvCxnSpPr/>
          <p:nvPr/>
        </p:nvCxnSpPr>
        <p:spPr>
          <a:xfrm>
            <a:off x="9235440" y="365760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14800"/>
            <a:ext cx="3291840" cy="822960"/>
          </a:xfrm>
          <a:prstGeom prst="roundRect">
            <a:avLst/>
          </a:prstGeom>
          <a:solidFill>
            <a:srgbClr val="FFEBEE"/>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bits older than D_i → dropped</a:t>
            </a:r>
          </a:p>
          <a:p>
            <a:pPr algn="ctr">
              <a:defRPr sz="1100" b="0">
                <a:solidFill>
                  <a:srgbClr val="222222"/>
                </a:solidFill>
              </a:defRPr>
            </a:pPr>
            <a:r>
              <a:t>(violation accounting per class)</a:t>
            </a:r>
          </a:p>
        </p:txBody>
      </p:sp>
      <p:sp>
        <p:nvSpPr>
          <p:cNvPr id="14" name="TextBox 13"/>
          <p:cNvSpPr txBox="1"/>
          <p:nvPr/>
        </p:nvSpPr>
        <p:spPr>
          <a:xfrm>
            <a:off x="7589520" y="5120639"/>
            <a:ext cx="4114800" cy="1005840"/>
          </a:xfrm>
          <a:prstGeom prst="rect">
            <a:avLst/>
          </a:prstGeom>
          <a:noFill/>
        </p:spPr>
        <p:txBody>
          <a:bodyPr wrap="square">
            <a:spAutoFit/>
          </a:bodyPr>
          <a:lstStyle/>
          <a:p>
            <a:pPr algn="l">
              <a:defRPr sz="1000" b="0" i="1">
                <a:solidFill>
                  <a:srgbClr val="555555"/>
                </a:solidFill>
              </a:defRPr>
            </a:pPr>
            <a:r>
              <a:t>Sources: O-RAN WG4 CUS-Plane spec (7-2x sections, BFP, T2a windows); Larsen et al., IEEE COMST 2019 (load-dependent bit rate, ~8% Ethernet overhead); Pérez et al. 2018/2019 (packet-switched aggregation).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Focused literature review → the opportunity</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3 Literature</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4</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1">
                <a:solidFill>
                  <a:srgbClr val="222222"/>
                </a:solidFill>
              </a:defRPr>
            </a:pPr>
            <a:r>
              <a:t>• A. Fronthaul itself (primary sources)</a:t>
            </a:r>
          </a:p>
          <a:p>
            <a:pPr lvl="1">
              <a:spcAft>
                <a:spcPts val="600"/>
              </a:spcAft>
              <a:defRPr sz="1300" b="0">
                <a:solidFill>
                  <a:srgbClr val="222222"/>
                </a:solidFill>
              </a:defRPr>
            </a:pPr>
            <a:r>
              <a:t>– O-RAN WG4 CUS-Plane spec (7-2x, BFP, T2a windows) • Larsen et al., IEEE COMST 2019: bit rate varies with load for splits ≤ 7-2</a:t>
            </a:r>
          </a:p>
          <a:p>
            <a:pPr lvl="1">
              <a:spcAft>
                <a:spcPts val="600"/>
              </a:spcAft>
              <a:defRPr sz="1300" b="0">
                <a:solidFill>
                  <a:srgbClr val="222222"/>
                </a:solidFill>
              </a:defRPr>
            </a:pPr>
            <a:r>
              <a:t>– Pérez et al., JOCN 2018 / IEEE Access 2019 (packet-switched eCPRI aggregation) • Wang &amp; Zhou, IEEE Commun. Lett. 2017 (multiplexing gain)</a:t>
            </a:r>
          </a:p>
          <a:p>
            <a:pPr lvl="1">
              <a:spcAft>
                <a:spcPts val="600"/>
              </a:spcAft>
              <a:defRPr sz="1300" b="0">
                <a:solidFill>
                  <a:srgbClr val="222222"/>
                </a:solidFill>
              </a:defRPr>
            </a:pPr>
            <a:r>
              <a:t>– Lagén et al., IEEE Commun. Mag. 2022: shared 7-2x link, reactive per-slot compression control — closest fronthaul work, no forecasting</a:t>
            </a:r>
          </a:p>
          <a:p>
            <a:pPr>
              <a:spcAft>
                <a:spcPts val="600"/>
              </a:spcAft>
              <a:defRPr sz="1500" b="1">
                <a:solidFill>
                  <a:srgbClr val="222222"/>
                </a:solidFill>
              </a:defRPr>
            </a:pPr>
            <a:r>
              <a:t>• B. Predictive / anticipatory capacity allocation</a:t>
            </a:r>
          </a:p>
          <a:p>
            <a:pPr lvl="1">
              <a:spcAft>
                <a:spcPts val="600"/>
              </a:spcAft>
              <a:defRPr sz="1300" b="0">
                <a:solidFill>
                  <a:srgbClr val="222222"/>
                </a:solidFill>
              </a:defRPr>
            </a:pPr>
            <a:r>
              <a:t>– Bega et al., DeepCog (INFOCOM 2019 / JSAC 2020), AZTEC (INFOCOM 2020): DL capacity forecasts → slice allocation; fixed cost ratio</a:t>
            </a:r>
          </a:p>
          <a:p>
            <a:pPr lvl="1">
              <a:spcAft>
                <a:spcPts val="600"/>
              </a:spcAft>
              <a:defRPr sz="1300" b="0">
                <a:solidFill>
                  <a:srgbClr val="222222"/>
                </a:solidFill>
              </a:defRPr>
            </a:pPr>
            <a:r>
              <a:t>– Predictive DBA for PON fronthaul (Mikaeil et al. 2018; Zhang et al. 2019); Kavehmadavani et al., TWC 2023: LSTM point forecasts + FH constraint</a:t>
            </a:r>
          </a:p>
          <a:p>
            <a:pPr lvl="1">
              <a:spcAft>
                <a:spcPts val="600"/>
              </a:spcAft>
              <a:defRPr sz="1300" b="0">
                <a:solidFill>
                  <a:srgbClr val="222222"/>
                </a:solidFill>
              </a:defRPr>
            </a:pPr>
            <a:r>
              <a:t>– Typical treatment of uncertainty: a fixed safety margin on a point forecast; no per-cell deadline feasibility</a:t>
            </a:r>
          </a:p>
          <a:p>
            <a:pPr>
              <a:spcAft>
                <a:spcPts val="600"/>
              </a:spcAft>
              <a:defRPr sz="1500" b="1">
                <a:solidFill>
                  <a:srgbClr val="222222"/>
                </a:solidFill>
              </a:defRPr>
            </a:pPr>
            <a:r>
              <a:t>• C. Uncertainty-aware forecasting / conformal methods</a:t>
            </a:r>
          </a:p>
          <a:p>
            <a:pPr lvl="1">
              <a:spcAft>
                <a:spcPts val="600"/>
              </a:spcAft>
              <a:defRPr sz="1300" b="0">
                <a:solidFill>
                  <a:srgbClr val="222222"/>
                </a:solidFill>
              </a:defRPr>
            </a:pPr>
            <a:r>
              <a:t>– Cohen et al., IEEE WCL 2023 (conformal URLLC pre-allocation, single stream) • Gibbs &amp; Candès, NeurIPS 2021 (ACI)</a:t>
            </a:r>
          </a:p>
          <a:p>
            <a:pPr lvl="1">
              <a:spcAft>
                <a:spcPts val="600"/>
              </a:spcAft>
              <a:defRPr sz="1300" b="0">
                <a:solidFill>
                  <a:srgbClr val="222222"/>
                </a:solidFill>
              </a:defRPr>
            </a:pPr>
            <a:r>
              <a:t>– Kasuluru et al. 2024 [preprint]: probabilistic PRB-load forecasts, percentile chosen globally, not from a coupled allocation</a:t>
            </a:r>
          </a:p>
          <a:p>
            <a:pPr>
              <a:spcAft>
                <a:spcPts val="600"/>
              </a:spcAft>
              <a:defRPr sz="1500" b="1">
                <a:solidFill>
                  <a:srgbClr val="222222"/>
                </a:solidFill>
              </a:defRPr>
            </a:pPr>
            <a:r>
              <a:t>• Gap: no work turns a predictive DISTRIBUTION of deadline-feasible demand into per-cell FH budgets under one hard link constraint, and tests it against strong reactive + point-forecast baselines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Problem formulation and evaluation objective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4 Formulation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5</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Decision each epoch k: budgets r ∈ {0 ≤ r_i ≤ cap_i, Σ r_i ≤ C_u}, held for slots kT … (k+1)T−1</a:t>
            </a:r>
          </a:p>
          <a:p>
            <a:pPr>
              <a:spcAft>
                <a:spcPts val="600"/>
              </a:spcAft>
              <a:defRPr sz="1500" b="1">
                <a:solidFill>
                  <a:srgbClr val="222222"/>
                </a:solidFill>
              </a:defRPr>
            </a:pPr>
            <a:r>
              <a:t>• Primary metric (fixed before tuning): priority-weighted deadline-violation ratio</a:t>
            </a:r>
          </a:p>
          <a:p>
            <a:pPr lvl="1">
              <a:spcAft>
                <a:spcPts val="600"/>
              </a:spcAft>
              <a:defRPr sz="1300" b="0">
                <a:solidFill>
                  <a:srgbClr val="222222"/>
                </a:solidFill>
              </a:defRPr>
            </a:pPr>
            <a:r>
              <a:t>– V_w = Σ_i p_i · violated_bits_i / Σ_i p_i · arrived_bits_i     (p_LL = 3, p_eMBB = 1)</a:t>
            </a:r>
          </a:p>
          <a:p>
            <a:pPr lvl="1">
              <a:spcAft>
                <a:spcPts val="600"/>
              </a:spcAft>
              <a:defRPr sz="1300" b="0">
                <a:solidFill>
                  <a:srgbClr val="222222"/>
                </a:solidFill>
              </a:defRPr>
            </a:pPr>
            <a:r>
              <a:t>– Supporting: per-class violation ratio, link utilisation, mean/p99 DU queueing delay, Jain fairness of service ratio, decision time</a:t>
            </a:r>
          </a:p>
          <a:p>
            <a:pPr>
              <a:spcAft>
                <a:spcPts val="600"/>
              </a:spcAft>
              <a:defRPr sz="1500" b="1">
                <a:solidFill>
                  <a:srgbClr val="222222"/>
                </a:solidFill>
              </a:defRPr>
            </a:pPr>
            <a:r>
              <a:t>• Deadline-feasible rate r*(a, D): smallest constant rate that serves arrivals a_1..a_H with no bit waiting &gt; D slots</a:t>
            </a:r>
          </a:p>
          <a:p>
            <a:pPr lvl="1">
              <a:spcAft>
                <a:spcPts val="600"/>
              </a:spcAft>
              <a:defRPr sz="1300" b="0">
                <a:solidFill>
                  <a:srgbClr val="222222"/>
                </a:solidFill>
              </a:defRPr>
            </a:pPr>
            <a:r>
              <a:t>– r*(a, D) = max over windows [s, e] of  Σ_{t=s..e} a_t / (e − s + 1 + D)     — network-calculus bound, exact for FIFO</a:t>
            </a:r>
          </a:p>
          <a:p>
            <a:pPr lvl="1">
              <a:spcAft>
                <a:spcPts val="600"/>
              </a:spcAft>
              <a:defRPr sz="1300" b="0">
                <a:solidFill>
                  <a:srgbClr val="222222"/>
                </a:solidFill>
              </a:defRPr>
            </a:pPr>
            <a:r>
              <a:t>– Demand of a cell for the next interval = backlog-clearing rate + r* of the unseen arrivals</a:t>
            </a:r>
          </a:p>
          <a:p>
            <a:pPr>
              <a:spcAft>
                <a:spcPts val="600"/>
              </a:spcAft>
              <a:defRPr sz="1500" b="0">
                <a:solidFill>
                  <a:srgbClr val="222222"/>
                </a:solidFill>
              </a:defRPr>
            </a:pPr>
            <a:r>
              <a:t>• Why forecasting matters: r* of the NEXT interval is not observable; LL r* ≈ peak 4-slot burst rate (hard to predict)</a:t>
            </a:r>
          </a:p>
          <a:p>
            <a:pPr>
              <a:spcAft>
                <a:spcPts val="600"/>
              </a:spcAft>
              <a:defRPr sz="1500" b="0">
                <a:solidFill>
                  <a:srgbClr val="222222"/>
                </a:solidFill>
              </a:defRPr>
            </a:pPr>
            <a:r>
              <a:t>• Why not point forecasts: r* is right-skewed (bursts) → the median under-reserves, a fixed margin over-reserves everywhere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Baseline controllers (implemented; tuned on validation seeds)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5 Baselines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6</a:t>
            </a:r>
          </a:p>
        </p:txBody>
      </p:sp>
      <p:graphicFrame>
        <p:nvGraphicFramePr>
          <p:cNvPr id="6" name="Table 5"/>
          <p:cNvGraphicFramePr>
            <a:graphicFrameLocks noGrp="1"/>
          </p:cNvGraphicFramePr>
          <p:nvPr/>
        </p:nvGraphicFramePr>
        <p:xfrm>
          <a:off x="457200" y="1051560"/>
          <a:ext cx="11247120" cy="2377440"/>
        </p:xfrm>
        <a:graphic>
          <a:graphicData uri="http://schemas.openxmlformats.org/drawingml/2006/table">
            <a:tbl>
              <a:tblPr firstRow="1" bandRow="1">
                <a:tableStyleId>{5C22544A-7EE6-4342-B048-85BDC9FD1C3A}</a:tableStyleId>
              </a:tblPr>
              <a:tblGrid>
                <a:gridCol w="2377440"/>
                <a:gridCol w="5394960"/>
                <a:gridCol w="1828800"/>
                <a:gridCol w="1645920"/>
              </a:tblGrid>
              <a:tr h="396240">
                <a:tc>
                  <a:txBody>
                    <a:bodyPr/>
                    <a:lstStyle/>
                    <a:p>
                      <a:pPr>
                        <a:defRPr sz="1100" b="1">
                          <a:solidFill>
                            <a:srgbClr val="FFFFFF"/>
                          </a:solidFill>
                        </a:defRPr>
                      </a:pPr>
                      <a:r>
                        <a:t>Controller</a:t>
                      </a:r>
                    </a:p>
                  </a:txBody>
                  <a:tcPr>
                    <a:solidFill>
                      <a:srgbClr val="1F3A5F"/>
                    </a:solidFill>
                  </a:tcPr>
                </a:tc>
                <a:tc>
                  <a:txBody>
                    <a:bodyPr/>
                    <a:lstStyle/>
                    <a:p>
                      <a:pPr>
                        <a:defRPr sz="1100" b="1">
                          <a:solidFill>
                            <a:srgbClr val="FFFFFF"/>
                          </a:solidFill>
                        </a:defRPr>
                      </a:pPr>
                      <a:r>
                        <a:t>Budget rule</a:t>
                      </a:r>
                    </a:p>
                  </a:txBody>
                  <a:tcPr>
                    <a:solidFill>
                      <a:srgbClr val="1F3A5F"/>
                    </a:solidFill>
                  </a:tcPr>
                </a:tc>
                <a:tc>
                  <a:txBody>
                    <a:bodyPr/>
                    <a:lstStyle/>
                    <a:p>
                      <a:pPr>
                        <a:defRPr sz="1100" b="1">
                          <a:solidFill>
                            <a:srgbClr val="FFFFFF"/>
                          </a:solidFill>
                        </a:defRPr>
                      </a:pPr>
                      <a:r>
                        <a:t>Information</a:t>
                      </a:r>
                    </a:p>
                  </a:txBody>
                  <a:tcPr>
                    <a:solidFill>
                      <a:srgbClr val="1F3A5F"/>
                    </a:solidFill>
                  </a:tcPr>
                </a:tc>
                <a:tc>
                  <a:txBody>
                    <a:bodyPr/>
                    <a:lstStyle/>
                    <a:p>
                      <a:pPr>
                        <a:defRPr sz="1100" b="1">
                          <a:solidFill>
                            <a:srgbClr val="FFFFFF"/>
                          </a:solidFill>
                        </a:defRPr>
                      </a:pPr>
                      <a:r>
                        <a:t>Tuned</a:t>
                      </a:r>
                    </a:p>
                  </a:txBody>
                  <a:tcPr>
                    <a:solidFill>
                      <a:srgbClr val="1F3A5F"/>
                    </a:solidFill>
                  </a:tcPr>
                </a:tc>
              </a:tr>
              <a:tr h="396240">
                <a:tc>
                  <a:txBody>
                    <a:bodyPr/>
                    <a:lstStyle/>
                    <a:p>
                      <a:pPr>
                        <a:defRPr sz="1100"/>
                      </a:pPr>
                      <a:r>
                        <a:t>Static equal share</a:t>
                      </a:r>
                    </a:p>
                  </a:txBody>
                  <a:tcPr>
                    <a:solidFill>
                      <a:srgbClr val="F2F4F7"/>
                    </a:solidFill>
                  </a:tcPr>
                </a:tc>
                <a:tc>
                  <a:txBody>
                    <a:bodyPr/>
                    <a:lstStyle/>
                    <a:p>
                      <a:pPr>
                        <a:defRPr sz="1100"/>
                      </a:pPr>
                      <a:r>
                        <a:t>C_u / N per cell (caps redistributed)</a:t>
                      </a:r>
                    </a:p>
                  </a:txBody>
                  <a:tcPr>
                    <a:solidFill>
                      <a:srgbClr val="F2F4F7"/>
                    </a:solidFill>
                  </a:tcPr>
                </a:tc>
                <a:tc>
                  <a:txBody>
                    <a:bodyPr/>
                    <a:lstStyle/>
                    <a:p>
                      <a:pPr>
                        <a:defRPr sz="1100"/>
                      </a:pPr>
                      <a:r>
                        <a:t>none</a:t>
                      </a:r>
                    </a:p>
                  </a:txBody>
                  <a:tcPr>
                    <a:solidFill>
                      <a:srgbClr val="F2F4F7"/>
                    </a:solidFill>
                  </a:tcPr>
                </a:tc>
                <a:tc>
                  <a:txBody>
                    <a:bodyPr/>
                    <a:lstStyle/>
                    <a:p>
                      <a:pPr>
                        <a:defRPr sz="1100"/>
                      </a:pPr>
                      <a:r>
                        <a:t>—</a:t>
                      </a:r>
                    </a:p>
                  </a:txBody>
                  <a:tcPr>
                    <a:solidFill>
                      <a:srgbClr val="F2F4F7"/>
                    </a:solidFill>
                  </a:tcPr>
                </a:tc>
              </a:tr>
              <a:tr h="396240">
                <a:tc>
                  <a:txBody>
                    <a:bodyPr/>
                    <a:lstStyle/>
                    <a:p>
                      <a:pPr>
                        <a:defRPr sz="1100"/>
                      </a:pPr>
                      <a:r>
                        <a:t>Reactive proportional</a:t>
                      </a:r>
                    </a:p>
                  </a:txBody>
                  <a:tcPr>
                    <a:solidFill>
                      <a:srgbClr val="FFFFFF"/>
                    </a:solidFill>
                  </a:tcPr>
                </a:tc>
                <a:tc>
                  <a:txBody>
                    <a:bodyPr/>
                    <a:lstStyle/>
                    <a:p>
                      <a:pPr>
                        <a:defRPr sz="1100"/>
                      </a:pPr>
                      <a:r>
                        <a:t>backlog/T + (1+m)·EWMA; proportional split; leftover redistributed</a:t>
                      </a:r>
                    </a:p>
                  </a:txBody>
                  <a:tcPr>
                    <a:solidFill>
                      <a:srgbClr val="FFFFFF"/>
                    </a:solidFill>
                  </a:tcPr>
                </a:tc>
                <a:tc>
                  <a:txBody>
                    <a:bodyPr/>
                    <a:lstStyle/>
                    <a:p>
                      <a:pPr>
                        <a:defRPr sz="1100"/>
                      </a:pPr>
                      <a:r>
                        <a:t>history</a:t>
                      </a:r>
                    </a:p>
                  </a:txBody>
                  <a:tcPr>
                    <a:solidFill>
                      <a:srgbClr val="FFFFFF"/>
                    </a:solidFill>
                  </a:tcPr>
                </a:tc>
                <a:tc>
                  <a:txBody>
                    <a:bodyPr/>
                    <a:lstStyle/>
                    <a:p>
                      <a:pPr>
                        <a:defRPr sz="1100"/>
                      </a:pPr>
                      <a:r>
                        <a:t>m, EWMA window</a:t>
                      </a:r>
                    </a:p>
                  </a:txBody>
                  <a:tcPr>
                    <a:solidFill>
                      <a:srgbClr val="FFFFFF"/>
                    </a:solidFill>
                  </a:tcPr>
                </a:tc>
              </a:tr>
              <a:tr h="396240">
                <a:tc>
                  <a:txBody>
                    <a:bodyPr/>
                    <a:lstStyle/>
                    <a:p>
                      <a:pPr>
                        <a:defRPr sz="1100"/>
                      </a:pPr>
                      <a:r>
                        <a:t>Deadline-aware reactive (strong)</a:t>
                      </a:r>
                    </a:p>
                  </a:txBody>
                  <a:tcPr>
                    <a:solidFill>
                      <a:srgbClr val="F2F4F7"/>
                    </a:solidFill>
                  </a:tcPr>
                </a:tc>
                <a:tc>
                  <a:txBody>
                    <a:bodyPr/>
                    <a:lstStyle/>
                    <a:p>
                      <a:pPr>
                        <a:defRPr sz="1100"/>
                      </a:pPr>
                      <a:r>
                        <a:t>backlog-slack rate + (1+m)·r*(last horizon); priority weights; water-fill</a:t>
                      </a:r>
                    </a:p>
                  </a:txBody>
                  <a:tcPr>
                    <a:solidFill>
                      <a:srgbClr val="F2F4F7"/>
                    </a:solidFill>
                  </a:tcPr>
                </a:tc>
                <a:tc>
                  <a:txBody>
                    <a:bodyPr/>
                    <a:lstStyle/>
                    <a:p>
                      <a:pPr>
                        <a:defRPr sz="1100"/>
                      </a:pPr>
                      <a:r>
                        <a:t>history, D_i, p_i</a:t>
                      </a:r>
                    </a:p>
                  </a:txBody>
                  <a:tcPr>
                    <a:solidFill>
                      <a:srgbClr val="F2F4F7"/>
                    </a:solidFill>
                  </a:tcPr>
                </a:tc>
                <a:tc>
                  <a:txBody>
                    <a:bodyPr/>
                    <a:lstStyle/>
                    <a:p>
                      <a:pPr>
                        <a:defRPr sz="1100"/>
                      </a:pPr>
                      <a:r>
                        <a:t>m, #horizons</a:t>
                      </a:r>
                    </a:p>
                  </a:txBody>
                  <a:tcPr>
                    <a:solidFill>
                      <a:srgbClr val="F2F4F7"/>
                    </a:solidFill>
                  </a:tcPr>
                </a:tc>
              </a:tr>
              <a:tr h="396240">
                <a:tc>
                  <a:txBody>
                    <a:bodyPr/>
                    <a:lstStyle/>
                    <a:p>
                      <a:pPr>
                        <a:defRPr sz="1100"/>
                      </a:pPr>
                      <a:r>
                        <a:t>Point forecast + water-fill (ablation)</a:t>
                      </a:r>
                    </a:p>
                  </a:txBody>
                  <a:tcPr>
                    <a:solidFill>
                      <a:srgbClr val="FFFFFF"/>
                    </a:solidFill>
                  </a:tcPr>
                </a:tc>
                <a:tc>
                  <a:txBody>
                    <a:bodyPr/>
                    <a:lstStyle/>
                    <a:p>
                      <a:pPr>
                        <a:defRPr sz="1100"/>
                      </a:pPr>
                      <a:r>
                        <a:t>same as above with GBM MEDIAN forecast of r*</a:t>
                      </a:r>
                    </a:p>
                  </a:txBody>
                  <a:tcPr>
                    <a:solidFill>
                      <a:srgbClr val="FFFFFF"/>
                    </a:solidFill>
                  </a:tcPr>
                </a:tc>
                <a:tc>
                  <a:txBody>
                    <a:bodyPr/>
                    <a:lstStyle/>
                    <a:p>
                      <a:pPr>
                        <a:defRPr sz="1100"/>
                      </a:pPr>
                      <a:r>
                        <a:t>history, D_i, p_i, model</a:t>
                      </a:r>
                    </a:p>
                  </a:txBody>
                  <a:tcPr>
                    <a:solidFill>
                      <a:srgbClr val="FFFFFF"/>
                    </a:solidFill>
                  </a:tcPr>
                </a:tc>
                <a:tc>
                  <a:txBody>
                    <a:bodyPr/>
                    <a:lstStyle/>
                    <a:p>
                      <a:pPr>
                        <a:defRPr sz="1100"/>
                      </a:pPr>
                      <a:r>
                        <a:t>m</a:t>
                      </a:r>
                    </a:p>
                  </a:txBody>
                  <a:tcPr>
                    <a:solidFill>
                      <a:srgbClr val="FFFFFF"/>
                    </a:solidFill>
                  </a:tcPr>
                </a:tc>
              </a:tr>
              <a:tr h="396240">
                <a:tc>
                  <a:txBody>
                    <a:bodyPr/>
                    <a:lstStyle/>
                    <a:p>
                      <a:pPr>
                        <a:defRPr sz="1100"/>
                      </a:pPr>
                      <a:r>
                        <a:t>Oracle water-fill (reference)</a:t>
                      </a:r>
                    </a:p>
                  </a:txBody>
                  <a:tcPr>
                    <a:solidFill>
                      <a:srgbClr val="F2F4F7"/>
                    </a:solidFill>
                  </a:tcPr>
                </a:tc>
                <a:tc>
                  <a:txBody>
                    <a:bodyPr/>
                    <a:lstStyle/>
                    <a:p>
                      <a:pPr>
                        <a:defRPr sz="1100"/>
                      </a:pPr>
                      <a:r>
                        <a:t>true r* of the next horizon; same water-fill as above (perfect point forecast, not a bound on other rules)</a:t>
                      </a:r>
                    </a:p>
                  </a:txBody>
                  <a:tcPr>
                    <a:solidFill>
                      <a:srgbClr val="F2F4F7"/>
                    </a:solidFill>
                  </a:tcPr>
                </a:tc>
                <a:tc>
                  <a:txBody>
                    <a:bodyPr/>
                    <a:lstStyle/>
                    <a:p>
                      <a:pPr>
                        <a:defRPr sz="1100"/>
                      </a:pPr>
                      <a:r>
                        <a:t>future arrivals</a:t>
                      </a:r>
                    </a:p>
                  </a:txBody>
                  <a:tcPr>
                    <a:solidFill>
                      <a:srgbClr val="F2F4F7"/>
                    </a:solidFill>
                  </a:tcPr>
                </a:tc>
                <a:tc>
                  <a:txBody>
                    <a:bodyPr/>
                    <a:lstStyle/>
                    <a:p>
                      <a:pPr>
                        <a:defRPr sz="1100"/>
                      </a:pPr>
                      <a:r>
                        <a:t>—</a:t>
                      </a:r>
                    </a:p>
                  </a:txBody>
                  <a:tcPr>
                    <a:solidFill>
                      <a:srgbClr val="F2F4F7"/>
                    </a:solidFill>
                  </a:tcPr>
                </a:tc>
              </a:tr>
            </a:tbl>
          </a:graphicData>
        </a:graphic>
      </p:graphicFrame>
      <p:sp>
        <p:nvSpPr>
          <p:cNvPr id="7" name="TextBox 6"/>
          <p:cNvSpPr txBox="1"/>
          <p:nvPr/>
        </p:nvSpPr>
        <p:spPr>
          <a:xfrm>
            <a:off x="457200" y="4343400"/>
            <a:ext cx="11247120" cy="2011680"/>
          </a:xfrm>
          <a:prstGeom prst="rect">
            <a:avLst/>
          </a:prstGeom>
          <a:noFill/>
        </p:spPr>
        <p:txBody>
          <a:bodyPr wrap="square">
            <a:spAutoFit/>
          </a:bodyPr>
          <a:lstStyle/>
          <a:p>
            <a:pPr>
              <a:spcAft>
                <a:spcPts val="600"/>
              </a:spcAft>
              <a:defRPr sz="1300" b="1">
                <a:solidFill>
                  <a:srgbClr val="222222"/>
                </a:solidFill>
              </a:defRPr>
            </a:pPr>
            <a:r>
              <a:t>• Validation tuning (seeds 2000-2003, scenarios moderate/high; test seeds untouched):</a:t>
            </a:r>
          </a:p>
          <a:p>
            <a:pPr lvl="1">
              <a:spcAft>
                <a:spcPts val="600"/>
              </a:spcAft>
              <a:defRPr sz="1100" b="0">
                <a:solidFill>
                  <a:srgbClr val="222222"/>
                </a:solidFill>
              </a:defRPr>
            </a:pPr>
            <a:r>
              <a:t>– reactive_prop → {'margin': 0.0, 'ewma_window': 20}  |  queue_aware → {'margin': 0.0, 'num_horizons': 1}  |  point_forecast → {'margin': 0.0}  |  proposed_cal → {'gamma': 0.005}</a:t>
            </a:r>
          </a:p>
          <a:p>
            <a:pPr lvl="1">
              <a:spcAft>
                <a:spcPts val="600"/>
              </a:spcAft>
              <a:defRPr sz="1100" b="0">
                <a:solidFill>
                  <a:srgbClr val="222222"/>
                </a:solidFill>
              </a:defRPr>
            </a:pPr>
            <a:r>
              <a:t>– Finding: every safety margin &gt; 0 was worse on validation — inflating a point estimate hurts when the shortage is split proportionally (over-claimers get more)</a:t>
            </a:r>
          </a:p>
          <a:p>
            <a:pPr>
              <a:spcAft>
                <a:spcPts val="600"/>
              </a:spcAft>
              <a:defRPr sz="1300" b="0">
                <a:solidFill>
                  <a:srgbClr val="222222"/>
                </a:solidFill>
              </a:defRPr>
            </a:pPr>
            <a:r>
              <a:t>• All controllers: identical traces, identical delayed observations, unused capacity always redistributed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Proposed method: quantile forecast of r* + KKT budget rule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6 Proposed</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7</a:t>
            </a:r>
          </a:p>
        </p:txBody>
      </p:sp>
      <p:sp>
        <p:nvSpPr>
          <p:cNvPr id="6" name="TextBox 5"/>
          <p:cNvSpPr txBox="1"/>
          <p:nvPr/>
        </p:nvSpPr>
        <p:spPr>
          <a:xfrm>
            <a:off x="457200" y="1005840"/>
            <a:ext cx="7498079" cy="5303520"/>
          </a:xfrm>
          <a:prstGeom prst="rect">
            <a:avLst/>
          </a:prstGeom>
          <a:noFill/>
        </p:spPr>
        <p:txBody>
          <a:bodyPr wrap="square">
            <a:spAutoFit/>
          </a:bodyPr>
          <a:lstStyle/>
          <a:p>
            <a:pPr>
              <a:spcAft>
                <a:spcPts val="600"/>
              </a:spcAft>
              <a:defRPr sz="1400" b="1">
                <a:solidFill>
                  <a:srgbClr val="222222"/>
                </a:solidFill>
              </a:defRPr>
            </a:pPr>
            <a:r>
              <a:t>• 1. Forecaster: K = 6 quantiles (5, 25, 50, 75, 90, 95%) of r*_i for the next horizon</a:t>
            </a:r>
          </a:p>
          <a:p>
            <a:pPr lvl="1">
              <a:spcAft>
                <a:spcPts val="600"/>
              </a:spcAft>
              <a:defRPr sz="1200" b="0">
                <a:solidFill>
                  <a:srgbClr val="222222"/>
                </a:solidFill>
              </a:defRPr>
            </a:pPr>
            <a:r>
              <a:t>– One HistGradientBoostingRegressor(loss='quantile') per level; 28 features from past slots only (lag means, EWMAs, last slots, past r*, SE, deadline, cell id)</a:t>
            </a:r>
          </a:p>
          <a:p>
            <a:pPr lvl="1">
              <a:spcAft>
                <a:spcPts val="600"/>
              </a:spcAft>
              <a:defRPr sz="1200" b="0">
                <a:solidFill>
                  <a:srgbClr val="222222"/>
                </a:solidFill>
              </a:defRPr>
            </a:pPr>
            <a:r>
              <a:t>– Target normalised by the cell's fixed peak → no statistics fitted on data; trained on TRAIN seeds only</a:t>
            </a:r>
          </a:p>
          <a:p>
            <a:pPr>
              <a:spcAft>
                <a:spcPts val="600"/>
              </a:spcAft>
              <a:defRPr sz="1400" b="1">
                <a:solidFill>
                  <a:srgbClr val="222222"/>
                </a:solidFill>
              </a:defRPr>
            </a:pPr>
            <a:r>
              <a:t>• 2. Allocator: separable concave program under the forecast distribution F_i</a:t>
            </a:r>
          </a:p>
          <a:p>
            <a:pPr lvl="1">
              <a:spcAft>
                <a:spcPts val="600"/>
              </a:spcAft>
              <a:defRPr sz="1200" b="0">
                <a:solidFill>
                  <a:srgbClr val="222222"/>
                </a:solidFill>
              </a:defRPr>
            </a:pPr>
            <a:r>
              <a:t>– max Σ_i w_i · E[min(B_i + r*_i, r_i)]   s.t.  Σ r_i ≤ C_u,  0 ≤ r_i ≤ cap_i</a:t>
            </a:r>
          </a:p>
          <a:p>
            <a:pPr lvl="1">
              <a:spcAft>
                <a:spcPts val="600"/>
              </a:spcAft>
              <a:defRPr sz="1200" b="0">
                <a:solidFill>
                  <a:srgbClr val="222222"/>
                </a:solidFill>
              </a:defRPr>
            </a:pPr>
            <a:r>
              <a:t>– KKT:  r_i(λ) = clip(B_i + F_i⁻¹(1 − λ / w_i), 0, cap_i),   λ from bisection on Σ r_i(λ) = C_u  (λ = 0 if slack → headroom spread)</a:t>
            </a:r>
          </a:p>
          <a:p>
            <a:pPr lvl="1">
              <a:spcAft>
                <a:spcPts val="600"/>
              </a:spcAft>
              <a:defRPr sz="1200" b="0">
                <a:solidFill>
                  <a:srgbClr val="222222"/>
                </a:solidFill>
              </a:defRPr>
            </a:pPr>
            <a:r>
              <a:t>– Meaning: every cell is cut at the same weighted tail probability w_i·P(marginal bit needed) = λ</a:t>
            </a:r>
          </a:p>
          <a:p>
            <a:pPr lvl="1">
              <a:spcAft>
                <a:spcPts val="600"/>
              </a:spcAft>
              <a:defRPr sz="1200" b="0">
                <a:solidFill>
                  <a:srgbClr val="222222"/>
                </a:solidFill>
              </a:defRPr>
            </a:pPr>
            <a:r>
              <a:t>– → wide forecast or high weight ⇒ larger margin; confident forecast ⇒ ≈ median; backlog funded first (F_i(x&lt;0) = 0)</a:t>
            </a:r>
          </a:p>
          <a:p>
            <a:pPr>
              <a:spcAft>
                <a:spcPts val="600"/>
              </a:spcAft>
              <a:defRPr sz="1400" b="0">
                <a:solidFill>
                  <a:srgbClr val="222222"/>
                </a:solidFill>
              </a:defRPr>
            </a:pPr>
            <a:r>
              <a:t>• Optional: per-cell ACI offset δ_i on the quantile level (Gibbs &amp; Candès 2021) as an online fallback — tested as ablation</a:t>
            </a:r>
          </a:p>
          <a:p>
            <a:pPr>
              <a:spcAft>
                <a:spcPts val="600"/>
              </a:spcAft>
              <a:defRPr sz="1400" b="0">
                <a:solidFill>
                  <a:srgbClr val="222222"/>
                </a:solidFill>
              </a:defRPr>
            </a:pPr>
            <a:r>
              <a:t>• Cost: O(N·K + N·60) per epoch; feasibility by construction (Prop. 1-3 in docs/fhlm/method.md)</a:t>
            </a:r>
          </a:p>
        </p:txBody>
      </p:sp>
      <p:sp>
        <p:nvSpPr>
          <p:cNvPr id="7" name="Rounded Rectangle 6"/>
          <p:cNvSpPr/>
          <p:nvPr/>
        </p:nvSpPr>
        <p:spPr>
          <a:xfrm>
            <a:off x="8229600" y="1097280"/>
            <a:ext cx="3474720" cy="73152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history (past slots)</a:t>
            </a:r>
          </a:p>
          <a:p>
            <a:pPr algn="ctr">
              <a:defRPr sz="1100" b="0">
                <a:solidFill>
                  <a:srgbClr val="222222"/>
                </a:solidFill>
              </a:defRPr>
            </a:pPr>
            <a:r>
              <a:t>queue, HoL age, SE</a:t>
            </a:r>
          </a:p>
        </p:txBody>
      </p:sp>
      <p:cxnSp>
        <p:nvCxnSpPr>
          <p:cNvPr id="8" name="Connector 7"/>
          <p:cNvCxnSpPr/>
          <p:nvPr/>
        </p:nvCxnSpPr>
        <p:spPr>
          <a:xfrm>
            <a:off x="9966960" y="182880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0" y="2103120"/>
            <a:ext cx="347472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quantile GBM  →  q_i(α), α ∈ {.05 … .95}</a:t>
            </a:r>
          </a:p>
          <a:p>
            <a:pPr algn="ctr">
              <a:defRPr sz="1100" b="0">
                <a:solidFill>
                  <a:srgbClr val="222222"/>
                </a:solidFill>
              </a:defRPr>
            </a:pPr>
            <a:r>
              <a:t>(predictive CDF F_i of r*_i)</a:t>
            </a:r>
          </a:p>
        </p:txBody>
      </p:sp>
      <p:cxnSp>
        <p:nvCxnSpPr>
          <p:cNvPr id="10" name="Connector 9"/>
          <p:cNvCxnSpPr/>
          <p:nvPr/>
        </p:nvCxnSpPr>
        <p:spPr>
          <a:xfrm>
            <a:off x="9966960" y="29260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0" y="3200400"/>
            <a:ext cx="3474720" cy="1097280"/>
          </a:xfrm>
          <a:prstGeom prst="roundRect">
            <a:avLst/>
          </a:prstGeom>
          <a:solidFill>
            <a:srgbClr val="FFEBEE"/>
          </a:solidFill>
          <a:ln w="15875">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KKT rule</a:t>
            </a:r>
          </a:p>
          <a:p>
            <a:pPr algn="ctr">
              <a:defRPr sz="1100" b="0">
                <a:solidFill>
                  <a:srgbClr val="222222"/>
                </a:solidFill>
              </a:defRPr>
            </a:pPr>
            <a:r>
              <a:t>r_i = B_i + F_i⁻¹(1 − λ/w_i)</a:t>
            </a:r>
          </a:p>
          <a:p>
            <a:pPr algn="ctr">
              <a:defRPr sz="1100" b="0">
                <a:solidFill>
                  <a:srgbClr val="222222"/>
                </a:solidFill>
              </a:defRPr>
            </a:pPr>
            <a:r>
              <a:t>bisection on λ: Σ r_i = C_u</a:t>
            </a:r>
          </a:p>
        </p:txBody>
      </p:sp>
      <p:cxnSp>
        <p:nvCxnSpPr>
          <p:cNvPr id="12" name="Connector 11"/>
          <p:cNvCxnSpPr/>
          <p:nvPr/>
        </p:nvCxnSpPr>
        <p:spPr>
          <a:xfrm>
            <a:off x="9966960" y="42976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0" y="4572000"/>
            <a:ext cx="347472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budgets r_i, held T slots</a:t>
            </a:r>
          </a:p>
          <a:p>
            <a:pPr algn="ctr">
              <a:defRPr sz="1100" b="0">
                <a:solidFill>
                  <a:srgbClr val="222222"/>
                </a:solidFill>
              </a:defRPr>
            </a:pPr>
            <a:r>
              <a:t>DU scheduler serves ≤ r_i</a:t>
            </a:r>
          </a:p>
        </p:txBody>
      </p:sp>
      <p:sp>
        <p:nvSpPr>
          <p:cNvPr id="14" name="TextBox 13"/>
          <p:cNvSpPr txBox="1"/>
          <p:nvPr/>
        </p:nvSpPr>
        <p:spPr>
          <a:xfrm>
            <a:off x="8229600" y="5394960"/>
            <a:ext cx="3566160" cy="914400"/>
          </a:xfrm>
          <a:prstGeom prst="rect">
            <a:avLst/>
          </a:prstGeom>
          <a:noFill/>
        </p:spPr>
        <p:txBody>
          <a:bodyPr wrap="square">
            <a:spAutoFit/>
          </a:bodyPr>
          <a:lstStyle/>
          <a:p>
            <a:pPr algn="l">
              <a:defRPr sz="1000" b="0" i="1">
                <a:solidFill>
                  <a:srgbClr val="555555"/>
                </a:solidFill>
              </a:defRPr>
            </a:pPr>
            <a:r>
              <a:t>Adapted: quantile GBM, ACI, water-filling.</a:t>
            </a:r>
          </a:p>
          <a:p>
            <a:pPr algn="l">
              <a:defRPr sz="1000" b="0" i="1">
                <a:solidFill>
                  <a:srgbClr val="555555"/>
                </a:solidFill>
              </a:defRPr>
            </a:pPr>
            <a:r>
              <a:t>Candidate contribution: r* as forecast target + KKT rule over the forecast CDF under the link constraint, evaluated vs strong baselines.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Architecture and what has been implemented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7 Implementation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8</a:t>
            </a:r>
          </a:p>
        </p:txBody>
      </p:sp>
      <p:sp>
        <p:nvSpPr>
          <p:cNvPr id="6" name="Rounded Rectangle 5"/>
          <p:cNvSpPr/>
          <p:nvPr/>
        </p:nvSpPr>
        <p:spPr>
          <a:xfrm>
            <a:off x="457200" y="105156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config.py</a:t>
            </a:r>
          </a:p>
        </p:txBody>
      </p:sp>
      <p:sp>
        <p:nvSpPr>
          <p:cNvPr id="7" name="TextBox 6"/>
          <p:cNvSpPr txBox="1"/>
          <p:nvPr/>
        </p:nvSpPr>
        <p:spPr>
          <a:xfrm>
            <a:off x="2286000" y="1124712"/>
            <a:ext cx="3749039" cy="548640"/>
          </a:xfrm>
          <a:prstGeom prst="rect">
            <a:avLst/>
          </a:prstGeom>
          <a:noFill/>
        </p:spPr>
        <p:txBody>
          <a:bodyPr wrap="square">
            <a:spAutoFit/>
          </a:bodyPr>
          <a:lstStyle/>
          <a:p>
            <a:pPr algn="l">
              <a:defRPr sz="1200" b="0" i="0">
                <a:solidFill>
                  <a:srgbClr val="222222"/>
                </a:solidFill>
              </a:defRPr>
            </a:pPr>
            <a:r>
              <a:t>units, 7-2x FH constants, cells, link</a:t>
            </a:r>
          </a:p>
        </p:txBody>
      </p:sp>
      <p:sp>
        <p:nvSpPr>
          <p:cNvPr id="8" name="Rounded Rectangle 7"/>
          <p:cNvSpPr/>
          <p:nvPr/>
        </p:nvSpPr>
        <p:spPr>
          <a:xfrm>
            <a:off x="6126480" y="105156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traffic.py</a:t>
            </a:r>
          </a:p>
        </p:txBody>
      </p:sp>
      <p:sp>
        <p:nvSpPr>
          <p:cNvPr id="9" name="TextBox 8"/>
          <p:cNvSpPr txBox="1"/>
          <p:nvPr/>
        </p:nvSpPr>
        <p:spPr>
          <a:xfrm>
            <a:off x="7955280" y="1124712"/>
            <a:ext cx="3749039" cy="548640"/>
          </a:xfrm>
          <a:prstGeom prst="rect">
            <a:avLst/>
          </a:prstGeom>
          <a:noFill/>
        </p:spPr>
        <p:txBody>
          <a:bodyPr wrap="square">
            <a:spAutoFit/>
          </a:bodyPr>
          <a:lstStyle/>
          <a:p>
            <a:pPr algn="l">
              <a:defRPr sz="1200" b="0" i="0">
                <a:solidFill>
                  <a:srgbClr val="222222"/>
                </a:solidFill>
              </a:defRPr>
            </a:pPr>
            <a:r>
              <a:t>synthetic arrivals: Gamma + Pareto ON/OFF + regimes + SE drift</a:t>
            </a:r>
          </a:p>
        </p:txBody>
      </p:sp>
      <p:sp>
        <p:nvSpPr>
          <p:cNvPr id="10" name="Rounded Rectangle 9"/>
          <p:cNvSpPr/>
          <p:nvPr/>
        </p:nvSpPr>
        <p:spPr>
          <a:xfrm>
            <a:off x="457200" y="1709928"/>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demand.py</a:t>
            </a:r>
          </a:p>
        </p:txBody>
      </p:sp>
      <p:sp>
        <p:nvSpPr>
          <p:cNvPr id="11" name="TextBox 10"/>
          <p:cNvSpPr txBox="1"/>
          <p:nvPr/>
        </p:nvSpPr>
        <p:spPr>
          <a:xfrm>
            <a:off x="2286000" y="1783080"/>
            <a:ext cx="3749039" cy="548640"/>
          </a:xfrm>
          <a:prstGeom prst="rect">
            <a:avLst/>
          </a:prstGeom>
          <a:noFill/>
        </p:spPr>
        <p:txBody>
          <a:bodyPr wrap="square">
            <a:spAutoFit/>
          </a:bodyPr>
          <a:lstStyle/>
          <a:p>
            <a:pPr algn="l">
              <a:defRPr sz="1200" b="0" i="0">
                <a:solidFill>
                  <a:srgbClr val="222222"/>
                </a:solidFill>
              </a:defRPr>
            </a:pPr>
            <a:r>
              <a:t>deadline-feasible rate r*, backlog slack rate</a:t>
            </a:r>
          </a:p>
        </p:txBody>
      </p:sp>
      <p:sp>
        <p:nvSpPr>
          <p:cNvPr id="12" name="Rounded Rectangle 11"/>
          <p:cNvSpPr/>
          <p:nvPr/>
        </p:nvSpPr>
        <p:spPr>
          <a:xfrm>
            <a:off x="6126480" y="1709928"/>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simulator.py</a:t>
            </a:r>
          </a:p>
        </p:txBody>
      </p:sp>
      <p:sp>
        <p:nvSpPr>
          <p:cNvPr id="13" name="TextBox 12"/>
          <p:cNvSpPr txBox="1"/>
          <p:nvPr/>
        </p:nvSpPr>
        <p:spPr>
          <a:xfrm>
            <a:off x="7955280" y="1783080"/>
            <a:ext cx="3749039" cy="548640"/>
          </a:xfrm>
          <a:prstGeom prst="rect">
            <a:avLst/>
          </a:prstGeom>
          <a:noFill/>
        </p:spPr>
        <p:txBody>
          <a:bodyPr wrap="square">
            <a:spAutoFit/>
          </a:bodyPr>
          <a:lstStyle/>
          <a:p>
            <a:pPr algn="l">
              <a:defRPr sz="1200" b="0" i="0">
                <a:solidFill>
                  <a:srgbClr val="222222"/>
                </a:solidFill>
              </a:defRPr>
            </a:pPr>
            <a:r>
              <a:t>slot loop, FIFO age queues, drops, metrics</a:t>
            </a:r>
          </a:p>
        </p:txBody>
      </p:sp>
      <p:sp>
        <p:nvSpPr>
          <p:cNvPr id="14" name="Rounded Rectangle 13"/>
          <p:cNvSpPr/>
          <p:nvPr/>
        </p:nvSpPr>
        <p:spPr>
          <a:xfrm>
            <a:off x="457200" y="2368296"/>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controllers.py</a:t>
            </a:r>
          </a:p>
        </p:txBody>
      </p:sp>
      <p:sp>
        <p:nvSpPr>
          <p:cNvPr id="15" name="TextBox 14"/>
          <p:cNvSpPr txBox="1"/>
          <p:nvPr/>
        </p:nvSpPr>
        <p:spPr>
          <a:xfrm>
            <a:off x="2286000" y="2441448"/>
            <a:ext cx="3749039" cy="548640"/>
          </a:xfrm>
          <a:prstGeom prst="rect">
            <a:avLst/>
          </a:prstGeom>
          <a:noFill/>
        </p:spPr>
        <p:txBody>
          <a:bodyPr wrap="square">
            <a:spAutoFit/>
          </a:bodyPr>
          <a:lstStyle/>
          <a:p>
            <a:pPr algn="l">
              <a:defRPr sz="1200" b="0" i="0">
                <a:solidFill>
                  <a:srgbClr val="222222"/>
                </a:solidFill>
              </a:defRPr>
            </a:pPr>
            <a:r>
              <a:t>5 baselines incl. oracle, water-fill</a:t>
            </a:r>
          </a:p>
        </p:txBody>
      </p:sp>
      <p:sp>
        <p:nvSpPr>
          <p:cNvPr id="16" name="Rounded Rectangle 15"/>
          <p:cNvSpPr/>
          <p:nvPr/>
        </p:nvSpPr>
        <p:spPr>
          <a:xfrm>
            <a:off x="6126480" y="2368296"/>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forecast.py</a:t>
            </a:r>
          </a:p>
        </p:txBody>
      </p:sp>
      <p:sp>
        <p:nvSpPr>
          <p:cNvPr id="17" name="TextBox 16"/>
          <p:cNvSpPr txBox="1"/>
          <p:nvPr/>
        </p:nvSpPr>
        <p:spPr>
          <a:xfrm>
            <a:off x="7955280" y="2441448"/>
            <a:ext cx="3749039" cy="548640"/>
          </a:xfrm>
          <a:prstGeom prst="rect">
            <a:avLst/>
          </a:prstGeom>
          <a:noFill/>
        </p:spPr>
        <p:txBody>
          <a:bodyPr wrap="square">
            <a:spAutoFit/>
          </a:bodyPr>
          <a:lstStyle/>
          <a:p>
            <a:pPr algn="l">
              <a:defRPr sz="1200" b="0" i="0">
                <a:solidFill>
                  <a:srgbClr val="222222"/>
                </a:solidFill>
              </a:defRPr>
            </a:pPr>
            <a:r>
              <a:t>features, quantile GBM, window quantiles, CompiledGBM</a:t>
            </a:r>
          </a:p>
        </p:txBody>
      </p:sp>
      <p:sp>
        <p:nvSpPr>
          <p:cNvPr id="18" name="Rounded Rectangle 17"/>
          <p:cNvSpPr/>
          <p:nvPr/>
        </p:nvSpPr>
        <p:spPr>
          <a:xfrm>
            <a:off x="457200" y="3026664"/>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proposed.py</a:t>
            </a:r>
          </a:p>
        </p:txBody>
      </p:sp>
      <p:sp>
        <p:nvSpPr>
          <p:cNvPr id="19" name="TextBox 18"/>
          <p:cNvSpPr txBox="1"/>
          <p:nvPr/>
        </p:nvSpPr>
        <p:spPr>
          <a:xfrm>
            <a:off x="2286000" y="3099816"/>
            <a:ext cx="3749039" cy="548640"/>
          </a:xfrm>
          <a:prstGeom prst="rect">
            <a:avLst/>
          </a:prstGeom>
          <a:noFill/>
        </p:spPr>
        <p:txBody>
          <a:bodyPr wrap="square">
            <a:spAutoFit/>
          </a:bodyPr>
          <a:lstStyle/>
          <a:p>
            <a:pPr algn="l">
              <a:defRPr sz="1200" b="0" i="0">
                <a:solidFill>
                  <a:srgbClr val="222222"/>
                </a:solidFill>
              </a:defRPr>
            </a:pPr>
            <a:r>
              <a:t>KKT allocator + ACI offsets</a:t>
            </a:r>
          </a:p>
        </p:txBody>
      </p:sp>
      <p:sp>
        <p:nvSpPr>
          <p:cNvPr id="20" name="Rounded Rectangle 19"/>
          <p:cNvSpPr/>
          <p:nvPr/>
        </p:nvSpPr>
        <p:spPr>
          <a:xfrm>
            <a:off x="6126480" y="3026664"/>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scenarios.py</a:t>
            </a:r>
          </a:p>
        </p:txBody>
      </p:sp>
      <p:sp>
        <p:nvSpPr>
          <p:cNvPr id="21" name="TextBox 20"/>
          <p:cNvSpPr txBox="1"/>
          <p:nvPr/>
        </p:nvSpPr>
        <p:spPr>
          <a:xfrm>
            <a:off x="7955280" y="3099816"/>
            <a:ext cx="3749039" cy="548640"/>
          </a:xfrm>
          <a:prstGeom prst="rect">
            <a:avLst/>
          </a:prstGeom>
          <a:noFill/>
        </p:spPr>
        <p:txBody>
          <a:bodyPr wrap="square">
            <a:spAutoFit/>
          </a:bodyPr>
          <a:lstStyle/>
          <a:p>
            <a:pPr algn="l">
              <a:defRPr sz="1200" b="0" i="0">
                <a:solidFill>
                  <a:srgbClr val="222222"/>
                </a:solidFill>
              </a:defRPr>
            </a:pPr>
            <a:r>
              <a:t>train/val/test seeds, 5 scenarios</a:t>
            </a:r>
          </a:p>
        </p:txBody>
      </p:sp>
      <p:sp>
        <p:nvSpPr>
          <p:cNvPr id="22" name="Rounded Rectangle 21"/>
          <p:cNvSpPr/>
          <p:nvPr/>
        </p:nvSpPr>
        <p:spPr>
          <a:xfrm>
            <a:off x="457200" y="3685032"/>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train.py</a:t>
            </a:r>
          </a:p>
        </p:txBody>
      </p:sp>
      <p:sp>
        <p:nvSpPr>
          <p:cNvPr id="23" name="TextBox 22"/>
          <p:cNvSpPr txBox="1"/>
          <p:nvPr/>
        </p:nvSpPr>
        <p:spPr>
          <a:xfrm>
            <a:off x="2286000" y="3758184"/>
            <a:ext cx="3749039" cy="548640"/>
          </a:xfrm>
          <a:prstGeom prst="rect">
            <a:avLst/>
          </a:prstGeom>
          <a:noFill/>
        </p:spPr>
        <p:txBody>
          <a:bodyPr wrap="square">
            <a:spAutoFit/>
          </a:bodyPr>
          <a:lstStyle/>
          <a:p>
            <a:pPr algn="l">
              <a:defRPr sz="1200" b="0" i="0">
                <a:solidFill>
                  <a:srgbClr val="222222"/>
                </a:solidFill>
              </a:defRPr>
            </a:pPr>
            <a:r>
              <a:t>train on TRAIN seeds, validate on VAL</a:t>
            </a:r>
          </a:p>
        </p:txBody>
      </p:sp>
      <p:sp>
        <p:nvSpPr>
          <p:cNvPr id="24" name="Rounded Rectangle 23"/>
          <p:cNvSpPr/>
          <p:nvPr/>
        </p:nvSpPr>
        <p:spPr>
          <a:xfrm>
            <a:off x="6126480" y="3685032"/>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run_experiments.py</a:t>
            </a:r>
          </a:p>
        </p:txBody>
      </p:sp>
      <p:sp>
        <p:nvSpPr>
          <p:cNvPr id="25" name="TextBox 24"/>
          <p:cNvSpPr txBox="1"/>
          <p:nvPr/>
        </p:nvSpPr>
        <p:spPr>
          <a:xfrm>
            <a:off x="7955280" y="3758184"/>
            <a:ext cx="3749039" cy="548640"/>
          </a:xfrm>
          <a:prstGeom prst="rect">
            <a:avLst/>
          </a:prstGeom>
          <a:noFill/>
        </p:spPr>
        <p:txBody>
          <a:bodyPr wrap="square">
            <a:spAutoFit/>
          </a:bodyPr>
          <a:lstStyle/>
          <a:p>
            <a:pPr algn="l">
              <a:defRPr sz="1200" b="0" i="0">
                <a:solidFill>
                  <a:srgbClr val="222222"/>
                </a:solidFill>
              </a:defRPr>
            </a:pPr>
            <a:r>
              <a:t>tune / main / sweep / demo; raw JSON per run</a:t>
            </a:r>
          </a:p>
        </p:txBody>
      </p:sp>
      <p:sp>
        <p:nvSpPr>
          <p:cNvPr id="26" name="Rounded Rectangle 25"/>
          <p:cNvSpPr/>
          <p:nvPr/>
        </p:nvSpPr>
        <p:spPr>
          <a:xfrm>
            <a:off x="457200" y="434340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make_figures.py</a:t>
            </a:r>
          </a:p>
        </p:txBody>
      </p:sp>
      <p:sp>
        <p:nvSpPr>
          <p:cNvPr id="27" name="TextBox 26"/>
          <p:cNvSpPr txBox="1"/>
          <p:nvPr/>
        </p:nvSpPr>
        <p:spPr>
          <a:xfrm>
            <a:off x="2286000" y="4416552"/>
            <a:ext cx="3749039" cy="548640"/>
          </a:xfrm>
          <a:prstGeom prst="rect">
            <a:avLst/>
          </a:prstGeom>
          <a:noFill/>
        </p:spPr>
        <p:txBody>
          <a:bodyPr wrap="square">
            <a:spAutoFit/>
          </a:bodyPr>
          <a:lstStyle/>
          <a:p>
            <a:pPr algn="l">
              <a:defRPr sz="1200" b="0" i="0">
                <a:solidFill>
                  <a:srgbClr val="222222"/>
                </a:solidFill>
              </a:defRPr>
            </a:pPr>
            <a:r>
              <a:t>all figures from CSV</a:t>
            </a:r>
          </a:p>
        </p:txBody>
      </p:sp>
      <p:sp>
        <p:nvSpPr>
          <p:cNvPr id="28" name="Rounded Rectangle 27"/>
          <p:cNvSpPr/>
          <p:nvPr/>
        </p:nvSpPr>
        <p:spPr>
          <a:xfrm>
            <a:off x="6126480" y="434340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tests/test_fhlm.py</a:t>
            </a:r>
          </a:p>
        </p:txBody>
      </p:sp>
      <p:sp>
        <p:nvSpPr>
          <p:cNvPr id="29" name="TextBox 28"/>
          <p:cNvSpPr txBox="1"/>
          <p:nvPr/>
        </p:nvSpPr>
        <p:spPr>
          <a:xfrm>
            <a:off x="7955280" y="4416552"/>
            <a:ext cx="3749039" cy="548640"/>
          </a:xfrm>
          <a:prstGeom prst="rect">
            <a:avLst/>
          </a:prstGeom>
          <a:noFill/>
        </p:spPr>
        <p:txBody>
          <a:bodyPr wrap="square">
            <a:spAutoFit/>
          </a:bodyPr>
          <a:lstStyle/>
          <a:p>
            <a:pPr algn="l">
              <a:defRPr sz="1200" b="0" i="0">
                <a:solidFill>
                  <a:srgbClr val="222222"/>
                </a:solidFill>
              </a:defRPr>
            </a:pPr>
            <a:r>
              <a:t>13 tests (capacity, queues, accounting, leakage, KKT …)</a:t>
            </a:r>
          </a:p>
        </p:txBody>
      </p:sp>
      <p:sp>
        <p:nvSpPr>
          <p:cNvPr id="30" name="TextBox 29"/>
          <p:cNvSpPr txBox="1"/>
          <p:nvPr/>
        </p:nvSpPr>
        <p:spPr>
          <a:xfrm>
            <a:off x="457200" y="5120640"/>
            <a:ext cx="11247120" cy="1280160"/>
          </a:xfrm>
          <a:prstGeom prst="rect">
            <a:avLst/>
          </a:prstGeom>
          <a:noFill/>
        </p:spPr>
        <p:txBody>
          <a:bodyPr wrap="square">
            <a:spAutoFit/>
          </a:bodyPr>
          <a:lstStyle/>
          <a:p>
            <a:pPr>
              <a:spcAft>
                <a:spcPts val="600"/>
              </a:spcAft>
              <a:defRPr sz="1300" b="0">
                <a:solidFill>
                  <a:srgbClr val="222222"/>
                </a:solidFill>
              </a:defRPr>
            </a:pPr>
            <a:r>
              <a:t>• Pipeline: traffic → simulator ↔ controller (observation τ old → budgets) → metrics/raw JSON → figures → slides</a:t>
            </a:r>
          </a:p>
          <a:p>
            <a:pPr>
              <a:spcAft>
                <a:spcPts val="600"/>
              </a:spcAft>
              <a:defRPr sz="1300" b="0">
                <a:solidFill>
                  <a:srgbClr val="222222"/>
                </a:solidFill>
              </a:defRPr>
            </a:pPr>
            <a:r>
              <a:t>• Data flow for ML: TRAIN seeds → features/targets → 6 GBMs (~12 s CPU) → VAL coverage check → frozen model → TEST</a:t>
            </a:r>
          </a:p>
          <a:p>
            <a:pPr>
              <a:spcAft>
                <a:spcPts val="600"/>
              </a:spcAft>
              <a:defRPr sz="1300" b="0">
                <a:solidFill>
                  <a:srgbClr val="222222"/>
                </a:solidFill>
              </a:defRPr>
            </a:pPr>
            <a:r>
              <a:t>• Python 3, numpy/pandas/scikit-learn/matplotlib only; full reproduction ≈ 6 min on a 4-core laptop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Experimental setup (synthetic traffic, labelled as such)</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8 Experiments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9</a:t>
            </a:r>
          </a:p>
        </p:txBody>
      </p:sp>
      <p:graphicFrame>
        <p:nvGraphicFramePr>
          <p:cNvPr id="6" name="Table 5"/>
          <p:cNvGraphicFramePr>
            <a:graphicFrameLocks noGrp="1"/>
          </p:cNvGraphicFramePr>
          <p:nvPr/>
        </p:nvGraphicFramePr>
        <p:xfrm>
          <a:off x="457200" y="1051560"/>
          <a:ext cx="11247120" cy="2103120"/>
        </p:xfrm>
        <a:graphic>
          <a:graphicData uri="http://schemas.openxmlformats.org/drawingml/2006/table">
            <a:tbl>
              <a:tblPr firstRow="1" bandRow="1">
                <a:tableStyleId>{5C22544A-7EE6-4342-B048-85BDC9FD1C3A}</a:tableStyleId>
              </a:tblPr>
              <a:tblGrid>
                <a:gridCol w="1828800"/>
                <a:gridCol w="1828800"/>
                <a:gridCol w="5760720"/>
                <a:gridCol w="1828800"/>
              </a:tblGrid>
              <a:tr h="350520">
                <a:tc>
                  <a:txBody>
                    <a:bodyPr/>
                    <a:lstStyle/>
                    <a:p>
                      <a:pPr>
                        <a:defRPr sz="1200" b="1">
                          <a:solidFill>
                            <a:srgbClr val="FFFFFF"/>
                          </a:solidFill>
                        </a:defRPr>
                      </a:pPr>
                      <a:r>
                        <a:t>Scenario</a:t>
                      </a:r>
                    </a:p>
                  </a:txBody>
                  <a:tcPr>
                    <a:solidFill>
                      <a:srgbClr val="1F3A5F"/>
                    </a:solidFill>
                  </a:tcPr>
                </a:tc>
                <a:tc>
                  <a:txBody>
                    <a:bodyPr/>
                    <a:lstStyle/>
                    <a:p>
                      <a:pPr>
                        <a:defRPr sz="1200" b="1">
                          <a:solidFill>
                            <a:srgbClr val="FFFFFF"/>
                          </a:solidFill>
                        </a:defRPr>
                      </a:pPr>
                      <a:r>
                        <a:t>Mean FH load / C_u</a:t>
                      </a:r>
                    </a:p>
                  </a:txBody>
                  <a:tcPr>
                    <a:solidFill>
                      <a:srgbClr val="1F3A5F"/>
                    </a:solidFill>
                  </a:tcPr>
                </a:tc>
                <a:tc>
                  <a:txBody>
                    <a:bodyPr/>
                    <a:lstStyle/>
                    <a:p>
                      <a:pPr>
                        <a:defRPr sz="1200" b="1">
                          <a:solidFill>
                            <a:srgbClr val="FFFFFF"/>
                          </a:solidFill>
                        </a:defRPr>
                      </a:pPr>
                      <a:r>
                        <a:t>Traffic family</a:t>
                      </a:r>
                    </a:p>
                  </a:txBody>
                  <a:tcPr>
                    <a:solidFill>
                      <a:srgbClr val="1F3A5F"/>
                    </a:solidFill>
                  </a:tcPr>
                </a:tc>
                <a:tc>
                  <a:txBody>
                    <a:bodyPr/>
                    <a:lstStyle/>
                    <a:p>
                      <a:pPr>
                        <a:defRPr sz="1200" b="1">
                          <a:solidFill>
                            <a:srgbClr val="FFFFFF"/>
                          </a:solidFill>
                        </a:defRPr>
                      </a:pPr>
                      <a:r>
                        <a:t>Used for tuning?</a:t>
                      </a:r>
                    </a:p>
                  </a:txBody>
                  <a:tcPr>
                    <a:solidFill>
                      <a:srgbClr val="1F3A5F"/>
                    </a:solidFill>
                  </a:tcPr>
                </a:tc>
              </a:tr>
              <a:tr h="350520">
                <a:tc>
                  <a:txBody>
                    <a:bodyPr/>
                    <a:lstStyle/>
                    <a:p>
                      <a:pPr>
                        <a:defRPr sz="1200"/>
                      </a:pPr>
                      <a:r>
                        <a:t>low</a:t>
                      </a:r>
                    </a:p>
                  </a:txBody>
                  <a:tcPr>
                    <a:solidFill>
                      <a:srgbClr val="F2F4F7"/>
                    </a:solidFill>
                  </a:tcPr>
                </a:tc>
                <a:tc>
                  <a:txBody>
                    <a:bodyPr/>
                    <a:lstStyle/>
                    <a:p>
                      <a:pPr>
                        <a:defRPr sz="1200"/>
                      </a:pPr>
                      <a:r>
                        <a:t>0.50</a:t>
                      </a:r>
                    </a:p>
                  </a:txBody>
                  <a:tcPr>
                    <a:solidFill>
                      <a:srgbClr val="F2F4F7"/>
                    </a:solidFill>
                  </a:tcPr>
                </a:tc>
                <a:tc>
                  <a:txBody>
                    <a:bodyPr/>
                    <a:lstStyle/>
                    <a:p>
                      <a:pPr>
                        <a:defRPr sz="1200"/>
                      </a:pPr>
                      <a:r>
                        <a:t>nominal</a:t>
                      </a:r>
                    </a:p>
                  </a:txBody>
                  <a:tcPr>
                    <a:solidFill>
                      <a:srgbClr val="F2F4F7"/>
                    </a:solidFill>
                  </a:tcPr>
                </a:tc>
                <a:tc>
                  <a:txBody>
                    <a:bodyPr/>
                    <a:lstStyle/>
                    <a:p>
                      <a:pPr>
                        <a:defRPr sz="1200"/>
                      </a:pPr>
                      <a:r>
                        <a:t>no</a:t>
                      </a:r>
                    </a:p>
                  </a:txBody>
                  <a:tcPr>
                    <a:solidFill>
                      <a:srgbClr val="F2F4F7"/>
                    </a:solidFill>
                  </a:tcPr>
                </a:tc>
              </a:tr>
              <a:tr h="350520">
                <a:tc>
                  <a:txBody>
                    <a:bodyPr/>
                    <a:lstStyle/>
                    <a:p>
                      <a:pPr>
                        <a:defRPr sz="1200"/>
                      </a:pPr>
                      <a:r>
                        <a:t>moderate</a:t>
                      </a:r>
                    </a:p>
                  </a:txBody>
                  <a:tcPr>
                    <a:solidFill>
                      <a:srgbClr val="FFFFFF"/>
                    </a:solidFill>
                  </a:tcPr>
                </a:tc>
                <a:tc>
                  <a:txBody>
                    <a:bodyPr/>
                    <a:lstStyle/>
                    <a:p>
                      <a:pPr>
                        <a:defRPr sz="1200"/>
                      </a:pPr>
                      <a:r>
                        <a:t>0.65</a:t>
                      </a:r>
                    </a:p>
                  </a:txBody>
                  <a:tcPr>
                    <a:solidFill>
                      <a:srgbClr val="FFFFFF"/>
                    </a:solidFill>
                  </a:tcPr>
                </a:tc>
                <a:tc>
                  <a:txBody>
                    <a:bodyPr/>
                    <a:lstStyle/>
                    <a:p>
                      <a:pPr>
                        <a:defRPr sz="1200"/>
                      </a:pPr>
                      <a:r>
                        <a:t>nominal</a:t>
                      </a:r>
                    </a:p>
                  </a:txBody>
                  <a:tcPr>
                    <a:solidFill>
                      <a:srgbClr val="FFFFFF"/>
                    </a:solidFill>
                  </a:tcPr>
                </a:tc>
                <a:tc>
                  <a:txBody>
                    <a:bodyPr/>
                    <a:lstStyle/>
                    <a:p>
                      <a:pPr>
                        <a:defRPr sz="1200"/>
                      </a:pPr>
                      <a:r>
                        <a:t>yes (validation seeds)</a:t>
                      </a:r>
                    </a:p>
                  </a:txBody>
                  <a:tcPr>
                    <a:solidFill>
                      <a:srgbClr val="FFFFFF"/>
                    </a:solidFill>
                  </a:tcPr>
                </a:tc>
              </a:tr>
              <a:tr h="350520">
                <a:tc>
                  <a:txBody>
                    <a:bodyPr/>
                    <a:lstStyle/>
                    <a:p>
                      <a:pPr>
                        <a:defRPr sz="1200"/>
                      </a:pPr>
                      <a:r>
                        <a:t>high</a:t>
                      </a:r>
                    </a:p>
                  </a:txBody>
                  <a:tcPr>
                    <a:solidFill>
                      <a:srgbClr val="F2F4F7"/>
                    </a:solidFill>
                  </a:tcPr>
                </a:tc>
                <a:tc>
                  <a:txBody>
                    <a:bodyPr/>
                    <a:lstStyle/>
                    <a:p>
                      <a:pPr>
                        <a:defRPr sz="1200"/>
                      </a:pPr>
                      <a:r>
                        <a:t>0.80</a:t>
                      </a:r>
                    </a:p>
                  </a:txBody>
                  <a:tcPr>
                    <a:solidFill>
                      <a:srgbClr val="F2F4F7"/>
                    </a:solidFill>
                  </a:tcPr>
                </a:tc>
                <a:tc>
                  <a:txBody>
                    <a:bodyPr/>
                    <a:lstStyle/>
                    <a:p>
                      <a:pPr>
                        <a:defRPr sz="1200"/>
                      </a:pPr>
                      <a:r>
                        <a:t>nominal</a:t>
                      </a:r>
                    </a:p>
                  </a:txBody>
                  <a:tcPr>
                    <a:solidFill>
                      <a:srgbClr val="F2F4F7"/>
                    </a:solidFill>
                  </a:tcPr>
                </a:tc>
                <a:tc>
                  <a:txBody>
                    <a:bodyPr/>
                    <a:lstStyle/>
                    <a:p>
                      <a:pPr>
                        <a:defRPr sz="1200"/>
                      </a:pPr>
                      <a:r>
                        <a:t>yes (validation seeds)</a:t>
                      </a:r>
                    </a:p>
                  </a:txBody>
                  <a:tcPr>
                    <a:solidFill>
                      <a:srgbClr val="F2F4F7"/>
                    </a:solidFill>
                  </a:tcPr>
                </a:tc>
              </a:tr>
              <a:tr h="350520">
                <a:tc>
                  <a:txBody>
                    <a:bodyPr/>
                    <a:lstStyle/>
                    <a:p>
                      <a:pPr>
                        <a:defRPr sz="1200"/>
                      </a:pPr>
                      <a:r>
                        <a:t>overload_bursts</a:t>
                      </a:r>
                    </a:p>
                  </a:txBody>
                  <a:tcPr>
                    <a:solidFill>
                      <a:srgbClr val="FFFFFF"/>
                    </a:solidFill>
                  </a:tcPr>
                </a:tc>
                <a:tc>
                  <a:txBody>
                    <a:bodyPr/>
                    <a:lstStyle/>
                    <a:p>
                      <a:pPr>
                        <a:defRPr sz="1200"/>
                      </a:pPr>
                      <a:r>
                        <a:t>0.80</a:t>
                      </a:r>
                    </a:p>
                  </a:txBody>
                  <a:tcPr>
                    <a:solidFill>
                      <a:srgbClr val="FFFFFF"/>
                    </a:solidFill>
                  </a:tcPr>
                </a:tc>
                <a:tc>
                  <a:txBody>
                    <a:bodyPr/>
                    <a:lstStyle/>
                    <a:p>
                      <a:pPr>
                        <a:defRPr sz="1200"/>
                      </a:pPr>
                      <a:r>
                        <a:t>flash crowds: ×1.8 regimes, 15% of the time (offered load &gt; C_u)</a:t>
                      </a:r>
                    </a:p>
                  </a:txBody>
                  <a:tcPr>
                    <a:solidFill>
                      <a:srgbClr val="FFFFFF"/>
                    </a:solidFill>
                  </a:tcPr>
                </a:tc>
                <a:tc>
                  <a:txBody>
                    <a:bodyPr/>
                    <a:lstStyle/>
                    <a:p>
                      <a:pPr>
                        <a:defRPr sz="1200"/>
                      </a:pPr>
                      <a:r>
                        <a:t>no</a:t>
                      </a:r>
                    </a:p>
                  </a:txBody>
                  <a:tcPr>
                    <a:solidFill>
                      <a:srgbClr val="FFFFFF"/>
                    </a:solidFill>
                  </a:tcPr>
                </a:tc>
              </a:tr>
              <a:tr h="350520">
                <a:tc>
                  <a:txBody>
                    <a:bodyPr/>
                    <a:lstStyle/>
                    <a:p>
                      <a:pPr>
                        <a:defRPr sz="1200"/>
                      </a:pPr>
                      <a:r>
                        <a:t>shift (held-out)</a:t>
                      </a:r>
                    </a:p>
                  </a:txBody>
                  <a:tcPr>
                    <a:solidFill>
                      <a:srgbClr val="F2F4F7"/>
                    </a:solidFill>
                  </a:tcPr>
                </a:tc>
                <a:tc>
                  <a:txBody>
                    <a:bodyPr/>
                    <a:lstStyle/>
                    <a:p>
                      <a:pPr>
                        <a:defRPr sz="1200"/>
                      </a:pPr>
                      <a:r>
                        <a:t>0.80</a:t>
                      </a:r>
                    </a:p>
                  </a:txBody>
                  <a:tcPr>
                    <a:solidFill>
                      <a:srgbClr val="F2F4F7"/>
                    </a:solidFill>
                  </a:tcPr>
                </a:tc>
                <a:tc>
                  <a:txBody>
                    <a:bodyPr/>
                    <a:lstStyle/>
                    <a:p>
                      <a:pPr>
                        <a:defRPr sz="1200"/>
                      </a:pPr>
                      <a:r>
                        <a:t>ON rate ×1.5, ON duration ×1.5, Pareto α_on = 1.2 — never in training/tuning</a:t>
                      </a:r>
                    </a:p>
                  </a:txBody>
                  <a:tcPr>
                    <a:solidFill>
                      <a:srgbClr val="F2F4F7"/>
                    </a:solidFill>
                  </a:tcPr>
                </a:tc>
                <a:tc>
                  <a:txBody>
                    <a:bodyPr/>
                    <a:lstStyle/>
                    <a:p>
                      <a:pPr>
                        <a:defRPr sz="1200"/>
                      </a:pPr>
                      <a:r>
                        <a:t>no</a:t>
                      </a:r>
                    </a:p>
                  </a:txBody>
                  <a:tcPr>
                    <a:solidFill>
                      <a:srgbClr val="F2F4F7"/>
                    </a:solidFill>
                  </a:tcPr>
                </a:tc>
              </a:tr>
            </a:tbl>
          </a:graphicData>
        </a:graphic>
      </p:graphicFrame>
      <p:sp>
        <p:nvSpPr>
          <p:cNvPr id="7" name="TextBox 6"/>
          <p:cNvSpPr txBox="1"/>
          <p:nvPr/>
        </p:nvSpPr>
        <p:spPr>
          <a:xfrm>
            <a:off x="457200" y="3657600"/>
            <a:ext cx="11247120" cy="2743200"/>
          </a:xfrm>
          <a:prstGeom prst="rect">
            <a:avLst/>
          </a:prstGeom>
          <a:noFill/>
        </p:spPr>
        <p:txBody>
          <a:bodyPr wrap="square">
            <a:spAutoFit/>
          </a:bodyPr>
          <a:lstStyle/>
          <a:p>
            <a:pPr>
              <a:spcAft>
                <a:spcPts val="600"/>
              </a:spcAft>
              <a:defRPr sz="1400" b="0">
                <a:solidFill>
                  <a:srgbClr val="222222"/>
                </a:solidFill>
              </a:defRPr>
            </a:pPr>
            <a:r>
              <a:t>• Traffic (synthetic): Gamma smooth part + Pareto ON/OFF bursts (α_on 1.5) + log-normal regimes (~1 s) + SE drift</a:t>
            </a:r>
          </a:p>
          <a:p>
            <a:pPr>
              <a:spcAft>
                <a:spcPts val="600"/>
              </a:spcAft>
              <a:defRPr sz="1400" b="0">
                <a:solidFill>
                  <a:srgbClr val="222222"/>
                </a:solidFill>
              </a:defRPr>
            </a:pPr>
            <a:r>
              <a:t>• Seeds: train 1000-1015 (loads 0.5-0.95) | validation 2000-2003 | test 3000-3004 — disjoint</a:t>
            </a:r>
          </a:p>
          <a:p>
            <a:pPr>
              <a:spcAft>
                <a:spcPts val="600"/>
              </a:spcAft>
              <a:defRPr sz="1400" b="0">
                <a:solidFill>
                  <a:srgbClr val="222222"/>
                </a:solidFill>
              </a:defRPr>
            </a:pPr>
            <a:r>
              <a:t>• Per run: 20,000 slots = 10 s after 1,000-slot warm-up; T = 20 slots, τ = 2 slots; 8 methods × 5 scenarios × 5 seeds = 200 runs</a:t>
            </a:r>
          </a:p>
          <a:p>
            <a:pPr>
              <a:spcAft>
                <a:spcPts val="600"/>
              </a:spcAft>
              <a:defRPr sz="1400" b="0">
                <a:solidFill>
                  <a:srgbClr val="222222"/>
                </a:solidFill>
              </a:defRPr>
            </a:pPr>
            <a:r>
              <a:t>• Identical traces and identical delayed observations for every controller; forecaster frozen before test</a:t>
            </a:r>
          </a:p>
          <a:p>
            <a:pPr>
              <a:spcAft>
                <a:spcPts val="600"/>
              </a:spcAft>
              <a:defRPr sz="1400" b="0">
                <a:solidFill>
                  <a:srgbClr val="222222"/>
                </a:solidFill>
              </a:defRPr>
            </a:pPr>
            <a:r>
              <a:t>• Note: absolute violation ratios are high by design (heavy-tailed bursts at 0.8 mean load); relative, paired differences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primary metric per scenario (5 test seeds, mean ± std)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10</a:t>
            </a:r>
          </a:p>
        </p:txBody>
      </p:sp>
      <p:pic>
        <p:nvPicPr>
          <p:cNvPr id="6" name="Picture 5" descr="fig1_primary_by_scenario.png"/>
          <p:cNvPicPr>
            <a:picLocks noChangeAspect="1"/>
          </p:cNvPicPr>
          <p:nvPr/>
        </p:nvPicPr>
        <p:blipFill>
          <a:blip r:embed="rId3"/>
          <a:stretch>
            <a:fillRect/>
          </a:stretch>
        </p:blipFill>
        <p:spPr>
          <a:xfrm>
            <a:off x="365760" y="1005840"/>
            <a:ext cx="7863840" cy="3796498"/>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Proposed = best implementable method in 5/5 scenarios</a:t>
            </a:r>
          </a:p>
          <a:p>
            <a:pPr lvl="1">
              <a:spcAft>
                <a:spcPts val="600"/>
              </a:spcAft>
              <a:defRPr sz="1100" b="0">
                <a:solidFill>
                  <a:srgbClr val="222222"/>
                </a:solidFill>
              </a:defRPr>
            </a:pPr>
            <a:r>
              <a:t>– vs point forecast (same model, median only): −18% (high), −10% (shift)</a:t>
            </a:r>
          </a:p>
          <a:p>
            <a:pPr lvl="1">
              <a:spcAft>
                <a:spcPts val="600"/>
              </a:spcAft>
              <a:defRPr sz="1100" b="0">
                <a:solidFill>
                  <a:srgbClr val="222222"/>
                </a:solidFill>
              </a:defRPr>
            </a:pPr>
            <a:r>
              <a:t>– vs deadline-aware reactive: −27% (high), −18% (shift)</a:t>
            </a:r>
          </a:p>
          <a:p>
            <a:pPr lvl="1">
              <a:spcAft>
                <a:spcPts val="600"/>
              </a:spcAft>
              <a:defRPr sz="1100" b="0">
                <a:solidFill>
                  <a:srgbClr val="222222"/>
                </a:solidFill>
              </a:defRPr>
            </a:pPr>
            <a:r>
              <a:t>– vs reactive proportional: −12% (high) but only −3% under flash crowds (3/5 seeds) → tie</a:t>
            </a:r>
          </a:p>
          <a:p>
            <a:pPr>
              <a:spcAft>
                <a:spcPts val="600"/>
              </a:spcAft>
              <a:defRPr sz="1300" b="0">
                <a:solidFill>
                  <a:srgbClr val="222222"/>
                </a:solidFill>
              </a:defRPr>
            </a:pPr>
            <a:r>
              <a:t>• Gap to oracle at high load: 7.9% vs 6.9%</a:t>
            </a:r>
          </a:p>
          <a:p>
            <a:pPr>
              <a:spcAft>
                <a:spcPts val="600"/>
              </a:spcAft>
              <a:defRPr sz="1300" b="0">
                <a:solidFill>
                  <a:srgbClr val="222222"/>
                </a:solidFill>
              </a:defRPr>
            </a:pPr>
            <a:r>
              <a:t>• Std across seeds is large (burst timing) → paired per-seed comparison next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paired per-seed comparison on identical traces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11</a:t>
            </a:r>
          </a:p>
        </p:txBody>
      </p:sp>
      <p:pic>
        <p:nvPicPr>
          <p:cNvPr id="6" name="Picture 5" descr="fig8_paired_reduction.png"/>
          <p:cNvPicPr>
            <a:picLocks noChangeAspect="1"/>
          </p:cNvPicPr>
          <p:nvPr/>
        </p:nvPicPr>
        <p:blipFill>
          <a:blip r:embed="rId3"/>
          <a:stretch>
            <a:fillRect/>
          </a:stretch>
        </p:blipFill>
        <p:spPr>
          <a:xfrm>
            <a:off x="365760" y="1005840"/>
            <a:ext cx="7863840" cy="3661685"/>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Wins 5/5 seeds vs point forecast and vs deadline-aware reactive in every scenario</a:t>
            </a:r>
          </a:p>
          <a:p>
            <a:pPr>
              <a:spcAft>
                <a:spcPts val="600"/>
              </a:spcAft>
              <a:defRPr sz="1300" b="0">
                <a:solidFill>
                  <a:srgbClr val="222222"/>
                </a:solidFill>
              </a:defRPr>
            </a:pPr>
            <a:r>
              <a:t>• vs reactive proportional: 5/5 in four scenarios; 3/5 under flash crowds (no claim there)</a:t>
            </a:r>
          </a:p>
          <a:p>
            <a:pPr>
              <a:spcAft>
                <a:spcPts val="600"/>
              </a:spcAft>
              <a:defRPr sz="1300" b="1">
                <a:solidFill>
                  <a:srgbClr val="222222"/>
                </a:solidFill>
              </a:defRPr>
            </a:pPr>
            <a:r>
              <a:t>• ML ablation (same rule, window quantiles instead of GBM):</a:t>
            </a:r>
          </a:p>
          <a:p>
            <a:pPr lvl="1">
              <a:spcAft>
                <a:spcPts val="600"/>
              </a:spcAft>
              <a:defRPr sz="1100" b="0">
                <a:solidFill>
                  <a:srgbClr val="222222"/>
                </a:solidFill>
              </a:defRPr>
            </a:pPr>
            <a:r>
              <a:t>– GBM adds 2–51% ; smallest under held-out shift (2%) → the rule, not the model, carries most of the gain</a:t>
            </a:r>
          </a:p>
          <a:p>
            <a:pPr>
              <a:spcAft>
                <a:spcPts val="600"/>
              </a:spcAft>
              <a:defRPr sz="1300" b="0">
                <a:solidFill>
                  <a:srgbClr val="222222"/>
                </a:solidFill>
              </a:defRPr>
            </a:pPr>
            <a:r>
              <a:t>• ACI calibration: no gain in-distribution, harmful under shift (over-reserves LL, starves eMBB) → negative result</a:t>
            </a:r>
          </a:p>
          <a:p>
            <a:pPr>
              <a:spcAft>
                <a:spcPts val="600"/>
              </a:spcAft>
              <a:defRPr sz="1300" b="0">
                <a:solidFill>
                  <a:srgbClr val="222222"/>
                </a:solidFill>
              </a:defRPr>
            </a:pPr>
            <a:r>
              <a:t>• No significance test claimed with 5 seeds; win counts and min/max are reported instead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Where the gain comes from: per-class trade-off (high load)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12</a:t>
            </a:r>
          </a:p>
        </p:txBody>
      </p:sp>
      <p:pic>
        <p:nvPicPr>
          <p:cNvPr id="6" name="Picture 5" descr="fig2_class_breakdown_high.png"/>
          <p:cNvPicPr>
            <a:picLocks noChangeAspect="1"/>
          </p:cNvPicPr>
          <p:nvPr/>
        </p:nvPicPr>
        <p:blipFill>
          <a:blip r:embed="rId3"/>
          <a:stretch>
            <a:fillRect/>
          </a:stretch>
        </p:blipFill>
        <p:spPr>
          <a:xfrm>
            <a:off x="365760" y="1005840"/>
            <a:ext cx="11430000" cy="3912248"/>
          </a:xfrm>
          <a:prstGeom prst="rect">
            <a:avLst/>
          </a:prstGeom>
        </p:spPr>
      </p:pic>
      <p:sp>
        <p:nvSpPr>
          <p:cNvPr id="7" name="TextBox 6"/>
          <p:cNvSpPr txBox="1"/>
          <p:nvPr/>
        </p:nvSpPr>
        <p:spPr>
          <a:xfrm>
            <a:off x="457200" y="4754880"/>
            <a:ext cx="11247120" cy="1645920"/>
          </a:xfrm>
          <a:prstGeom prst="rect">
            <a:avLst/>
          </a:prstGeom>
          <a:noFill/>
        </p:spPr>
        <p:txBody>
          <a:bodyPr wrap="square">
            <a:spAutoFit/>
          </a:bodyPr>
          <a:lstStyle/>
          <a:p>
            <a:pPr>
              <a:spcAft>
                <a:spcPts val="600"/>
              </a:spcAft>
              <a:defRPr sz="1300" b="0">
                <a:solidFill>
                  <a:srgbClr val="222222"/>
                </a:solidFill>
              </a:defRPr>
            </a:pPr>
            <a:r>
              <a:t>• Reactive proportional: LL 14.6% vs proposed 3.2% — deadline-unaware controllers sacrifice LL</a:t>
            </a:r>
          </a:p>
          <a:p>
            <a:pPr>
              <a:spcAft>
                <a:spcPts val="600"/>
              </a:spcAft>
              <a:defRPr sz="1300" b="0">
                <a:solidFill>
                  <a:srgbClr val="222222"/>
                </a:solidFill>
              </a:defRPr>
            </a:pPr>
            <a:r>
              <a:t>• Within the deadline-aware family, proposed has the lowest eMBB loss (12.3% vs 15.9% point forecast) and highest utilisation (72.0%)</a:t>
            </a:r>
          </a:p>
          <a:p>
            <a:pPr>
              <a:spcAft>
                <a:spcPts val="600"/>
              </a:spcAft>
              <a:defRPr sz="1300" b="0">
                <a:solidFill>
                  <a:srgbClr val="222222"/>
                </a:solidFill>
              </a:defRPr>
            </a:pPr>
            <a:r>
              <a:t>• Oracle still loses 13.4% eMBB at 0.80 load: 10-ms fixed budgets cannot track heavy-tailed bursts → control interval matters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Ablations: forecast quality and control interval</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10 Ablation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13</a:t>
            </a:r>
          </a:p>
        </p:txBody>
      </p:sp>
      <p:pic>
        <p:nvPicPr>
          <p:cNvPr id="6" name="Picture 5" descr="fig5_forecast_quality.png"/>
          <p:cNvPicPr>
            <a:picLocks noChangeAspect="1"/>
          </p:cNvPicPr>
          <p:nvPr/>
        </p:nvPicPr>
        <p:blipFill>
          <a:blip r:embed="rId3"/>
          <a:stretch>
            <a:fillRect/>
          </a:stretch>
        </p:blipFill>
        <p:spPr>
          <a:xfrm>
            <a:off x="274320" y="1005840"/>
            <a:ext cx="5852160" cy="2743438"/>
          </a:xfrm>
          <a:prstGeom prst="rect">
            <a:avLst/>
          </a:prstGeom>
        </p:spPr>
      </p:pic>
      <p:pic>
        <p:nvPicPr>
          <p:cNvPr id="7" name="Picture 6" descr="fig4_interval_sweep.png"/>
          <p:cNvPicPr>
            <a:picLocks noChangeAspect="1"/>
          </p:cNvPicPr>
          <p:nvPr/>
        </p:nvPicPr>
        <p:blipFill>
          <a:blip r:embed="rId4"/>
          <a:stretch>
            <a:fillRect/>
          </a:stretch>
        </p:blipFill>
        <p:spPr>
          <a:xfrm>
            <a:off x="6217920" y="1005840"/>
            <a:ext cx="5760720" cy="2794839"/>
          </a:xfrm>
          <a:prstGeom prst="rect">
            <a:avLst/>
          </a:prstGeom>
        </p:spPr>
      </p:pic>
      <p:sp>
        <p:nvSpPr>
          <p:cNvPr id="8" name="TextBox 7"/>
          <p:cNvSpPr txBox="1"/>
          <p:nvPr/>
        </p:nvSpPr>
        <p:spPr>
          <a:xfrm>
            <a:off x="457200" y="4114800"/>
            <a:ext cx="11247120" cy="2194560"/>
          </a:xfrm>
          <a:prstGeom prst="rect">
            <a:avLst/>
          </a:prstGeom>
          <a:noFill/>
        </p:spPr>
        <p:txBody>
          <a:bodyPr wrap="square">
            <a:spAutoFit/>
          </a:bodyPr>
          <a:lstStyle/>
          <a:p>
            <a:pPr>
              <a:spcAft>
                <a:spcPts val="400"/>
              </a:spcAft>
              <a:defRPr sz="1200" b="0">
                <a:solidFill>
                  <a:srgbClr val="222222"/>
                </a:solidFill>
              </a:defRPr>
            </a:pPr>
            <a:r>
              <a:t>• Validation coverage at nominal 5/50/95%: 5.6% / 50.7% / 94.9% ; median rel. MAE 37% vs persistence 52% , window 49%</a:t>
            </a:r>
          </a:p>
          <a:p>
            <a:pPr>
              <a:spcAft>
                <a:spcPts val="400"/>
              </a:spcAft>
              <a:defRPr sz="1200" b="1">
                <a:solidFill>
                  <a:srgbClr val="222222"/>
                </a:solidFill>
              </a:defRPr>
            </a:pPr>
            <a:r>
              <a:t>• Interval sweep (scenario high, 3 seeds), reduction by proposed vs deadline-aware reactive / vs reactive proportional / vs oracle water-fill:</a:t>
            </a:r>
          </a:p>
          <a:p>
            <a:pPr lvl="1">
              <a:spcAft>
                <a:spcPts val="400"/>
              </a:spcAft>
              <a:defRPr sz="1000" b="0">
                <a:solidFill>
                  <a:srgbClr val="222222"/>
                </a:solidFill>
              </a:defRPr>
            </a:pPr>
            <a:r>
              <a:t>–    T=2 ms: +62% / +27% / +57%   |   T=5 ms: +52% / +37% / +13%   |   T=10 ms: +30% / +18% / -17%   |   T=20 ms: +17% / -12% / -25%</a:t>
            </a:r>
          </a:p>
          <a:p>
            <a:pPr>
              <a:spcAft>
                <a:spcPts val="400"/>
              </a:spcAft>
              <a:defRPr sz="1200" b="0">
                <a:solidFill>
                  <a:srgbClr val="222222"/>
                </a:solidFill>
              </a:defRPr>
            </a:pPr>
            <a:r>
              <a:t>• At T = 2 ms the KKT rule even beats the oracle water-fill (perfect point forecast, proportional shortage split) → the allocation RULE, not only the forecast, drives the gain</a:t>
            </a:r>
          </a:p>
          <a:p>
            <a:pPr>
              <a:spcAft>
                <a:spcPts val="400"/>
              </a:spcAft>
              <a:defRPr sz="1200" b="0">
                <a:solidFill>
                  <a:srgbClr val="222222"/>
                </a:solidFill>
              </a:defRPr>
            </a:pPr>
            <a:r>
              <a:t>• At T = 20 ms (budgets held 5× the LL deadline) the deadline-aware family over-reserves the LL peak rate and reactive proportional wins on the weighted metric → known failure regime; a bound on how long a reservation should be held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One trace: budgets vs. demand of a low-latency cell (300 ms)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14</a:t>
            </a:r>
          </a:p>
        </p:txBody>
      </p:sp>
      <p:pic>
        <p:nvPicPr>
          <p:cNvPr id="6" name="Picture 5" descr="fig6_demo_timeseries.png"/>
          <p:cNvPicPr>
            <a:picLocks noChangeAspect="1"/>
          </p:cNvPicPr>
          <p:nvPr/>
        </p:nvPicPr>
        <p:blipFill>
          <a:blip r:embed="rId3"/>
          <a:stretch>
            <a:fillRect/>
          </a:stretch>
        </p:blipFill>
        <p:spPr>
          <a:xfrm>
            <a:off x="1097280" y="960120"/>
            <a:ext cx="9016453" cy="53949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Limitations and honest status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11 Limitations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15</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Synthetic traffic only (Gamma + Pareto ON/OFF + regimes); no real O-RU traces → no real-world validation claimed</a:t>
            </a:r>
          </a:p>
          <a:p>
            <a:pPr>
              <a:spcAft>
                <a:spcPts val="600"/>
              </a:spcAft>
              <a:defRPr sz="1500" b="0">
                <a:solidFill>
                  <a:srgbClr val="222222"/>
                </a:solidFill>
              </a:defRPr>
            </a:pPr>
            <a:r>
              <a:t>• Gains are relative to interval-level controllers; the oracle itself is interval-level — a slot-level optimum is lower</a:t>
            </a:r>
          </a:p>
          <a:p>
            <a:pPr>
              <a:spcAft>
                <a:spcPts val="600"/>
              </a:spcAft>
              <a:defRPr sz="1500" b="0">
                <a:solidFill>
                  <a:srgbClr val="222222"/>
                </a:solidFill>
              </a:defRPr>
            </a:pPr>
            <a:r>
              <a:t>• Not a universal win: tie with reactive proportional under flash crowds; GBM adds ≈0-2% over window quantiles under held-out shift</a:t>
            </a:r>
          </a:p>
          <a:p>
            <a:pPr>
              <a:spcAft>
                <a:spcPts val="600"/>
              </a:spcAft>
              <a:defRPr sz="1500" b="0">
                <a:solidFill>
                  <a:srgbClr val="222222"/>
                </a:solidFill>
              </a:defRPr>
            </a:pPr>
            <a:r>
              <a:t>• ACI online calibration did not help (negative result); the robust fallback is currently the window-quantile variant</a:t>
            </a:r>
          </a:p>
          <a:p>
            <a:pPr>
              <a:spcAft>
                <a:spcPts val="600"/>
              </a:spcAft>
              <a:defRPr sz="1500" b="0">
                <a:solidFill>
                  <a:srgbClr val="222222"/>
                </a:solidFill>
              </a:defRPr>
            </a:pPr>
            <a:r>
              <a:t>• 5 test seeds → win counts and min/max reported, no significance test</a:t>
            </a:r>
          </a:p>
          <a:p>
            <a:pPr>
              <a:spcAft>
                <a:spcPts val="600"/>
              </a:spcAft>
              <a:defRPr sz="1500" b="0">
                <a:solidFill>
                  <a:srgbClr val="222222"/>
                </a:solidFill>
              </a:defRPr>
            </a:pPr>
            <a:r>
              <a:t>• Simplified link: budget-enforced pipe, no switch packet queueing, one traffic class per cell, no HARQ/RLC feedback</a:t>
            </a:r>
          </a:p>
          <a:p>
            <a:pPr>
              <a:spcAft>
                <a:spcPts val="600"/>
              </a:spcAft>
              <a:defRPr sz="1500" b="0">
                <a:solidFill>
                  <a:srgbClr val="222222"/>
                </a:solidFill>
              </a:defRPr>
            </a:pPr>
            <a:r>
              <a:t>• Decision time ≈ 3.4 ms per 10-ms epoch in Python (vectorised tree evaluation); reactive baselines ≈ 0.1 ms</a:t>
            </a:r>
          </a:p>
          <a:p>
            <a:pPr>
              <a:spcAft>
                <a:spcPts val="600"/>
              </a:spcAft>
              <a:defRPr sz="1500" b="0">
                <a:solidFill>
                  <a:srgbClr val="222222"/>
                </a:solidFill>
              </a:defRPr>
            </a:pPr>
            <a:r>
              <a:t>• Propositions in docs are feasibility / equal-tail-probability / backlog-first — no stability or optimality-in-the-loop claims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Status and remaining work toward the final evaluation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12 Plan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16</a:t>
            </a:r>
          </a:p>
        </p:txBody>
      </p:sp>
      <p:sp>
        <p:nvSpPr>
          <p:cNvPr id="6" name="Rounded Rectangle 5"/>
          <p:cNvSpPr/>
          <p:nvPr/>
        </p:nvSpPr>
        <p:spPr>
          <a:xfrm>
            <a:off x="457200" y="1051560"/>
            <a:ext cx="5486400" cy="457200"/>
          </a:xfrm>
          <a:prstGeom prst="roundRect">
            <a:avLst/>
          </a:prstGeom>
          <a:solidFill>
            <a:srgbClr val="2E7D32"/>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Implemented and validated</a:t>
            </a:r>
          </a:p>
        </p:txBody>
      </p:sp>
      <p:sp>
        <p:nvSpPr>
          <p:cNvPr id="7" name="TextBox 6"/>
          <p:cNvSpPr txBox="1"/>
          <p:nvPr/>
        </p:nvSpPr>
        <p:spPr>
          <a:xfrm>
            <a:off x="457200" y="1600200"/>
            <a:ext cx="5486400" cy="4572000"/>
          </a:xfrm>
          <a:prstGeom prst="rect">
            <a:avLst/>
          </a:prstGeom>
          <a:noFill/>
        </p:spPr>
        <p:txBody>
          <a:bodyPr wrap="square">
            <a:spAutoFit/>
          </a:bodyPr>
          <a:lstStyle/>
          <a:p>
            <a:pPr>
              <a:spcAft>
                <a:spcPts val="600"/>
              </a:spcAft>
              <a:defRPr sz="1300" b="0">
                <a:solidFill>
                  <a:srgbClr val="222222"/>
                </a:solidFill>
              </a:defRPr>
            </a:pPr>
            <a:r>
              <a:t>• Slot-level 7-2x shared-link simulator with deadlines, priorities, telemetry delay, accounting (13 tests)</a:t>
            </a:r>
          </a:p>
          <a:p>
            <a:pPr>
              <a:spcAft>
                <a:spcPts val="600"/>
              </a:spcAft>
              <a:defRPr sz="1300" b="0">
                <a:solidFill>
                  <a:srgbClr val="222222"/>
                </a:solidFill>
              </a:defRPr>
            </a:pPr>
            <a:r>
              <a:t>• Synthetic heavy-tailed traffic generator with regimes, flash crowds, SE drift</a:t>
            </a:r>
          </a:p>
          <a:p>
            <a:pPr>
              <a:spcAft>
                <a:spcPts val="600"/>
              </a:spcAft>
              <a:defRPr sz="1300" b="0">
                <a:solidFill>
                  <a:srgbClr val="222222"/>
                </a:solidFill>
              </a:defRPr>
            </a:pPr>
            <a:r>
              <a:t>• 5 baselines (static, proportional, deadline-aware reactive, point forecast, oracle), tuned on validation seeds</a:t>
            </a:r>
          </a:p>
          <a:p>
            <a:pPr>
              <a:spcAft>
                <a:spcPts val="600"/>
              </a:spcAft>
              <a:defRPr sz="1300" b="0">
                <a:solidFill>
                  <a:srgbClr val="222222"/>
                </a:solidFill>
              </a:defRPr>
            </a:pPr>
            <a:r>
              <a:t>• Quantile-GBM forecaster of r* (calibrated on validation), vectorised inference</a:t>
            </a:r>
          </a:p>
          <a:p>
            <a:pPr>
              <a:spcAft>
                <a:spcPts val="600"/>
              </a:spcAft>
              <a:defRPr sz="1300" b="0">
                <a:solidFill>
                  <a:srgbClr val="222222"/>
                </a:solidFill>
              </a:defRPr>
            </a:pPr>
            <a:r>
              <a:t>• KKT allocation rule with feasibility proof; ACI variant; window-quantile variant</a:t>
            </a:r>
          </a:p>
          <a:p>
            <a:pPr>
              <a:spcAft>
                <a:spcPts val="600"/>
              </a:spcAft>
              <a:defRPr sz="1300" b="0">
                <a:solidFill>
                  <a:srgbClr val="222222"/>
                </a:solidFill>
              </a:defRPr>
            </a:pPr>
            <a:r>
              <a:t>• 200-run main comparison, paired analysis, interval sweep, demo, all figures, this deck — reproducible</a:t>
            </a:r>
          </a:p>
        </p:txBody>
      </p:sp>
      <p:sp>
        <p:nvSpPr>
          <p:cNvPr id="8" name="Rounded Rectangle 7"/>
          <p:cNvSpPr/>
          <p:nvPr/>
        </p:nvSpPr>
        <p:spPr>
          <a:xfrm>
            <a:off x="6309360" y="1051560"/>
            <a:ext cx="5486400" cy="457200"/>
          </a:xfrm>
          <a:prstGeom prst="roundRect">
            <a:avLst/>
          </a:prstGeom>
          <a:solidFill>
            <a:srgbClr val="EF6C0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Planned (not yet done)</a:t>
            </a:r>
          </a:p>
        </p:txBody>
      </p:sp>
      <p:sp>
        <p:nvSpPr>
          <p:cNvPr id="9" name="TextBox 8"/>
          <p:cNvSpPr txBox="1"/>
          <p:nvPr/>
        </p:nvSpPr>
        <p:spPr>
          <a:xfrm>
            <a:off x="6309360" y="1600200"/>
            <a:ext cx="5486400" cy="4572000"/>
          </a:xfrm>
          <a:prstGeom prst="rect">
            <a:avLst/>
          </a:prstGeom>
          <a:noFill/>
        </p:spPr>
        <p:txBody>
          <a:bodyPr wrap="square">
            <a:spAutoFit/>
          </a:bodyPr>
          <a:lstStyle/>
          <a:p>
            <a:pPr>
              <a:spcAft>
                <a:spcPts val="600"/>
              </a:spcAft>
              <a:defRPr sz="1300" b="0">
                <a:solidFill>
                  <a:srgbClr val="222222"/>
                </a:solidFill>
              </a:defRPr>
            </a:pPr>
            <a:r>
              <a:t>• Real or public traffic traces (e.g. per-cell PRB utilisation datasets) → re-validate the forecaster</a:t>
            </a:r>
          </a:p>
          <a:p>
            <a:pPr>
              <a:spcAft>
                <a:spcPts val="600"/>
              </a:spcAft>
              <a:defRPr sz="1300" b="0">
                <a:solidFill>
                  <a:srgbClr val="222222"/>
                </a:solidFill>
              </a:defRPr>
            </a:pPr>
            <a:r>
              <a:t>• Skill-weighted blend of GBM and window quantiles as a principled fallback (replace ACI)</a:t>
            </a:r>
          </a:p>
          <a:p>
            <a:pPr>
              <a:spcAft>
                <a:spcPts val="600"/>
              </a:spcAft>
              <a:defRPr sz="1300" b="0">
                <a:solidFill>
                  <a:srgbClr val="222222"/>
                </a:solidFill>
              </a:defRPr>
            </a:pPr>
            <a:r>
              <a:t>• Second control lever: per-cell BFP compression / modulation compression under the same rule</a:t>
            </a:r>
          </a:p>
          <a:p>
            <a:pPr>
              <a:spcAft>
                <a:spcPts val="600"/>
              </a:spcAft>
              <a:defRPr sz="1300" b="0">
                <a:solidFill>
                  <a:srgbClr val="222222"/>
                </a:solidFill>
              </a:defRPr>
            </a:pPr>
            <a:r>
              <a:t>• Switch-level packet queue and T2a window model instead of a budget-enforced pipe</a:t>
            </a:r>
          </a:p>
          <a:p>
            <a:pPr>
              <a:spcAft>
                <a:spcPts val="600"/>
              </a:spcAft>
              <a:defRPr sz="1300" b="0">
                <a:solidFill>
                  <a:srgbClr val="222222"/>
                </a:solidFill>
              </a:defRPr>
            </a:pPr>
            <a:r>
              <a:t>• Ablation on the target: r* vs interval volume; more seeds; sensitivity to τ and priorities</a:t>
            </a:r>
          </a:p>
          <a:p>
            <a:pPr>
              <a:spcAft>
                <a:spcPts val="600"/>
              </a:spcAft>
              <a:defRPr sz="1300" b="0">
                <a:solidFill>
                  <a:srgbClr val="222222"/>
                </a:solidFill>
              </a:defRPr>
            </a:pPr>
            <a:r>
              <a:t>• Cost model: does the 3 ms Python decision fit a real DU? (C++/numba port, or longer epochs)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primary metric [%], mean ± std over 5 test seeds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17</a:t>
            </a:r>
          </a:p>
        </p:txBody>
      </p:sp>
      <p:graphicFrame>
        <p:nvGraphicFramePr>
          <p:cNvPr id="6" name="Table 5"/>
          <p:cNvGraphicFramePr>
            <a:graphicFrameLocks noGrp="1"/>
          </p:cNvGraphicFramePr>
          <p:nvPr/>
        </p:nvGraphicFramePr>
        <p:xfrm>
          <a:off x="365760" y="1051560"/>
          <a:ext cx="11430000" cy="420624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467360">
                <a:tc>
                  <a:txBody>
                    <a:bodyPr/>
                    <a:lstStyle/>
                    <a:p>
                      <a:pPr>
                        <a:defRPr sz="1100" b="1">
                          <a:solidFill>
                            <a:srgbClr val="FFFFFF"/>
                          </a:solidFill>
                        </a:defRPr>
                      </a:pPr>
                      <a:r>
                        <a:t>Method</a:t>
                      </a:r>
                    </a:p>
                  </a:txBody>
                  <a:tcPr>
                    <a:solidFill>
                      <a:srgbClr val="1F3A5F"/>
                    </a:solidFill>
                  </a:tcPr>
                </a:tc>
                <a:tc>
                  <a:txBody>
                    <a:bodyPr/>
                    <a:lstStyle/>
                    <a:p>
                      <a:pPr>
                        <a:defRPr sz="1100" b="1">
                          <a:solidFill>
                            <a:srgbClr val="FFFFFF"/>
                          </a:solidFill>
                        </a:defRPr>
                      </a:pPr>
                      <a:r>
                        <a:t>Low 0.50</a:t>
                      </a:r>
                    </a:p>
                  </a:txBody>
                  <a:tcPr>
                    <a:solidFill>
                      <a:srgbClr val="1F3A5F"/>
                    </a:solidFill>
                  </a:tcPr>
                </a:tc>
                <a:tc>
                  <a:txBody>
                    <a:bodyPr/>
                    <a:lstStyle/>
                    <a:p>
                      <a:pPr>
                        <a:defRPr sz="1100" b="1">
                          <a:solidFill>
                            <a:srgbClr val="FFFFFF"/>
                          </a:solidFill>
                        </a:defRPr>
                      </a:pPr>
                      <a:r>
                        <a:t>Moderate 0.65</a:t>
                      </a:r>
                    </a:p>
                  </a:txBody>
                  <a:tcPr>
                    <a:solidFill>
                      <a:srgbClr val="1F3A5F"/>
                    </a:solidFill>
                  </a:tcPr>
                </a:tc>
                <a:tc>
                  <a:txBody>
                    <a:bodyPr/>
                    <a:lstStyle/>
                    <a:p>
                      <a:pPr>
                        <a:defRPr sz="1100" b="1">
                          <a:solidFill>
                            <a:srgbClr val="FFFFFF"/>
                          </a:solidFill>
                        </a:defRPr>
                      </a:pPr>
                      <a:r>
                        <a:t>High 0.80</a:t>
                      </a:r>
                    </a:p>
                  </a:txBody>
                  <a:tcPr>
                    <a:solidFill>
                      <a:srgbClr val="1F3A5F"/>
                    </a:solidFill>
                  </a:tcPr>
                </a:tc>
                <a:tc>
                  <a:txBody>
                    <a:bodyPr/>
                    <a:lstStyle/>
                    <a:p>
                      <a:pPr>
                        <a:defRPr sz="1100" b="1">
                          <a:solidFill>
                            <a:srgbClr val="FFFFFF"/>
                          </a:solidFill>
                        </a:defRPr>
                      </a:pPr>
                      <a:r>
                        <a:t>Flash crowds</a:t>
                      </a:r>
                    </a:p>
                  </a:txBody>
                  <a:tcPr>
                    <a:solidFill>
                      <a:srgbClr val="1F3A5F"/>
                    </a:solidFill>
                  </a:tcPr>
                </a:tc>
                <a:tc>
                  <a:txBody>
                    <a:bodyPr/>
                    <a:lstStyle/>
                    <a:p>
                      <a:pPr>
                        <a:defRPr sz="1100" b="1">
                          <a:solidFill>
                            <a:srgbClr val="FFFFFF"/>
                          </a:solidFill>
                        </a:defRPr>
                      </a:pPr>
                      <a:r>
                        <a:t>Shift (held-out)</a:t>
                      </a:r>
                    </a:p>
                  </a:txBody>
                  <a:tcPr>
                    <a:solidFill>
                      <a:srgbClr val="1F3A5F"/>
                    </a:solidFill>
                  </a:tcPr>
                </a:tc>
              </a:tr>
              <a:tr h="467360">
                <a:tc>
                  <a:txBody>
                    <a:bodyPr/>
                    <a:lstStyle/>
                    <a:p>
                      <a:pPr>
                        <a:defRPr sz="1100"/>
                      </a:pPr>
                      <a:r>
                        <a:t>Static equal share</a:t>
                      </a:r>
                    </a:p>
                  </a:txBody>
                  <a:tcPr>
                    <a:solidFill>
                      <a:srgbClr val="F2F4F7"/>
                    </a:solidFill>
                  </a:tcPr>
                </a:tc>
                <a:tc>
                  <a:txBody>
                    <a:bodyPr/>
                    <a:lstStyle/>
                    <a:p>
                      <a:pPr>
                        <a:defRPr sz="1100"/>
                      </a:pPr>
                      <a:r>
                        <a:t>4.16 ± 1.15</a:t>
                      </a:r>
                    </a:p>
                  </a:txBody>
                  <a:tcPr>
                    <a:solidFill>
                      <a:srgbClr val="F2F4F7"/>
                    </a:solidFill>
                  </a:tcPr>
                </a:tc>
                <a:tc>
                  <a:txBody>
                    <a:bodyPr/>
                    <a:lstStyle/>
                    <a:p>
                      <a:pPr>
                        <a:defRPr sz="1100"/>
                      </a:pPr>
                      <a:r>
                        <a:t>9.38 ± 1.77</a:t>
                      </a:r>
                    </a:p>
                  </a:txBody>
                  <a:tcPr>
                    <a:solidFill>
                      <a:srgbClr val="F2F4F7"/>
                    </a:solidFill>
                  </a:tcPr>
                </a:tc>
                <a:tc>
                  <a:txBody>
                    <a:bodyPr/>
                    <a:lstStyle/>
                    <a:p>
                      <a:pPr>
                        <a:defRPr sz="1100"/>
                      </a:pPr>
                      <a:r>
                        <a:t>15.27 ± 2.02</a:t>
                      </a:r>
                    </a:p>
                  </a:txBody>
                  <a:tcPr>
                    <a:solidFill>
                      <a:srgbClr val="F2F4F7"/>
                    </a:solidFill>
                  </a:tcPr>
                </a:tc>
                <a:tc>
                  <a:txBody>
                    <a:bodyPr/>
                    <a:lstStyle/>
                    <a:p>
                      <a:pPr>
                        <a:defRPr sz="1100"/>
                      </a:pPr>
                      <a:r>
                        <a:t>19.30 ± 2.07</a:t>
                      </a:r>
                    </a:p>
                  </a:txBody>
                  <a:tcPr>
                    <a:solidFill>
                      <a:srgbClr val="F2F4F7"/>
                    </a:solidFill>
                  </a:tcPr>
                </a:tc>
                <a:tc>
                  <a:txBody>
                    <a:bodyPr/>
                    <a:lstStyle/>
                    <a:p>
                      <a:pPr>
                        <a:defRPr sz="1100"/>
                      </a:pPr>
                      <a:r>
                        <a:t>23.65 ± 4.18</a:t>
                      </a:r>
                    </a:p>
                  </a:txBody>
                  <a:tcPr>
                    <a:solidFill>
                      <a:srgbClr val="F2F4F7"/>
                    </a:solidFill>
                  </a:tcPr>
                </a:tc>
              </a:tr>
              <a:tr h="467360">
                <a:tc>
                  <a:txBody>
                    <a:bodyPr/>
                    <a:lstStyle/>
                    <a:p>
                      <a:pPr>
                        <a:defRPr sz="1100"/>
                      </a:pPr>
                      <a:r>
                        <a:t>Reactive proportional (EWMA)</a:t>
                      </a:r>
                    </a:p>
                  </a:txBody>
                  <a:tcPr>
                    <a:solidFill>
                      <a:srgbClr val="FFFFFF"/>
                    </a:solidFill>
                  </a:tcPr>
                </a:tc>
                <a:tc>
                  <a:txBody>
                    <a:bodyPr/>
                    <a:lstStyle/>
                    <a:p>
                      <a:pPr>
                        <a:defRPr sz="1100"/>
                      </a:pPr>
                      <a:r>
                        <a:t>0.75 ± 0.34</a:t>
                      </a:r>
                    </a:p>
                  </a:txBody>
                  <a:tcPr>
                    <a:solidFill>
                      <a:srgbClr val="FFFFFF"/>
                    </a:solidFill>
                  </a:tcPr>
                </a:tc>
                <a:tc>
                  <a:txBody>
                    <a:bodyPr/>
                    <a:lstStyle/>
                    <a:p>
                      <a:pPr>
                        <a:defRPr sz="1100"/>
                      </a:pPr>
                      <a:r>
                        <a:t>3.81 ± 0.71</a:t>
                      </a:r>
                    </a:p>
                  </a:txBody>
                  <a:tcPr>
                    <a:solidFill>
                      <a:srgbClr val="FFFFFF"/>
                    </a:solidFill>
                  </a:tcPr>
                </a:tc>
                <a:tc>
                  <a:txBody>
                    <a:bodyPr/>
                    <a:lstStyle/>
                    <a:p>
                      <a:pPr>
                        <a:defRPr sz="1100"/>
                      </a:pPr>
                      <a:r>
                        <a:t>8.94 ± 1.15</a:t>
                      </a:r>
                    </a:p>
                  </a:txBody>
                  <a:tcPr>
                    <a:solidFill>
                      <a:srgbClr val="FFFFFF"/>
                    </a:solidFill>
                  </a:tcPr>
                </a:tc>
                <a:tc>
                  <a:txBody>
                    <a:bodyPr/>
                    <a:lstStyle/>
                    <a:p>
                      <a:pPr>
                        <a:defRPr sz="1100"/>
                      </a:pPr>
                      <a:r>
                        <a:t>12.25 ± 1.65</a:t>
                      </a:r>
                    </a:p>
                  </a:txBody>
                  <a:tcPr>
                    <a:solidFill>
                      <a:srgbClr val="FFFFFF"/>
                    </a:solidFill>
                  </a:tcPr>
                </a:tc>
                <a:tc>
                  <a:txBody>
                    <a:bodyPr/>
                    <a:lstStyle/>
                    <a:p>
                      <a:pPr>
                        <a:defRPr sz="1100"/>
                      </a:pPr>
                      <a:r>
                        <a:t>12.92 ± 3.47</a:t>
                      </a:r>
                    </a:p>
                  </a:txBody>
                  <a:tcPr>
                    <a:solidFill>
                      <a:srgbClr val="FFFFFF"/>
                    </a:solidFill>
                  </a:tcPr>
                </a:tc>
              </a:tr>
              <a:tr h="467360">
                <a:tc>
                  <a:txBody>
                    <a:bodyPr/>
                    <a:lstStyle/>
                    <a:p>
                      <a:pPr>
                        <a:defRPr sz="1100"/>
                      </a:pPr>
                      <a:r>
                        <a:t>Deadline-aware reactive (persistence r*)</a:t>
                      </a:r>
                    </a:p>
                  </a:txBody>
                  <a:tcPr>
                    <a:solidFill>
                      <a:srgbClr val="F2F4F7"/>
                    </a:solidFill>
                  </a:tcPr>
                </a:tc>
                <a:tc>
                  <a:txBody>
                    <a:bodyPr/>
                    <a:lstStyle/>
                    <a:p>
                      <a:pPr>
                        <a:defRPr sz="1100"/>
                      </a:pPr>
                      <a:r>
                        <a:t>0.39 ± 0.18</a:t>
                      </a:r>
                    </a:p>
                  </a:txBody>
                  <a:tcPr>
                    <a:solidFill>
                      <a:srgbClr val="F2F4F7"/>
                    </a:solidFill>
                  </a:tcPr>
                </a:tc>
                <a:tc>
                  <a:txBody>
                    <a:bodyPr/>
                    <a:lstStyle/>
                    <a:p>
                      <a:pPr>
                        <a:defRPr sz="1100"/>
                      </a:pPr>
                      <a:r>
                        <a:t>4.07 ± 0.95</a:t>
                      </a:r>
                    </a:p>
                  </a:txBody>
                  <a:tcPr>
                    <a:solidFill>
                      <a:srgbClr val="F2F4F7"/>
                    </a:solidFill>
                  </a:tcPr>
                </a:tc>
                <a:tc>
                  <a:txBody>
                    <a:bodyPr/>
                    <a:lstStyle/>
                    <a:p>
                      <a:pPr>
                        <a:defRPr sz="1100"/>
                      </a:pPr>
                      <a:r>
                        <a:t>10.86 ± 1.84</a:t>
                      </a:r>
                    </a:p>
                  </a:txBody>
                  <a:tcPr>
                    <a:solidFill>
                      <a:srgbClr val="F2F4F7"/>
                    </a:solidFill>
                  </a:tcPr>
                </a:tc>
                <a:tc>
                  <a:txBody>
                    <a:bodyPr/>
                    <a:lstStyle/>
                    <a:p>
                      <a:pPr>
                        <a:defRPr sz="1100"/>
                      </a:pPr>
                      <a:r>
                        <a:t>14.70 ± 2.67</a:t>
                      </a:r>
                    </a:p>
                  </a:txBody>
                  <a:tcPr>
                    <a:solidFill>
                      <a:srgbClr val="F2F4F7"/>
                    </a:solidFill>
                  </a:tcPr>
                </a:tc>
                <a:tc>
                  <a:txBody>
                    <a:bodyPr/>
                    <a:lstStyle/>
                    <a:p>
                      <a:pPr>
                        <a:defRPr sz="1100"/>
                      </a:pPr>
                      <a:r>
                        <a:t>14.21 ± 4.44</a:t>
                      </a:r>
                    </a:p>
                  </a:txBody>
                  <a:tcPr>
                    <a:solidFill>
                      <a:srgbClr val="F2F4F7"/>
                    </a:solidFill>
                  </a:tcPr>
                </a:tc>
              </a:tr>
              <a:tr h="467360">
                <a:tc>
                  <a:txBody>
                    <a:bodyPr/>
                    <a:lstStyle/>
                    <a:p>
                      <a:pPr>
                        <a:defRPr sz="1100"/>
                      </a:pPr>
                      <a:r>
                        <a:t>Point forecast (GBM median)</a:t>
                      </a:r>
                    </a:p>
                  </a:txBody>
                  <a:tcPr>
                    <a:solidFill>
                      <a:srgbClr val="FFFFFF"/>
                    </a:solidFill>
                  </a:tcPr>
                </a:tc>
                <a:tc>
                  <a:txBody>
                    <a:bodyPr/>
                    <a:lstStyle/>
                    <a:p>
                      <a:pPr>
                        <a:defRPr sz="1100"/>
                      </a:pPr>
                      <a:r>
                        <a:t>0.18 ± 0.10</a:t>
                      </a:r>
                    </a:p>
                  </a:txBody>
                  <a:tcPr>
                    <a:solidFill>
                      <a:srgbClr val="FFFFFF"/>
                    </a:solidFill>
                  </a:tcPr>
                </a:tc>
                <a:tc>
                  <a:txBody>
                    <a:bodyPr/>
                    <a:lstStyle/>
                    <a:p>
                      <a:pPr>
                        <a:defRPr sz="1100"/>
                      </a:pPr>
                      <a:r>
                        <a:t>3.11 ± 0.87</a:t>
                      </a:r>
                    </a:p>
                  </a:txBody>
                  <a:tcPr>
                    <a:solidFill>
                      <a:srgbClr val="FFFFFF"/>
                    </a:solidFill>
                  </a:tcPr>
                </a:tc>
                <a:tc>
                  <a:txBody>
                    <a:bodyPr/>
                    <a:lstStyle/>
                    <a:p>
                      <a:pPr>
                        <a:defRPr sz="1100"/>
                      </a:pPr>
                      <a:r>
                        <a:t>9.63 ± 1.82</a:t>
                      </a:r>
                    </a:p>
                  </a:txBody>
                  <a:tcPr>
                    <a:solidFill>
                      <a:srgbClr val="FFFFFF"/>
                    </a:solidFill>
                  </a:tcPr>
                </a:tc>
                <a:tc>
                  <a:txBody>
                    <a:bodyPr/>
                    <a:lstStyle/>
                    <a:p>
                      <a:pPr>
                        <a:defRPr sz="1100"/>
                      </a:pPr>
                      <a:r>
                        <a:t>13.44 ± 2.65</a:t>
                      </a:r>
                    </a:p>
                  </a:txBody>
                  <a:tcPr>
                    <a:solidFill>
                      <a:srgbClr val="FFFFFF"/>
                    </a:solidFill>
                  </a:tcPr>
                </a:tc>
                <a:tc>
                  <a:txBody>
                    <a:bodyPr/>
                    <a:lstStyle/>
                    <a:p>
                      <a:pPr>
                        <a:defRPr sz="1100"/>
                      </a:pPr>
                      <a:r>
                        <a:t>12.93 ± 4.45</a:t>
                      </a:r>
                    </a:p>
                  </a:txBody>
                  <a:tcPr>
                    <a:solidFill>
                      <a:srgbClr val="FFFFFF"/>
                    </a:solidFill>
                  </a:tcPr>
                </a:tc>
              </a:tr>
              <a:tr h="467360">
                <a:tc>
                  <a:txBody>
                    <a:bodyPr/>
                    <a:lstStyle/>
                    <a:p>
                      <a:pPr>
                        <a:defRPr sz="1100"/>
                      </a:pPr>
                      <a:r>
                        <a:t>Proposed rule, window quantiles (no ML)</a:t>
                      </a:r>
                    </a:p>
                  </a:txBody>
                  <a:tcPr>
                    <a:solidFill>
                      <a:srgbClr val="F2F4F7"/>
                    </a:solidFill>
                  </a:tcPr>
                </a:tc>
                <a:tc>
                  <a:txBody>
                    <a:bodyPr/>
                    <a:lstStyle/>
                    <a:p>
                      <a:pPr>
                        <a:defRPr sz="1100"/>
                      </a:pPr>
                      <a:r>
                        <a:t>0.17 ± 0.04</a:t>
                      </a:r>
                    </a:p>
                  </a:txBody>
                  <a:tcPr>
                    <a:solidFill>
                      <a:srgbClr val="F2F4F7"/>
                    </a:solidFill>
                  </a:tcPr>
                </a:tc>
                <a:tc>
                  <a:txBody>
                    <a:bodyPr/>
                    <a:lstStyle/>
                    <a:p>
                      <a:pPr>
                        <a:defRPr sz="1100"/>
                      </a:pPr>
                      <a:r>
                        <a:t>2.41 ± 0.56</a:t>
                      </a:r>
                    </a:p>
                  </a:txBody>
                  <a:tcPr>
                    <a:solidFill>
                      <a:srgbClr val="F2F4F7"/>
                    </a:solidFill>
                  </a:tcPr>
                </a:tc>
                <a:tc>
                  <a:txBody>
                    <a:bodyPr/>
                    <a:lstStyle/>
                    <a:p>
                      <a:pPr>
                        <a:defRPr sz="1100"/>
                      </a:pPr>
                      <a:r>
                        <a:t>8.60 ± 1.74</a:t>
                      </a:r>
                    </a:p>
                  </a:txBody>
                  <a:tcPr>
                    <a:solidFill>
                      <a:srgbClr val="F2F4F7"/>
                    </a:solidFill>
                  </a:tcPr>
                </a:tc>
                <a:tc>
                  <a:txBody>
                    <a:bodyPr/>
                    <a:lstStyle/>
                    <a:p>
                      <a:pPr>
                        <a:defRPr sz="1100"/>
                      </a:pPr>
                      <a:r>
                        <a:t>12.67 ± 2.59</a:t>
                      </a:r>
                    </a:p>
                  </a:txBody>
                  <a:tcPr>
                    <a:solidFill>
                      <a:srgbClr val="F2F4F7"/>
                    </a:solidFill>
                  </a:tcPr>
                </a:tc>
                <a:tc>
                  <a:txBody>
                    <a:bodyPr/>
                    <a:lstStyle/>
                    <a:p>
                      <a:pPr>
                        <a:defRPr sz="1100"/>
                      </a:pPr>
                      <a:r>
                        <a:t>11.80 ± 4.56</a:t>
                      </a:r>
                    </a:p>
                  </a:txBody>
                  <a:tcPr>
                    <a:solidFill>
                      <a:srgbClr val="F2F4F7"/>
                    </a:solidFill>
                  </a:tcPr>
                </a:tc>
              </a:tr>
              <a:tr h="467360">
                <a:tc>
                  <a:txBody>
                    <a:bodyPr/>
                    <a:lstStyle/>
                    <a:p>
                      <a:pPr>
                        <a:defRPr sz="1100"/>
                      </a:pPr>
                      <a:r>
                        <a:t>Proposed (GBM quantiles + KKT)</a:t>
                      </a:r>
                    </a:p>
                  </a:txBody>
                  <a:tcPr>
                    <a:solidFill>
                      <a:srgbClr val="FFFFFF"/>
                    </a:solidFill>
                  </a:tcPr>
                </a:tc>
                <a:tc>
                  <a:txBody>
                    <a:bodyPr/>
                    <a:lstStyle/>
                    <a:p>
                      <a:pPr>
                        <a:defRPr sz="1100"/>
                      </a:pPr>
                      <a:r>
                        <a:t>0.08 ± 0.04</a:t>
                      </a:r>
                    </a:p>
                  </a:txBody>
                  <a:tcPr>
                    <a:solidFill>
                      <a:srgbClr val="FFFFFF"/>
                    </a:solidFill>
                  </a:tcPr>
                </a:tc>
                <a:tc>
                  <a:txBody>
                    <a:bodyPr/>
                    <a:lstStyle/>
                    <a:p>
                      <a:pPr>
                        <a:defRPr sz="1100"/>
                      </a:pPr>
                      <a:r>
                        <a:t>2.00 ± 0.59</a:t>
                      </a:r>
                    </a:p>
                  </a:txBody>
                  <a:tcPr>
                    <a:solidFill>
                      <a:srgbClr val="FFFFFF"/>
                    </a:solidFill>
                  </a:tcPr>
                </a:tc>
                <a:tc>
                  <a:txBody>
                    <a:bodyPr/>
                    <a:lstStyle/>
                    <a:p>
                      <a:pPr>
                        <a:defRPr sz="1100"/>
                      </a:pPr>
                      <a:r>
                        <a:t>7.89 ± 1.71</a:t>
                      </a:r>
                    </a:p>
                  </a:txBody>
                  <a:tcPr>
                    <a:solidFill>
                      <a:srgbClr val="FFFFFF"/>
                    </a:solidFill>
                  </a:tcPr>
                </a:tc>
                <a:tc>
                  <a:txBody>
                    <a:bodyPr/>
                    <a:lstStyle/>
                    <a:p>
                      <a:pPr>
                        <a:defRPr sz="1100"/>
                      </a:pPr>
                      <a:r>
                        <a:t>11.82 ± 2.56</a:t>
                      </a:r>
                    </a:p>
                  </a:txBody>
                  <a:tcPr>
                    <a:solidFill>
                      <a:srgbClr val="FFFFFF"/>
                    </a:solidFill>
                  </a:tcPr>
                </a:tc>
                <a:tc>
                  <a:txBody>
                    <a:bodyPr/>
                    <a:lstStyle/>
                    <a:p>
                      <a:pPr>
                        <a:defRPr sz="1100"/>
                      </a:pPr>
                      <a:r>
                        <a:t>11.59 ± 4.27</a:t>
                      </a:r>
                    </a:p>
                  </a:txBody>
                  <a:tcPr>
                    <a:solidFill>
                      <a:srgbClr val="FFFFFF"/>
                    </a:solidFill>
                  </a:tcPr>
                </a:tc>
              </a:tr>
              <a:tr h="467360">
                <a:tc>
                  <a:txBody>
                    <a:bodyPr/>
                    <a:lstStyle/>
                    <a:p>
                      <a:pPr>
                        <a:defRPr sz="1100"/>
                      </a:pPr>
                      <a:r>
                        <a:t>Proposed + ACI calibration</a:t>
                      </a:r>
                    </a:p>
                  </a:txBody>
                  <a:tcPr>
                    <a:solidFill>
                      <a:srgbClr val="F2F4F7"/>
                    </a:solidFill>
                  </a:tcPr>
                </a:tc>
                <a:tc>
                  <a:txBody>
                    <a:bodyPr/>
                    <a:lstStyle/>
                    <a:p>
                      <a:pPr>
                        <a:defRPr sz="1100"/>
                      </a:pPr>
                      <a:r>
                        <a:t>0.09 ± 0.02</a:t>
                      </a:r>
                    </a:p>
                  </a:txBody>
                  <a:tcPr>
                    <a:solidFill>
                      <a:srgbClr val="F2F4F7"/>
                    </a:solidFill>
                  </a:tcPr>
                </a:tc>
                <a:tc>
                  <a:txBody>
                    <a:bodyPr/>
                    <a:lstStyle/>
                    <a:p>
                      <a:pPr>
                        <a:defRPr sz="1100"/>
                      </a:pPr>
                      <a:r>
                        <a:t>2.02 ± 0.61</a:t>
                      </a:r>
                    </a:p>
                  </a:txBody>
                  <a:tcPr>
                    <a:solidFill>
                      <a:srgbClr val="F2F4F7"/>
                    </a:solidFill>
                  </a:tcPr>
                </a:tc>
                <a:tc>
                  <a:txBody>
                    <a:bodyPr/>
                    <a:lstStyle/>
                    <a:p>
                      <a:pPr>
                        <a:defRPr sz="1100"/>
                      </a:pPr>
                      <a:r>
                        <a:t>8.12 ± 1.80</a:t>
                      </a:r>
                    </a:p>
                  </a:txBody>
                  <a:tcPr>
                    <a:solidFill>
                      <a:srgbClr val="F2F4F7"/>
                    </a:solidFill>
                  </a:tcPr>
                </a:tc>
                <a:tc>
                  <a:txBody>
                    <a:bodyPr/>
                    <a:lstStyle/>
                    <a:p>
                      <a:pPr>
                        <a:defRPr sz="1100"/>
                      </a:pPr>
                      <a:r>
                        <a:t>12.24 ± 2.62</a:t>
                      </a:r>
                    </a:p>
                  </a:txBody>
                  <a:tcPr>
                    <a:solidFill>
                      <a:srgbClr val="F2F4F7"/>
                    </a:solidFill>
                  </a:tcPr>
                </a:tc>
                <a:tc>
                  <a:txBody>
                    <a:bodyPr/>
                    <a:lstStyle/>
                    <a:p>
                      <a:pPr>
                        <a:defRPr sz="1100"/>
                      </a:pPr>
                      <a:r>
                        <a:t>12.95 ± 5.17</a:t>
                      </a:r>
                    </a:p>
                  </a:txBody>
                  <a:tcPr>
                    <a:solidFill>
                      <a:srgbClr val="F2F4F7"/>
                    </a:solidFill>
                  </a:tcPr>
                </a:tc>
              </a:tr>
              <a:tr h="467360">
                <a:tc>
                  <a:txBody>
                    <a:bodyPr/>
                    <a:lstStyle/>
                    <a:p>
                      <a:pPr>
                        <a:defRPr sz="1100"/>
                      </a:pPr>
                      <a:r>
                        <a:t>Oracle water-fill (true r*, reference)</a:t>
                      </a:r>
                    </a:p>
                  </a:txBody>
                  <a:tcPr>
                    <a:solidFill>
                      <a:srgbClr val="FFFFFF"/>
                    </a:solidFill>
                  </a:tcPr>
                </a:tc>
                <a:tc>
                  <a:txBody>
                    <a:bodyPr/>
                    <a:lstStyle/>
                    <a:p>
                      <a:pPr>
                        <a:defRPr sz="1100"/>
                      </a:pPr>
                      <a:r>
                        <a:t>0.01 ± 0.01</a:t>
                      </a:r>
                    </a:p>
                  </a:txBody>
                  <a:tcPr>
                    <a:solidFill>
                      <a:srgbClr val="FFFFFF"/>
                    </a:solidFill>
                  </a:tcPr>
                </a:tc>
                <a:tc>
                  <a:txBody>
                    <a:bodyPr/>
                    <a:lstStyle/>
                    <a:p>
                      <a:pPr>
                        <a:defRPr sz="1100"/>
                      </a:pPr>
                      <a:r>
                        <a:t>1.56 ± 0.60</a:t>
                      </a:r>
                    </a:p>
                  </a:txBody>
                  <a:tcPr>
                    <a:solidFill>
                      <a:srgbClr val="FFFFFF"/>
                    </a:solidFill>
                  </a:tcPr>
                </a:tc>
                <a:tc>
                  <a:txBody>
                    <a:bodyPr/>
                    <a:lstStyle/>
                    <a:p>
                      <a:pPr>
                        <a:defRPr sz="1100"/>
                      </a:pPr>
                      <a:r>
                        <a:t>6.90 ± 1.68</a:t>
                      </a:r>
                    </a:p>
                  </a:txBody>
                  <a:tcPr>
                    <a:solidFill>
                      <a:srgbClr val="FFFFFF"/>
                    </a:solidFill>
                  </a:tcPr>
                </a:tc>
                <a:tc>
                  <a:txBody>
                    <a:bodyPr/>
                    <a:lstStyle/>
                    <a:p>
                      <a:pPr>
                        <a:defRPr sz="1100"/>
                      </a:pPr>
                      <a:r>
                        <a:t>10.21 ± 2.57</a:t>
                      </a:r>
                    </a:p>
                  </a:txBody>
                  <a:tcPr>
                    <a:solidFill>
                      <a:srgbClr val="FFFFFF"/>
                    </a:solidFill>
                  </a:tcPr>
                </a:tc>
                <a:tc>
                  <a:txBody>
                    <a:bodyPr/>
                    <a:lstStyle/>
                    <a:p>
                      <a:pPr>
                        <a:defRPr sz="1100"/>
                      </a:pPr>
                      <a:r>
                        <a:t>8.23 ± 4.14</a:t>
                      </a:r>
                    </a:p>
                  </a:txBody>
                  <a:tcPr>
                    <a:solidFill>
                      <a:srgbClr val="FFFFFF"/>
                    </a:solidFill>
                  </a:tcPr>
                </a:tc>
              </a:tr>
            </a:tbl>
          </a:graphicData>
        </a:graphic>
      </p:graphicFrame>
      <p:sp>
        <p:nvSpPr>
          <p:cNvPr id="7" name="TextBox 6"/>
          <p:cNvSpPr txBox="1"/>
          <p:nvPr/>
        </p:nvSpPr>
        <p:spPr>
          <a:xfrm>
            <a:off x="365760" y="5486400"/>
            <a:ext cx="10972800" cy="365760"/>
          </a:xfrm>
          <a:prstGeom prst="rect">
            <a:avLst/>
          </a:prstGeom>
          <a:noFill/>
        </p:spPr>
        <p:txBody>
          <a:bodyPr wrap="square">
            <a:spAutoFit/>
          </a:bodyPr>
          <a:lstStyle/>
          <a:p>
            <a:pPr algn="l">
              <a:defRPr sz="1100" b="0" i="1">
                <a:solidFill>
                  <a:srgbClr val="555555"/>
                </a:solidFill>
              </a:defRPr>
            </a:pPr>
            <a:r>
              <a:t>Source: results/fhlm/main_runs.csv (200 runs). Paired per-seed statistics: results/fhlm/main_paired.csv.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derivation of the KKT budget rule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18</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Objective: J(r) = Σ_i w_i E_{F_i}[ min(B_i + X_i, r_i) ],  X_i ~ F_i (forecast CDF of r*_i)</a:t>
            </a:r>
          </a:p>
          <a:p>
            <a:pPr>
              <a:spcAft>
                <a:spcPts val="600"/>
              </a:spcAft>
              <a:defRPr sz="1500" b="0">
                <a:solidFill>
                  <a:srgbClr val="222222"/>
                </a:solidFill>
              </a:defRPr>
            </a:pPr>
            <a:r>
              <a:t>• d/dr_i E[min(B_i + X_i, r_i)] = P(B_i + X_i &gt; r_i) = 1 − F_i(r_i − B_i)  → J concave, separable</a:t>
            </a:r>
          </a:p>
          <a:p>
            <a:pPr>
              <a:spcAft>
                <a:spcPts val="600"/>
              </a:spcAft>
              <a:defRPr sz="1500" b="0">
                <a:solidFill>
                  <a:srgbClr val="222222"/>
                </a:solidFill>
              </a:defRPr>
            </a:pPr>
            <a:r>
              <a:t>• Lagrangian: L = J − λ(Σ r_i − C_u) + Σ μ_i r_i − Σ ν_i (r_i − cap_i)</a:t>
            </a:r>
          </a:p>
          <a:p>
            <a:pPr>
              <a:spcAft>
                <a:spcPts val="600"/>
              </a:spcAft>
              <a:defRPr sz="1500" b="0">
                <a:solidFill>
                  <a:srgbClr val="222222"/>
                </a:solidFill>
              </a:defRPr>
            </a:pPr>
            <a:r>
              <a:t>• Stationarity for an interior r_i:  w_i (1 − F_i(r_i − B_i)) = λ   ⇒   r_i = B_i + F_i⁻¹(1 − λ / w_i)</a:t>
            </a:r>
          </a:p>
          <a:p>
            <a:pPr>
              <a:spcAft>
                <a:spcPts val="600"/>
              </a:spcAft>
              <a:defRPr sz="1500" b="0">
                <a:solidFill>
                  <a:srgbClr val="222222"/>
                </a:solidFill>
              </a:defRPr>
            </a:pPr>
            <a:r>
              <a:t>• Clip at 0 and cap_i (μ_i, ν_i ≥ 0); Σ_i r_i(λ) is non-increasing in λ ⇒ unique λ* by bisection (60 steps)</a:t>
            </a:r>
          </a:p>
          <a:p>
            <a:pPr>
              <a:spcAft>
                <a:spcPts val="600"/>
              </a:spcAft>
              <a:defRPr sz="1500" b="0">
                <a:solidFill>
                  <a:srgbClr val="222222"/>
                </a:solidFill>
              </a:defRPr>
            </a:pPr>
            <a:r>
              <a:t>• Prop. 1 (feasibility): output always satisfies caps and Σ r_i ≤ C_u — verified by test_kkt_allocation_properties</a:t>
            </a:r>
          </a:p>
          <a:p>
            <a:pPr>
              <a:spcAft>
                <a:spcPts val="600"/>
              </a:spcAft>
              <a:defRPr sz="1500" b="0">
                <a:solidFill>
                  <a:srgbClr val="222222"/>
                </a:solidFill>
              </a:defRPr>
            </a:pPr>
            <a:r>
              <a:t>• Prop. 2 (equal weighted tail): at the optimum all interior cells share w_i·P(marginal bit needed) = λ*</a:t>
            </a:r>
          </a:p>
          <a:p>
            <a:pPr>
              <a:spcAft>
                <a:spcPts val="600"/>
              </a:spcAft>
              <a:defRPr sz="1500" b="0">
                <a:solidFill>
                  <a:srgbClr val="222222"/>
                </a:solidFill>
              </a:defRPr>
            </a:pPr>
            <a:r>
              <a:t>• Prop. 3 (backlog first): F_i(x) = 0 for x &lt; 0 ⇒ marginal value below B_i is w_i ⇒ backlog of any cell with λ* &lt; w_i is fully funded</a:t>
            </a:r>
          </a:p>
          <a:p>
            <a:pPr>
              <a:spcAft>
                <a:spcPts val="600"/>
              </a:spcAft>
              <a:defRPr sz="1500" b="0">
                <a:solidFill>
                  <a:srgbClr val="222222"/>
                </a:solidFill>
              </a:defRPr>
            </a:pPr>
            <a:r>
              <a:t>• Degenerate F_i (point forecast) ⇒ priority-ordered fill = the point-forecast water-fill baseline</a:t>
            </a:r>
          </a:p>
          <a:p>
            <a:pPr>
              <a:spcAft>
                <a:spcPts val="600"/>
              </a:spcAft>
              <a:defRPr sz="1500" b="0">
                <a:solidFill>
                  <a:srgbClr val="222222"/>
                </a:solidFill>
              </a:defRPr>
            </a:pPr>
            <a:r>
              <a:t>• F_i⁻¹: piecewise-linear through the 6 forecast quantiles, linear extrapolation above 0.95; monotone by sorting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decision overhead and utilisation trade-off</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19</a:t>
            </a:r>
          </a:p>
        </p:txBody>
      </p:sp>
      <p:pic>
        <p:nvPicPr>
          <p:cNvPr id="6" name="Picture 5" descr="fig7_decision_time.png"/>
          <p:cNvPicPr>
            <a:picLocks noChangeAspect="1"/>
          </p:cNvPicPr>
          <p:nvPr/>
        </p:nvPicPr>
        <p:blipFill>
          <a:blip r:embed="rId3"/>
          <a:stretch>
            <a:fillRect/>
          </a:stretch>
        </p:blipFill>
        <p:spPr>
          <a:xfrm>
            <a:off x="274320" y="1097280"/>
            <a:ext cx="5120640" cy="2265738"/>
          </a:xfrm>
          <a:prstGeom prst="rect">
            <a:avLst/>
          </a:prstGeom>
        </p:spPr>
      </p:pic>
      <p:pic>
        <p:nvPicPr>
          <p:cNvPr id="7" name="Picture 6" descr="fig3_tradeoff.png"/>
          <p:cNvPicPr>
            <a:picLocks noChangeAspect="1"/>
          </p:cNvPicPr>
          <p:nvPr/>
        </p:nvPicPr>
        <p:blipFill>
          <a:blip r:embed="rId4"/>
          <a:stretch>
            <a:fillRect/>
          </a:stretch>
        </p:blipFill>
        <p:spPr>
          <a:xfrm>
            <a:off x="5486400" y="1097280"/>
            <a:ext cx="6492240" cy="2541524"/>
          </a:xfrm>
          <a:prstGeom prst="rect">
            <a:avLst/>
          </a:prstGeom>
        </p:spPr>
      </p:pic>
      <p:sp>
        <p:nvSpPr>
          <p:cNvPr id="8" name="TextBox 7"/>
          <p:cNvSpPr txBox="1"/>
          <p:nvPr/>
        </p:nvSpPr>
        <p:spPr>
          <a:xfrm>
            <a:off x="365760" y="5120640"/>
            <a:ext cx="11430000" cy="731520"/>
          </a:xfrm>
          <a:prstGeom prst="rect">
            <a:avLst/>
          </a:prstGeom>
          <a:noFill/>
        </p:spPr>
        <p:txBody>
          <a:bodyPr wrap="square">
            <a:spAutoFit/>
          </a:bodyPr>
          <a:lstStyle/>
          <a:p>
            <a:pPr algn="l">
              <a:defRPr sz="1200" b="0" i="0">
                <a:solidFill>
                  <a:srgbClr val="555555"/>
                </a:solidFill>
              </a:defRPr>
            </a:pPr>
            <a:r>
              <a:t>Decision times are Python on a 4-core CPU inside the simulator (feature construction + 1,800 trees via vectorised traversal + bisection). The rule itself is &lt; 0.1 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references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20</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200" b="0">
                <a:solidFill>
                  <a:srgbClr val="222222"/>
                </a:solidFill>
              </a:defRPr>
            </a:pPr>
            <a:r>
              <a:t>• O-RAN WG4, Control, User and Synchronization Plane Specification (O-RAN.WG4.CUS.0) [standard] — 7-2x, BFP compression (Annex A.1), T2a windows. 3GPP TR 38.801 [standard]; IEEE 802.1CM-2018 [standard].</a:t>
            </a:r>
          </a:p>
          <a:p>
            <a:pPr>
              <a:spcAft>
                <a:spcPts val="600"/>
              </a:spcAft>
              <a:defRPr sz="1200" b="0">
                <a:solidFill>
                  <a:srgbClr val="222222"/>
                </a:solidFill>
              </a:defRPr>
            </a:pPr>
            <a:r>
              <a:t>• L. M. P. Larsen, A. Checko, H. L. Christiansen, 'A Survey of the Functional Splits Proposed for 5G Mobile Crosshaul Networks', IEEE COMST 21(1), 2019. DOI 10.1109/COMST.2018.2868805 [peer-reviewed]</a:t>
            </a:r>
          </a:p>
          <a:p>
            <a:pPr>
              <a:spcAft>
                <a:spcPts val="600"/>
              </a:spcAft>
              <a:defRPr sz="1200" b="0">
                <a:solidFill>
                  <a:srgbClr val="222222"/>
                </a:solidFill>
              </a:defRPr>
            </a:pPr>
            <a:r>
              <a:t>• G. O. Pérez, J. A. Hernández, D. Larrabeiti, 'Fronthaul Network Modeling and Dimensioning Meeting Ultra-Low Latency Requirements for 5G', JOCN 10(6), 2018. DOI 10.1364/JOCN.10.000573; IEEE Access 2019, DOI 10.1109/ACCESS.2019.2923020 [peer-reviewed]</a:t>
            </a:r>
          </a:p>
          <a:p>
            <a:pPr>
              <a:spcAft>
                <a:spcPts val="600"/>
              </a:spcAft>
              <a:defRPr sz="1200" b="0">
                <a:solidFill>
                  <a:srgbClr val="222222"/>
                </a:solidFill>
              </a:defRPr>
            </a:pPr>
            <a:r>
              <a:t>• L. Wang, S. Zhou, 'On the Fronthaul Statistical Multiplexing Gain', IEEE Commun. Lett. 21(5), 2017. DOI 10.1109/LCOMM.2017.2653120 [peer-reviewed]</a:t>
            </a:r>
          </a:p>
          <a:p>
            <a:pPr>
              <a:spcAft>
                <a:spcPts val="600"/>
              </a:spcAft>
              <a:defRPr sz="1200" b="0">
                <a:solidFill>
                  <a:srgbClr val="222222"/>
                </a:solidFill>
              </a:defRPr>
            </a:pPr>
            <a:r>
              <a:t>• S. Lagén, X. Gelabert, A. Hansson, M. Requena, L. Giupponi, 'Fronthaul Compression Control for Shared Fronthaul Access Networks', IEEE Commun. Mag. 2022. DOI 10.1109/MCOM.001.2100959 [peer-reviewed]</a:t>
            </a:r>
          </a:p>
          <a:p>
            <a:pPr>
              <a:spcAft>
                <a:spcPts val="600"/>
              </a:spcAft>
              <a:defRPr sz="1200" b="0">
                <a:solidFill>
                  <a:srgbClr val="222222"/>
                </a:solidFill>
              </a:defRPr>
            </a:pPr>
            <a:r>
              <a:t>• D. Bega, M. Gramaglia, M. Fiore, A. Banchs, X. Costa-Pérez, 'DeepCog', IEEE INFOCOM 2019, DOI 10.1109/INFOCOM.2019.8737488; 'AZTEC', IEEE INFOCOM 2020, DOI 10.1109/INFOCOM41043.2020.9155299 [peer-reviewed]</a:t>
            </a:r>
          </a:p>
          <a:p>
            <a:pPr>
              <a:spcAft>
                <a:spcPts val="600"/>
              </a:spcAft>
              <a:defRPr sz="1200" b="0">
                <a:solidFill>
                  <a:srgbClr val="222222"/>
                </a:solidFill>
              </a:defRPr>
            </a:pPr>
            <a:r>
              <a:t>• F. Kavehmadavani, V.-D. Nguyen, T. X. Vu, S. Chatzinotas, 'Intelligent Traffic Steering in Beyond 5G Open RAN Based on LSTM Traffic Prediction', IEEE TWC 2023. DOI 10.1109/TWC.2023.3254903 [peer-reviewed]</a:t>
            </a:r>
          </a:p>
          <a:p>
            <a:pPr>
              <a:spcAft>
                <a:spcPts val="600"/>
              </a:spcAft>
              <a:defRPr sz="1200" b="0">
                <a:solidFill>
                  <a:srgbClr val="222222"/>
                </a:solidFill>
              </a:defRPr>
            </a:pPr>
            <a:r>
              <a:t>• K. M. Cohen, S. Park, O. Simeone, P. Popovski, S. Shamai, 'Guaranteed Dynamic Scheduling of URLLC Traffic via Conformal Prediction', IEEE WCL 2023 [peer-reviewed]; I. Gibbs, E. Candès, 'Adaptive Conformal Inference Under Distribution Shift', NeurIPS 2021 [peer-reviewed]</a:t>
            </a:r>
          </a:p>
          <a:p>
            <a:pPr>
              <a:spcAft>
                <a:spcPts val="600"/>
              </a:spcAft>
              <a:defRPr sz="1200" b="0">
                <a:solidFill>
                  <a:srgbClr val="222222"/>
                </a:solidFill>
              </a:defRPr>
            </a:pPr>
            <a:r>
              <a:t>• V. Kasuluru, L. Blanco, C. J. Vaca-Rubio, E. Zeydan, 'On the Impact of PRB Load Uncertainty Forecasting for Sustainable Open RAN', arXiv:2407.14400, 2024 [preprint]</a:t>
            </a:r>
          </a:p>
          <a:p>
            <a:pPr>
              <a:spcAft>
                <a:spcPts val="600"/>
              </a:spcAft>
              <a:defRPr sz="1200" b="0">
                <a:solidFill>
                  <a:srgbClr val="222222"/>
                </a:solidFill>
              </a:defRPr>
            </a:pPr>
            <a:r>
              <a:t>• W. Willinger et al., IEEE/ACM ToN 1997 (heavy-tailed ON/OFF sources); Hadley &amp; Whitin 1963 (constrained multi-item newsvendor); Le Boudec &amp; Thiran, Network Calculus, 2001. Full list: docs/fhlm/literature_review.md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